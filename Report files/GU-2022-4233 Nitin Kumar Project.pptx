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</p:sldIdLst>
  <p:sldSz cx="18288000" cy="10287000"/>
  <p:notesSz cx="6858000" cy="9144000"/>
  <p:embeddedFontLst>
    <p:embeddedFont>
      <p:font typeface="League Spartan" charset="1" panose="00000800000000000000"/>
      <p:regular r:id="rId30"/>
    </p:embeddedFont>
    <p:embeddedFont>
      <p:font typeface="Canva Sans" charset="1" panose="020B0503030501040103"/>
      <p:regular r:id="rId31"/>
    </p:embeddedFont>
    <p:embeddedFont>
      <p:font typeface="Canva Sans Bold" charset="1" panose="020B0803030501040103"/>
      <p:regular r:id="rId3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31" Target="fonts/font31.fntdata" Type="http://schemas.openxmlformats.org/officeDocument/2006/relationships/font"/><Relationship Id="rId32" Target="fonts/font32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6.svg" Type="http://schemas.openxmlformats.org/officeDocument/2006/relationships/image"/><Relationship Id="rId2" Target="../media/image8.png" Type="http://schemas.openxmlformats.org/officeDocument/2006/relationships/image"/><Relationship Id="rId3" Target="../media/image9.svg" Type="http://schemas.openxmlformats.org/officeDocument/2006/relationships/image"/><Relationship Id="rId4" Target="../media/image10.png" Type="http://schemas.openxmlformats.org/officeDocument/2006/relationships/image"/><Relationship Id="rId5" Target="../media/image11.svg" Type="http://schemas.openxmlformats.org/officeDocument/2006/relationships/image"/><Relationship Id="rId6" Target="../media/image12.png" Type="http://schemas.openxmlformats.org/officeDocument/2006/relationships/image"/><Relationship Id="rId7" Target="../media/image13.svg" Type="http://schemas.openxmlformats.org/officeDocument/2006/relationships/image"/><Relationship Id="rId8" Target="../media/image14.png" Type="http://schemas.openxmlformats.org/officeDocument/2006/relationships/image"/><Relationship Id="rId9" Target="../media/image15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1.png" Type="http://schemas.openxmlformats.org/officeDocument/2006/relationships/image"/><Relationship Id="rId2" Target="../media/image8.png" Type="http://schemas.openxmlformats.org/officeDocument/2006/relationships/image"/><Relationship Id="rId3" Target="../media/image9.svg" Type="http://schemas.openxmlformats.org/officeDocument/2006/relationships/image"/><Relationship Id="rId4" Target="../media/image10.png" Type="http://schemas.openxmlformats.org/officeDocument/2006/relationships/image"/><Relationship Id="rId5" Target="../media/image11.svg" Type="http://schemas.openxmlformats.org/officeDocument/2006/relationships/image"/><Relationship Id="rId6" Target="../media/image17.png" Type="http://schemas.openxmlformats.org/officeDocument/2006/relationships/image"/><Relationship Id="rId7" Target="../media/image18.png" Type="http://schemas.openxmlformats.org/officeDocument/2006/relationships/image"/><Relationship Id="rId8" Target="../media/image19.png" Type="http://schemas.openxmlformats.org/officeDocument/2006/relationships/image"/><Relationship Id="rId9" Target="../media/image20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6.svg" Type="http://schemas.openxmlformats.org/officeDocument/2006/relationships/image"/><Relationship Id="rId11" Target="../media/image27.png" Type="http://schemas.openxmlformats.org/officeDocument/2006/relationships/image"/><Relationship Id="rId12" Target="../media/image28.svg" Type="http://schemas.openxmlformats.org/officeDocument/2006/relationships/image"/><Relationship Id="rId2" Target="../media/image8.png" Type="http://schemas.openxmlformats.org/officeDocument/2006/relationships/image"/><Relationship Id="rId3" Target="../media/image9.svg" Type="http://schemas.openxmlformats.org/officeDocument/2006/relationships/image"/><Relationship Id="rId4" Target="../media/image10.png" Type="http://schemas.openxmlformats.org/officeDocument/2006/relationships/image"/><Relationship Id="rId5" Target="../media/image11.svg" Type="http://schemas.openxmlformats.org/officeDocument/2006/relationships/image"/><Relationship Id="rId6" Target="../media/image22.png" Type="http://schemas.openxmlformats.org/officeDocument/2006/relationships/image"/><Relationship Id="rId7" Target="../media/image23.png" Type="http://schemas.openxmlformats.org/officeDocument/2006/relationships/image"/><Relationship Id="rId8" Target="../media/image24.png" Type="http://schemas.openxmlformats.org/officeDocument/2006/relationships/image"/><Relationship Id="rId9" Target="../media/image25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svg" Type="http://schemas.openxmlformats.org/officeDocument/2006/relationships/image"/><Relationship Id="rId4" Target="../media/image10.png" Type="http://schemas.openxmlformats.org/officeDocument/2006/relationships/image"/><Relationship Id="rId5" Target="../media/image11.svg" Type="http://schemas.openxmlformats.org/officeDocument/2006/relationships/image"/><Relationship Id="rId6" Target="../media/image29.png" Type="http://schemas.openxmlformats.org/officeDocument/2006/relationships/image"/><Relationship Id="rId7" Target="../media/image30.svg" Type="http://schemas.openxmlformats.org/officeDocument/2006/relationships/image"/><Relationship Id="rId8" Target="../media/image15.png" Type="http://schemas.openxmlformats.org/officeDocument/2006/relationships/image"/><Relationship Id="rId9" Target="../media/image16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7.png" Type="http://schemas.openxmlformats.org/officeDocument/2006/relationships/image"/><Relationship Id="rId11" Target="../media/image38.png" Type="http://schemas.openxmlformats.org/officeDocument/2006/relationships/image"/><Relationship Id="rId2" Target="../media/image31.png" Type="http://schemas.openxmlformats.org/officeDocument/2006/relationships/image"/><Relationship Id="rId3" Target="../media/image32.svg" Type="http://schemas.openxmlformats.org/officeDocument/2006/relationships/image"/><Relationship Id="rId4" Target="../media/image10.png" Type="http://schemas.openxmlformats.org/officeDocument/2006/relationships/image"/><Relationship Id="rId5" Target="../media/image11.svg" Type="http://schemas.openxmlformats.org/officeDocument/2006/relationships/image"/><Relationship Id="rId6" Target="../media/image33.png" Type="http://schemas.openxmlformats.org/officeDocument/2006/relationships/image"/><Relationship Id="rId7" Target="../media/image34.png" Type="http://schemas.openxmlformats.org/officeDocument/2006/relationships/image"/><Relationship Id="rId8" Target="../media/image35.png" Type="http://schemas.openxmlformats.org/officeDocument/2006/relationships/image"/><Relationship Id="rId9" Target="../media/image36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39.png" Type="http://schemas.openxmlformats.org/officeDocument/2006/relationships/image"/><Relationship Id="rId5" Target="../media/image40.png" Type="http://schemas.openxmlformats.org/officeDocument/2006/relationships/image"/><Relationship Id="rId6" Target="../media/image41.png" Type="http://schemas.openxmlformats.org/officeDocument/2006/relationships/image"/><Relationship Id="rId7" Target="../media/image42.png" Type="http://schemas.openxmlformats.org/officeDocument/2006/relationships/image"/><Relationship Id="rId8" Target="../media/image43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svg" Type="http://schemas.openxmlformats.org/officeDocument/2006/relationships/image"/><Relationship Id="rId4" Target="../media/image10.png" Type="http://schemas.openxmlformats.org/officeDocument/2006/relationships/image"/><Relationship Id="rId5" Target="../media/image11.svg" Type="http://schemas.openxmlformats.org/officeDocument/2006/relationships/image"/><Relationship Id="rId6" Target="../media/image12.png" Type="http://schemas.openxmlformats.org/officeDocument/2006/relationships/image"/><Relationship Id="rId7" Target="../media/image13.svg" Type="http://schemas.openxmlformats.org/officeDocument/2006/relationships/image"/><Relationship Id="rId8" Target="../media/image44.png" Type="http://schemas.openxmlformats.org/officeDocument/2006/relationships/image"/><Relationship Id="rId9" Target="../media/image45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4.png" Type="http://schemas.openxmlformats.org/officeDocument/2006/relationships/image"/><Relationship Id="rId11" Target="../media/image55.png" Type="http://schemas.openxmlformats.org/officeDocument/2006/relationships/image"/><Relationship Id="rId12" Target="../media/image56.png" Type="http://schemas.openxmlformats.org/officeDocument/2006/relationships/image"/><Relationship Id="rId13" Target="../media/image57.svg" Type="http://schemas.openxmlformats.org/officeDocument/2006/relationships/image"/><Relationship Id="rId14" Target="../media/image58.png" Type="http://schemas.openxmlformats.org/officeDocument/2006/relationships/image"/><Relationship Id="rId2" Target="../media/image46.png" Type="http://schemas.openxmlformats.org/officeDocument/2006/relationships/image"/><Relationship Id="rId3" Target="../media/image47.png" Type="http://schemas.openxmlformats.org/officeDocument/2006/relationships/image"/><Relationship Id="rId4" Target="../media/image48.png" Type="http://schemas.openxmlformats.org/officeDocument/2006/relationships/image"/><Relationship Id="rId5" Target="../media/image49.png" Type="http://schemas.openxmlformats.org/officeDocument/2006/relationships/image"/><Relationship Id="rId6" Target="../media/image50.png" Type="http://schemas.openxmlformats.org/officeDocument/2006/relationships/image"/><Relationship Id="rId7" Target="../media/image51.png" Type="http://schemas.openxmlformats.org/officeDocument/2006/relationships/image"/><Relationship Id="rId8" Target="../media/image52.png" Type="http://schemas.openxmlformats.org/officeDocument/2006/relationships/image"/><Relationship Id="rId9" Target="../media/image53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6.svg" Type="http://schemas.openxmlformats.org/officeDocument/2006/relationships/image"/><Relationship Id="rId2" Target="../media/image31.png" Type="http://schemas.openxmlformats.org/officeDocument/2006/relationships/image"/><Relationship Id="rId3" Target="../media/image32.svg" Type="http://schemas.openxmlformats.org/officeDocument/2006/relationships/image"/><Relationship Id="rId4" Target="../media/image10.png" Type="http://schemas.openxmlformats.org/officeDocument/2006/relationships/image"/><Relationship Id="rId5" Target="../media/image11.svg" Type="http://schemas.openxmlformats.org/officeDocument/2006/relationships/image"/><Relationship Id="rId6" Target="../media/image12.png" Type="http://schemas.openxmlformats.org/officeDocument/2006/relationships/image"/><Relationship Id="rId7" Target="../media/image13.svg" Type="http://schemas.openxmlformats.org/officeDocument/2006/relationships/image"/><Relationship Id="rId8" Target="../media/image59.png" Type="http://schemas.openxmlformats.org/officeDocument/2006/relationships/image"/><Relationship Id="rId9" Target="../media/image25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4.png" Type="http://schemas.openxmlformats.org/officeDocument/2006/relationships/image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8.png" Type="http://schemas.openxmlformats.org/officeDocument/2006/relationships/image"/><Relationship Id="rId5" Target="../media/image9.svg" Type="http://schemas.openxmlformats.org/officeDocument/2006/relationships/image"/><Relationship Id="rId6" Target="../media/image60.png" Type="http://schemas.openxmlformats.org/officeDocument/2006/relationships/image"/><Relationship Id="rId7" Target="../media/image61.png" Type="http://schemas.openxmlformats.org/officeDocument/2006/relationships/image"/><Relationship Id="rId8" Target="../media/image62.png" Type="http://schemas.openxmlformats.org/officeDocument/2006/relationships/image"/><Relationship Id="rId9" Target="../media/image63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5.png" Type="http://schemas.openxmlformats.org/officeDocument/2006/relationships/image"/><Relationship Id="rId3" Target="../media/image66.png" Type="http://schemas.openxmlformats.org/officeDocument/2006/relationships/image"/><Relationship Id="rId4" Target="../media/image67.png" Type="http://schemas.openxmlformats.org/officeDocument/2006/relationships/image"/><Relationship Id="rId5" Target="../media/image29.png" Type="http://schemas.openxmlformats.org/officeDocument/2006/relationships/image"/><Relationship Id="rId6" Target="../media/image30.svg" Type="http://schemas.openxmlformats.org/officeDocument/2006/relationships/image"/><Relationship Id="rId7" Target="../media/image68.png" Type="http://schemas.openxmlformats.org/officeDocument/2006/relationships/image"/><Relationship Id="rId8" Target="../media/image69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1.png" Type="http://schemas.openxmlformats.org/officeDocument/2006/relationships/image"/><Relationship Id="rId3" Target="../media/image32.svg" Type="http://schemas.openxmlformats.org/officeDocument/2006/relationships/image"/><Relationship Id="rId4" Target="../media/image10.png" Type="http://schemas.openxmlformats.org/officeDocument/2006/relationships/image"/><Relationship Id="rId5" Target="../media/image11.svg" Type="http://schemas.openxmlformats.org/officeDocument/2006/relationships/image"/><Relationship Id="rId6" Target="../media/image70.png" Type="http://schemas.openxmlformats.org/officeDocument/2006/relationships/image"/><Relationship Id="rId7" Target="../media/image71.svg" Type="http://schemas.openxmlformats.org/officeDocument/2006/relationships/image"/><Relationship Id="rId8" Target="../media/image72.png" Type="http://schemas.openxmlformats.org/officeDocument/2006/relationships/image"/><Relationship Id="rId9" Target="../media/image73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6.svg" Type="http://schemas.openxmlformats.org/officeDocument/2006/relationships/image"/><Relationship Id="rId11" Target="../media/image27.png" Type="http://schemas.openxmlformats.org/officeDocument/2006/relationships/image"/><Relationship Id="rId12" Target="../media/image28.svg" Type="http://schemas.openxmlformats.org/officeDocument/2006/relationships/image"/><Relationship Id="rId2" Target="../media/image8.png" Type="http://schemas.openxmlformats.org/officeDocument/2006/relationships/image"/><Relationship Id="rId3" Target="../media/image9.svg" Type="http://schemas.openxmlformats.org/officeDocument/2006/relationships/image"/><Relationship Id="rId4" Target="../media/image10.png" Type="http://schemas.openxmlformats.org/officeDocument/2006/relationships/image"/><Relationship Id="rId5" Target="../media/image11.svg" Type="http://schemas.openxmlformats.org/officeDocument/2006/relationships/image"/><Relationship Id="rId6" Target="../media/image74.png" Type="http://schemas.openxmlformats.org/officeDocument/2006/relationships/image"/><Relationship Id="rId7" Target="../media/image75.png" Type="http://schemas.openxmlformats.org/officeDocument/2006/relationships/image"/><Relationship Id="rId8" Target="../media/image76.png" Type="http://schemas.openxmlformats.org/officeDocument/2006/relationships/image"/><Relationship Id="rId9" Target="../media/image25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77.png" Type="http://schemas.openxmlformats.org/officeDocument/2006/relationships/image"/><Relationship Id="rId5" Target="../media/image78.png" Type="http://schemas.openxmlformats.org/officeDocument/2006/relationships/image"/><Relationship Id="rId6" Target="../media/image79.png" Type="http://schemas.openxmlformats.org/officeDocument/2006/relationships/image"/><Relationship Id="rId7" Target="../media/image15.png" Type="http://schemas.openxmlformats.org/officeDocument/2006/relationships/image"/><Relationship Id="rId8" Target="../media/image16.sv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1.png" Type="http://schemas.openxmlformats.org/officeDocument/2006/relationships/image"/><Relationship Id="rId3" Target="../media/image32.svg" Type="http://schemas.openxmlformats.org/officeDocument/2006/relationships/image"/><Relationship Id="rId4" Target="../media/image10.png" Type="http://schemas.openxmlformats.org/officeDocument/2006/relationships/image"/><Relationship Id="rId5" Target="../media/image11.svg" Type="http://schemas.openxmlformats.org/officeDocument/2006/relationships/image"/><Relationship Id="rId6" Target="../media/image70.png" Type="http://schemas.openxmlformats.org/officeDocument/2006/relationships/image"/><Relationship Id="rId7" Target="../media/image71.svg" Type="http://schemas.openxmlformats.org/officeDocument/2006/relationships/image"/><Relationship Id="rId8" Target="../media/image15.png" Type="http://schemas.openxmlformats.org/officeDocument/2006/relationships/image"/><Relationship Id="rId9" Target="../media/image16.sv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6.svg" Type="http://schemas.openxmlformats.org/officeDocument/2006/relationships/image"/><Relationship Id="rId2" Target="../media/image31.png" Type="http://schemas.openxmlformats.org/officeDocument/2006/relationships/image"/><Relationship Id="rId3" Target="../media/image32.svg" Type="http://schemas.openxmlformats.org/officeDocument/2006/relationships/image"/><Relationship Id="rId4" Target="../media/image10.png" Type="http://schemas.openxmlformats.org/officeDocument/2006/relationships/image"/><Relationship Id="rId5" Target="../media/image11.svg" Type="http://schemas.openxmlformats.org/officeDocument/2006/relationships/image"/><Relationship Id="rId6" Target="../media/image12.png" Type="http://schemas.openxmlformats.org/officeDocument/2006/relationships/image"/><Relationship Id="rId7" Target="../media/image13.svg" Type="http://schemas.openxmlformats.org/officeDocument/2006/relationships/image"/><Relationship Id="rId8" Target="../media/image80.png" Type="http://schemas.openxmlformats.org/officeDocument/2006/relationships/image"/><Relationship Id="rId9" Target="../media/image25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89.png" Type="http://schemas.openxmlformats.org/officeDocument/2006/relationships/image"/><Relationship Id="rId11" Target="../media/image90.png" Type="http://schemas.openxmlformats.org/officeDocument/2006/relationships/image"/><Relationship Id="rId2" Target="../media/image81.png" Type="http://schemas.openxmlformats.org/officeDocument/2006/relationships/image"/><Relationship Id="rId3" Target="../media/image82.png" Type="http://schemas.openxmlformats.org/officeDocument/2006/relationships/image"/><Relationship Id="rId4" Target="../media/image83.png" Type="http://schemas.openxmlformats.org/officeDocument/2006/relationships/image"/><Relationship Id="rId5" Target="../media/image84.png" Type="http://schemas.openxmlformats.org/officeDocument/2006/relationships/image"/><Relationship Id="rId6" Target="../media/image85.png" Type="http://schemas.openxmlformats.org/officeDocument/2006/relationships/image"/><Relationship Id="rId7" Target="../media/image86.png" Type="http://schemas.openxmlformats.org/officeDocument/2006/relationships/image"/><Relationship Id="rId8" Target="../media/image87.png" Type="http://schemas.openxmlformats.org/officeDocument/2006/relationships/image"/><Relationship Id="rId9" Target="../media/image88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8.png" Type="http://schemas.openxmlformats.org/officeDocument/2006/relationships/image"/><Relationship Id="rId5" Target="../media/image9.svg" Type="http://schemas.openxmlformats.org/officeDocument/2006/relationships/image"/><Relationship Id="rId6" Target="../media/image91.png" Type="http://schemas.openxmlformats.org/officeDocument/2006/relationships/image"/><Relationship Id="rId7" Target="../media/image92.svg" Type="http://schemas.openxmlformats.org/officeDocument/2006/relationships/image"/><Relationship Id="rId8" Target="../media/image93.png" Type="http://schemas.openxmlformats.org/officeDocument/2006/relationships/image"/><Relationship Id="rId9" Target="../media/image94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svg" Type="http://schemas.openxmlformats.org/officeDocument/2006/relationships/image"/><Relationship Id="rId4" Target="../media/image10.png" Type="http://schemas.openxmlformats.org/officeDocument/2006/relationships/image"/><Relationship Id="rId5" Target="../media/image11.svg" Type="http://schemas.openxmlformats.org/officeDocument/2006/relationships/image"/><Relationship Id="rId6" Target="../media/image29.png" Type="http://schemas.openxmlformats.org/officeDocument/2006/relationships/image"/><Relationship Id="rId7" Target="../media/image30.svg" Type="http://schemas.openxmlformats.org/officeDocument/2006/relationships/image"/><Relationship Id="rId8" Target="../media/image15.png" Type="http://schemas.openxmlformats.org/officeDocument/2006/relationships/image"/><Relationship Id="rId9" Target="../media/image16.sv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svg" Type="http://schemas.openxmlformats.org/officeDocument/2006/relationships/image"/><Relationship Id="rId4" Target="../media/image10.png" Type="http://schemas.openxmlformats.org/officeDocument/2006/relationships/image"/><Relationship Id="rId5" Target="../media/image11.svg" Type="http://schemas.openxmlformats.org/officeDocument/2006/relationships/image"/><Relationship Id="rId6" Target="../media/image12.png" Type="http://schemas.openxmlformats.org/officeDocument/2006/relationships/image"/><Relationship Id="rId7" Target="../media/image13.svg" Type="http://schemas.openxmlformats.org/officeDocument/2006/relationships/image"/><Relationship Id="rId8" Target="../media/image95.png" Type="http://schemas.openxmlformats.org/officeDocument/2006/relationships/image"/><Relationship Id="rId9" Target="../media/image96.pn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01.png" Type="http://schemas.openxmlformats.org/officeDocument/2006/relationships/image"/><Relationship Id="rId11" Target="../media/image102.png" Type="http://schemas.openxmlformats.org/officeDocument/2006/relationships/image"/><Relationship Id="rId2" Target="../media/image31.png" Type="http://schemas.openxmlformats.org/officeDocument/2006/relationships/image"/><Relationship Id="rId3" Target="../media/image32.svg" Type="http://schemas.openxmlformats.org/officeDocument/2006/relationships/image"/><Relationship Id="rId4" Target="../media/image10.png" Type="http://schemas.openxmlformats.org/officeDocument/2006/relationships/image"/><Relationship Id="rId5" Target="../media/image11.svg" Type="http://schemas.openxmlformats.org/officeDocument/2006/relationships/image"/><Relationship Id="rId6" Target="../media/image97.png" Type="http://schemas.openxmlformats.org/officeDocument/2006/relationships/image"/><Relationship Id="rId7" Target="../media/image98.png" Type="http://schemas.openxmlformats.org/officeDocument/2006/relationships/image"/><Relationship Id="rId8" Target="../media/image99.png" Type="http://schemas.openxmlformats.org/officeDocument/2006/relationships/image"/><Relationship Id="rId9" Target="../media/image100.pn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6.svg" Type="http://schemas.openxmlformats.org/officeDocument/2006/relationships/image"/><Relationship Id="rId11" Target="../media/image27.png" Type="http://schemas.openxmlformats.org/officeDocument/2006/relationships/image"/><Relationship Id="rId12" Target="../media/image28.svg" Type="http://schemas.openxmlformats.org/officeDocument/2006/relationships/image"/><Relationship Id="rId2" Target="../media/image8.png" Type="http://schemas.openxmlformats.org/officeDocument/2006/relationships/image"/><Relationship Id="rId3" Target="../media/image9.svg" Type="http://schemas.openxmlformats.org/officeDocument/2006/relationships/image"/><Relationship Id="rId4" Target="../media/image10.png" Type="http://schemas.openxmlformats.org/officeDocument/2006/relationships/image"/><Relationship Id="rId5" Target="../media/image11.svg" Type="http://schemas.openxmlformats.org/officeDocument/2006/relationships/image"/><Relationship Id="rId6" Target="../media/image103.png" Type="http://schemas.openxmlformats.org/officeDocument/2006/relationships/image"/><Relationship Id="rId7" Target="../media/image104.png" Type="http://schemas.openxmlformats.org/officeDocument/2006/relationships/image"/><Relationship Id="rId8" Target="../media/image105.png" Type="http://schemas.openxmlformats.org/officeDocument/2006/relationships/image"/><Relationship Id="rId9" Target="../media/image25.pn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106.png" Type="http://schemas.openxmlformats.org/officeDocument/2006/relationships/image"/><Relationship Id="rId5" Target="../media/image107.png" Type="http://schemas.openxmlformats.org/officeDocument/2006/relationships/image"/><Relationship Id="rId6" Target="../media/image108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F3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7755794">
            <a:off x="10199678" y="480836"/>
            <a:ext cx="8380021" cy="827527"/>
          </a:xfrm>
          <a:custGeom>
            <a:avLst/>
            <a:gdLst/>
            <a:ahLst/>
            <a:cxnLst/>
            <a:rect r="r" b="b" t="t" l="l"/>
            <a:pathLst>
              <a:path h="827527" w="8380021">
                <a:moveTo>
                  <a:pt x="0" y="0"/>
                </a:moveTo>
                <a:lnTo>
                  <a:pt x="8380022" y="0"/>
                </a:lnTo>
                <a:lnTo>
                  <a:pt x="8380022" y="827528"/>
                </a:lnTo>
                <a:lnTo>
                  <a:pt x="0" y="82752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7755794">
            <a:off x="7172276" y="4763631"/>
            <a:ext cx="21089258" cy="369062"/>
          </a:xfrm>
          <a:custGeom>
            <a:avLst/>
            <a:gdLst/>
            <a:ahLst/>
            <a:cxnLst/>
            <a:rect r="r" b="b" t="t" l="l"/>
            <a:pathLst>
              <a:path h="369062" w="21089258">
                <a:moveTo>
                  <a:pt x="0" y="0"/>
                </a:moveTo>
                <a:lnTo>
                  <a:pt x="21089258" y="0"/>
                </a:lnTo>
                <a:lnTo>
                  <a:pt x="21089258" y="369062"/>
                </a:lnTo>
                <a:lnTo>
                  <a:pt x="0" y="36906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8022755" y="2988276"/>
            <a:ext cx="356157" cy="205817"/>
          </a:xfrm>
          <a:custGeom>
            <a:avLst/>
            <a:gdLst/>
            <a:ahLst/>
            <a:cxnLst/>
            <a:rect r="r" b="b" t="t" l="l"/>
            <a:pathLst>
              <a:path h="205817" w="356157">
                <a:moveTo>
                  <a:pt x="0" y="0"/>
                </a:moveTo>
                <a:lnTo>
                  <a:pt x="356157" y="0"/>
                </a:lnTo>
                <a:lnTo>
                  <a:pt x="356157" y="205817"/>
                </a:lnTo>
                <a:lnTo>
                  <a:pt x="0" y="20581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7755794">
            <a:off x="-17315935" y="4213976"/>
            <a:ext cx="36527666" cy="547915"/>
          </a:xfrm>
          <a:custGeom>
            <a:avLst/>
            <a:gdLst/>
            <a:ahLst/>
            <a:cxnLst/>
            <a:rect r="r" b="b" t="t" l="l"/>
            <a:pathLst>
              <a:path h="547915" w="36527666">
                <a:moveTo>
                  <a:pt x="0" y="0"/>
                </a:moveTo>
                <a:lnTo>
                  <a:pt x="36527665" y="0"/>
                </a:lnTo>
                <a:lnTo>
                  <a:pt x="36527665" y="547915"/>
                </a:lnTo>
                <a:lnTo>
                  <a:pt x="0" y="54791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7755794">
            <a:off x="1223627" y="8102003"/>
            <a:ext cx="6083912" cy="1163548"/>
          </a:xfrm>
          <a:custGeom>
            <a:avLst/>
            <a:gdLst/>
            <a:ahLst/>
            <a:cxnLst/>
            <a:rect r="r" b="b" t="t" l="l"/>
            <a:pathLst>
              <a:path h="1163548" w="6083912">
                <a:moveTo>
                  <a:pt x="0" y="0"/>
                </a:moveTo>
                <a:lnTo>
                  <a:pt x="6083912" y="0"/>
                </a:lnTo>
                <a:lnTo>
                  <a:pt x="6083912" y="1163548"/>
                </a:lnTo>
                <a:lnTo>
                  <a:pt x="0" y="116354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3573054" y="5189595"/>
            <a:ext cx="4635205" cy="7957434"/>
          </a:xfrm>
          <a:custGeom>
            <a:avLst/>
            <a:gdLst/>
            <a:ahLst/>
            <a:cxnLst/>
            <a:rect r="r" b="b" t="t" l="l"/>
            <a:pathLst>
              <a:path h="7957434" w="4635205">
                <a:moveTo>
                  <a:pt x="0" y="0"/>
                </a:moveTo>
                <a:lnTo>
                  <a:pt x="4635205" y="0"/>
                </a:lnTo>
                <a:lnTo>
                  <a:pt x="4635205" y="7957435"/>
                </a:lnTo>
                <a:lnTo>
                  <a:pt x="0" y="795743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667807" y="473957"/>
            <a:ext cx="4416598" cy="3522237"/>
          </a:xfrm>
          <a:custGeom>
            <a:avLst/>
            <a:gdLst/>
            <a:ahLst/>
            <a:cxnLst/>
            <a:rect r="r" b="b" t="t" l="l"/>
            <a:pathLst>
              <a:path h="3522237" w="4416598">
                <a:moveTo>
                  <a:pt x="0" y="0"/>
                </a:moveTo>
                <a:lnTo>
                  <a:pt x="4416597" y="0"/>
                </a:lnTo>
                <a:lnTo>
                  <a:pt x="4416597" y="3522237"/>
                </a:lnTo>
                <a:lnTo>
                  <a:pt x="0" y="352223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5510517" y="3656852"/>
            <a:ext cx="7266966" cy="1657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384"/>
              </a:lnSpc>
            </a:pPr>
            <a:r>
              <a:rPr lang="en-US" b="true" sz="3653">
                <a:solidFill>
                  <a:srgbClr val="181A1A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AI-Powered Smart EV Charging Network Optimization Platform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736029" y="5756128"/>
            <a:ext cx="6815941" cy="11869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237"/>
              </a:lnSpc>
            </a:pPr>
            <a:r>
              <a:rPr lang="en-US" sz="1798">
                <a:solidFill>
                  <a:srgbClr val="181A1A"/>
                </a:solidFill>
                <a:latin typeface="Canva Sans"/>
                <a:ea typeface="Canva Sans"/>
                <a:cs typeface="Canva Sans"/>
                <a:sym typeface="Canva Sans"/>
              </a:rPr>
              <a:t>Using Azure Cloud and Machine Learning</a:t>
            </a:r>
          </a:p>
          <a:p>
            <a:pPr algn="ctr" marL="0" indent="0" lvl="0">
              <a:lnSpc>
                <a:spcPts val="3237"/>
              </a:lnSpc>
            </a:pPr>
            <a:r>
              <a:rPr lang="en-US" sz="1798">
                <a:solidFill>
                  <a:srgbClr val="181A1A"/>
                </a:solidFill>
                <a:latin typeface="Canva Sans"/>
                <a:ea typeface="Canva Sans"/>
                <a:cs typeface="Canva Sans"/>
                <a:sym typeface="Canva Sans"/>
              </a:rPr>
              <a:t>B.Tech Major Project Presentation</a:t>
            </a:r>
          </a:p>
          <a:p>
            <a:pPr algn="ctr" marL="0" indent="0" lvl="0">
              <a:lnSpc>
                <a:spcPts val="3237"/>
              </a:lnSpc>
            </a:pPr>
            <a:r>
              <a:rPr lang="en-US" sz="1798">
                <a:solidFill>
                  <a:srgbClr val="181A1A"/>
                </a:solidFill>
                <a:latin typeface="Canva Sans"/>
                <a:ea typeface="Canva Sans"/>
                <a:cs typeface="Canva Sans"/>
                <a:sym typeface="Canva Sans"/>
              </a:rPr>
              <a:t>Nitin Kumar  |  Reg. No: GU-2022-4233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495892" y="2965543"/>
            <a:ext cx="2046804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855"/>
              </a:lnSpc>
              <a:spcBef>
                <a:spcPct val="0"/>
              </a:spcBef>
            </a:pPr>
            <a:r>
              <a:rPr lang="en-US" b="true" sz="1546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Ingoude Company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F3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037583" y="4437300"/>
            <a:ext cx="5922420" cy="5922420"/>
          </a:xfrm>
          <a:custGeom>
            <a:avLst/>
            <a:gdLst/>
            <a:ahLst/>
            <a:cxnLst/>
            <a:rect r="r" b="b" t="t" l="l"/>
            <a:pathLst>
              <a:path h="5922420" w="5922420">
                <a:moveTo>
                  <a:pt x="0" y="0"/>
                </a:moveTo>
                <a:lnTo>
                  <a:pt x="5922420" y="0"/>
                </a:lnTo>
                <a:lnTo>
                  <a:pt x="5922420" y="5922420"/>
                </a:lnTo>
                <a:lnTo>
                  <a:pt x="0" y="592242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1712478" y="0"/>
            <a:ext cx="5922420" cy="5922420"/>
          </a:xfrm>
          <a:custGeom>
            <a:avLst/>
            <a:gdLst/>
            <a:ahLst/>
            <a:cxnLst/>
            <a:rect r="r" b="b" t="t" l="l"/>
            <a:pathLst>
              <a:path h="5922420" w="5922420">
                <a:moveTo>
                  <a:pt x="5922420" y="5922420"/>
                </a:moveTo>
                <a:lnTo>
                  <a:pt x="0" y="5922420"/>
                </a:lnTo>
                <a:lnTo>
                  <a:pt x="0" y="0"/>
                </a:lnTo>
                <a:lnTo>
                  <a:pt x="5922420" y="0"/>
                </a:lnTo>
                <a:lnTo>
                  <a:pt x="5922420" y="592242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876717" y="4437300"/>
            <a:ext cx="7414601" cy="1485120"/>
          </a:xfrm>
          <a:custGeom>
            <a:avLst/>
            <a:gdLst/>
            <a:ahLst/>
            <a:cxnLst/>
            <a:rect r="r" b="b" t="t" l="l"/>
            <a:pathLst>
              <a:path h="1485120" w="7414601">
                <a:moveTo>
                  <a:pt x="0" y="0"/>
                </a:moveTo>
                <a:lnTo>
                  <a:pt x="7414600" y="0"/>
                </a:lnTo>
                <a:lnTo>
                  <a:pt x="7414600" y="1485120"/>
                </a:lnTo>
                <a:lnTo>
                  <a:pt x="0" y="148512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5400000">
            <a:off x="8942179" y="3657524"/>
            <a:ext cx="403643" cy="603458"/>
          </a:xfrm>
          <a:custGeom>
            <a:avLst/>
            <a:gdLst/>
            <a:ahLst/>
            <a:cxnLst/>
            <a:rect r="r" b="b" t="t" l="l"/>
            <a:pathLst>
              <a:path h="603458" w="403643">
                <a:moveTo>
                  <a:pt x="403642" y="603459"/>
                </a:moveTo>
                <a:lnTo>
                  <a:pt x="0" y="603459"/>
                </a:lnTo>
                <a:lnTo>
                  <a:pt x="0" y="0"/>
                </a:lnTo>
                <a:lnTo>
                  <a:pt x="403642" y="0"/>
                </a:lnTo>
                <a:lnTo>
                  <a:pt x="403642" y="603459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true" rot="5400000">
            <a:off x="13561229" y="3609899"/>
            <a:ext cx="403643" cy="603458"/>
          </a:xfrm>
          <a:custGeom>
            <a:avLst/>
            <a:gdLst/>
            <a:ahLst/>
            <a:cxnLst/>
            <a:rect r="r" b="b" t="t" l="l"/>
            <a:pathLst>
              <a:path h="603458" w="403643">
                <a:moveTo>
                  <a:pt x="403643" y="603459"/>
                </a:moveTo>
                <a:lnTo>
                  <a:pt x="0" y="603459"/>
                </a:lnTo>
                <a:lnTo>
                  <a:pt x="0" y="0"/>
                </a:lnTo>
                <a:lnTo>
                  <a:pt x="403643" y="0"/>
                </a:lnTo>
                <a:lnTo>
                  <a:pt x="403643" y="603459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5400000">
            <a:off x="8942179" y="6191619"/>
            <a:ext cx="403643" cy="603458"/>
          </a:xfrm>
          <a:custGeom>
            <a:avLst/>
            <a:gdLst/>
            <a:ahLst/>
            <a:cxnLst/>
            <a:rect r="r" b="b" t="t" l="l"/>
            <a:pathLst>
              <a:path h="603458" w="403643">
                <a:moveTo>
                  <a:pt x="0" y="0"/>
                </a:moveTo>
                <a:lnTo>
                  <a:pt x="403642" y="0"/>
                </a:lnTo>
                <a:lnTo>
                  <a:pt x="403642" y="603458"/>
                </a:lnTo>
                <a:lnTo>
                  <a:pt x="0" y="60345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429279" y="4068760"/>
            <a:ext cx="4198909" cy="4444870"/>
          </a:xfrm>
          <a:custGeom>
            <a:avLst/>
            <a:gdLst/>
            <a:ahLst/>
            <a:cxnLst/>
            <a:rect r="r" b="b" t="t" l="l"/>
            <a:pathLst>
              <a:path h="4444870" w="4198909">
                <a:moveTo>
                  <a:pt x="0" y="0"/>
                </a:moveTo>
                <a:lnTo>
                  <a:pt x="4198909" y="0"/>
                </a:lnTo>
                <a:lnTo>
                  <a:pt x="4198909" y="4444870"/>
                </a:lnTo>
                <a:lnTo>
                  <a:pt x="0" y="444487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3245491" y="7308728"/>
            <a:ext cx="3544993" cy="1243372"/>
          </a:xfrm>
          <a:custGeom>
            <a:avLst/>
            <a:gdLst/>
            <a:ahLst/>
            <a:cxnLst/>
            <a:rect r="r" b="b" t="t" l="l"/>
            <a:pathLst>
              <a:path h="1243372" w="3544993">
                <a:moveTo>
                  <a:pt x="0" y="0"/>
                </a:moveTo>
                <a:lnTo>
                  <a:pt x="3544992" y="0"/>
                </a:lnTo>
                <a:lnTo>
                  <a:pt x="3544992" y="1243372"/>
                </a:lnTo>
                <a:lnTo>
                  <a:pt x="0" y="124337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7467903" y="7085694"/>
            <a:ext cx="3352194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51"/>
              </a:lnSpc>
            </a:pPr>
            <a:r>
              <a:rPr lang="en-US" b="true" sz="1625">
                <a:solidFill>
                  <a:srgbClr val="181A1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Suboptimal Energy Distribution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467903" y="7715805"/>
            <a:ext cx="3492100" cy="18653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12"/>
              </a:lnSpc>
            </a:pPr>
            <a:r>
              <a:rPr lang="en-US" sz="1395">
                <a:solidFill>
                  <a:srgbClr val="181A1A"/>
                </a:solidFill>
                <a:latin typeface="Canva Sans"/>
                <a:ea typeface="Canva Sans"/>
                <a:cs typeface="Canva Sans"/>
                <a:sym typeface="Canva Sans"/>
              </a:rPr>
              <a:t>Energy allocation across charging nodes lacks real-time intelligence, causing grid stress during peak hours, excessive energy waste, higher operational costs, and missed opportunities for renewable energy integration.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56610" y="1586301"/>
            <a:ext cx="5097370" cy="1247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916"/>
              </a:lnSpc>
            </a:pPr>
            <a:r>
              <a:rPr lang="en-US" b="true" sz="4097">
                <a:solidFill>
                  <a:srgbClr val="181A1A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Problem</a:t>
            </a:r>
          </a:p>
          <a:p>
            <a:pPr algn="l" marL="0" indent="0" lvl="0">
              <a:lnSpc>
                <a:spcPts val="4916"/>
              </a:lnSpc>
            </a:pPr>
            <a:r>
              <a:rPr lang="en-US" b="true" sz="4097">
                <a:solidFill>
                  <a:srgbClr val="181A1A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Overview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876717" y="770127"/>
            <a:ext cx="4083287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51"/>
              </a:lnSpc>
            </a:pPr>
            <a:r>
              <a:rPr lang="en-US" b="true" sz="1625">
                <a:solidFill>
                  <a:srgbClr val="181A1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Infrastructure Inefficiency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876717" y="1325861"/>
            <a:ext cx="3632006" cy="18653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12"/>
              </a:lnSpc>
            </a:pPr>
            <a:r>
              <a:rPr lang="en-US" sz="1395">
                <a:solidFill>
                  <a:srgbClr val="181A1A"/>
                </a:solidFill>
                <a:latin typeface="Canva Sans"/>
                <a:ea typeface="Canva Sans"/>
                <a:cs typeface="Canva Sans"/>
                <a:sym typeface="Canva Sans"/>
              </a:rPr>
              <a:t>Existing EV charging stations operate in isolation with no centralized coordination, leading to uneven load distribution, frequent station downtime, and poor utilization rates averaging below 30% across networks.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029938" y="758326"/>
            <a:ext cx="3285710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51"/>
              </a:lnSpc>
            </a:pPr>
            <a:r>
              <a:rPr lang="en-US" b="true" sz="1625">
                <a:solidFill>
                  <a:srgbClr val="181A1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Unpredictable Demand Patterns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029938" y="1325861"/>
            <a:ext cx="3841083" cy="18653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12"/>
              </a:lnSpc>
            </a:pPr>
            <a:r>
              <a:rPr lang="en-US" sz="1395">
                <a:solidFill>
                  <a:srgbClr val="181A1A"/>
                </a:solidFill>
                <a:latin typeface="Canva Sans"/>
                <a:ea typeface="Canva Sans"/>
                <a:cs typeface="Canva Sans"/>
                <a:sym typeface="Canva Sans"/>
              </a:rPr>
              <a:t>EV charging demand fluctuates drastically based on time, weather, and user behavior. Without intelligent forecasting, operators face chronic overcapacity or critical shortages, resulting in poor user experience and revenue loss.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F3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1469353" y="6329628"/>
            <a:ext cx="3645109" cy="9837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954"/>
              </a:lnSpc>
            </a:pPr>
            <a:r>
              <a:rPr lang="en-US" sz="1395">
                <a:solidFill>
                  <a:srgbClr val="181A1A"/>
                </a:solidFill>
                <a:latin typeface="Canva Sans"/>
                <a:ea typeface="Canva Sans"/>
                <a:cs typeface="Canva Sans"/>
                <a:sym typeface="Canva Sans"/>
              </a:rPr>
              <a:t>Azure ML and IoT Hub enable real-time optimization across 10,000+ charging nodes, reducing operational costs by up to 35% annually</a:t>
            </a:r>
          </a:p>
        </p:txBody>
      </p:sp>
      <p:sp>
        <p:nvSpPr>
          <p:cNvPr name="Freeform 3" id="3"/>
          <p:cNvSpPr/>
          <p:nvPr/>
        </p:nvSpPr>
        <p:spPr>
          <a:xfrm flipH="true" flipV="true" rot="0">
            <a:off x="12455676" y="4388958"/>
            <a:ext cx="4835744" cy="4835744"/>
          </a:xfrm>
          <a:custGeom>
            <a:avLst/>
            <a:gdLst/>
            <a:ahLst/>
            <a:cxnLst/>
            <a:rect r="r" b="b" t="t" l="l"/>
            <a:pathLst>
              <a:path h="4835744" w="4835744">
                <a:moveTo>
                  <a:pt x="4835744" y="4835744"/>
                </a:moveTo>
                <a:lnTo>
                  <a:pt x="0" y="4835744"/>
                </a:lnTo>
                <a:lnTo>
                  <a:pt x="0" y="0"/>
                </a:lnTo>
                <a:lnTo>
                  <a:pt x="4835744" y="0"/>
                </a:lnTo>
                <a:lnTo>
                  <a:pt x="4835744" y="4835744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487358" y="8009261"/>
            <a:ext cx="6068205" cy="1215442"/>
          </a:xfrm>
          <a:custGeom>
            <a:avLst/>
            <a:gdLst/>
            <a:ahLst/>
            <a:cxnLst/>
            <a:rect r="r" b="b" t="t" l="l"/>
            <a:pathLst>
              <a:path h="1215442" w="6068205">
                <a:moveTo>
                  <a:pt x="0" y="0"/>
                </a:moveTo>
                <a:lnTo>
                  <a:pt x="6068206" y="0"/>
                </a:lnTo>
                <a:lnTo>
                  <a:pt x="6068206" y="1215441"/>
                </a:lnTo>
                <a:lnTo>
                  <a:pt x="0" y="121544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5523698" y="8009261"/>
            <a:ext cx="6068205" cy="1215442"/>
          </a:xfrm>
          <a:custGeom>
            <a:avLst/>
            <a:gdLst/>
            <a:ahLst/>
            <a:cxnLst/>
            <a:rect r="r" b="b" t="t" l="l"/>
            <a:pathLst>
              <a:path h="1215442" w="6068205">
                <a:moveTo>
                  <a:pt x="0" y="0"/>
                </a:moveTo>
                <a:lnTo>
                  <a:pt x="6068205" y="0"/>
                </a:lnTo>
                <a:lnTo>
                  <a:pt x="6068205" y="1215441"/>
                </a:lnTo>
                <a:lnTo>
                  <a:pt x="0" y="121544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072776" y="8009261"/>
            <a:ext cx="6068205" cy="1215442"/>
          </a:xfrm>
          <a:custGeom>
            <a:avLst/>
            <a:gdLst/>
            <a:ahLst/>
            <a:cxnLst/>
            <a:rect r="r" b="b" t="t" l="l"/>
            <a:pathLst>
              <a:path h="1215442" w="6068205">
                <a:moveTo>
                  <a:pt x="0" y="0"/>
                </a:moveTo>
                <a:lnTo>
                  <a:pt x="6068205" y="0"/>
                </a:lnTo>
                <a:lnTo>
                  <a:pt x="6068205" y="1215441"/>
                </a:lnTo>
                <a:lnTo>
                  <a:pt x="0" y="121544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5400000">
            <a:off x="13649597" y="1501676"/>
            <a:ext cx="6068205" cy="1215442"/>
          </a:xfrm>
          <a:custGeom>
            <a:avLst/>
            <a:gdLst/>
            <a:ahLst/>
            <a:cxnLst/>
            <a:rect r="r" b="b" t="t" l="l"/>
            <a:pathLst>
              <a:path h="1215442" w="6068205">
                <a:moveTo>
                  <a:pt x="0" y="0"/>
                </a:moveTo>
                <a:lnTo>
                  <a:pt x="6068205" y="0"/>
                </a:lnTo>
                <a:lnTo>
                  <a:pt x="6068205" y="1215442"/>
                </a:lnTo>
                <a:lnTo>
                  <a:pt x="0" y="121544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3043630" y="7853919"/>
            <a:ext cx="1547862" cy="1526125"/>
            <a:chOff x="0" y="0"/>
            <a:chExt cx="812800" cy="80137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6050" y="0"/>
              <a:ext cx="800699" cy="800100"/>
            </a:xfrm>
            <a:custGeom>
              <a:avLst/>
              <a:gdLst/>
              <a:ahLst/>
              <a:cxnLst/>
              <a:rect r="r" b="b" t="t" l="l"/>
              <a:pathLst>
                <a:path h="800100" w="800699">
                  <a:moveTo>
                    <a:pt x="537510" y="24130"/>
                  </a:moveTo>
                  <a:lnTo>
                    <a:pt x="537510" y="24130"/>
                  </a:lnTo>
                  <a:cubicBezTo>
                    <a:pt x="581206" y="40096"/>
                    <a:pt x="621807" y="63510"/>
                    <a:pt x="657512" y="93334"/>
                  </a:cubicBezTo>
                  <a:lnTo>
                    <a:pt x="657525" y="93345"/>
                  </a:lnTo>
                  <a:cubicBezTo>
                    <a:pt x="693229" y="123169"/>
                    <a:pt x="723403" y="159047"/>
                    <a:pt x="746662" y="199336"/>
                  </a:cubicBezTo>
                  <a:lnTo>
                    <a:pt x="747492" y="200773"/>
                  </a:lnTo>
                  <a:cubicBezTo>
                    <a:pt x="770729" y="241024"/>
                    <a:pt x="786704" y="285049"/>
                    <a:pt x="794685" y="330835"/>
                  </a:cubicBezTo>
                  <a:lnTo>
                    <a:pt x="794685" y="330835"/>
                  </a:lnTo>
                  <a:cubicBezTo>
                    <a:pt x="802669" y="376636"/>
                    <a:pt x="802705" y="423470"/>
                    <a:pt x="794791" y="469283"/>
                  </a:cubicBezTo>
                  <a:lnTo>
                    <a:pt x="794632" y="470206"/>
                  </a:lnTo>
                  <a:cubicBezTo>
                    <a:pt x="786688" y="516197"/>
                    <a:pt x="770577" y="560395"/>
                    <a:pt x="747060" y="600710"/>
                  </a:cubicBezTo>
                  <a:lnTo>
                    <a:pt x="746936" y="600923"/>
                  </a:lnTo>
                  <a:cubicBezTo>
                    <a:pt x="723490" y="641115"/>
                    <a:pt x="693236" y="676925"/>
                    <a:pt x="657525" y="706755"/>
                  </a:cubicBezTo>
                  <a:lnTo>
                    <a:pt x="657512" y="706766"/>
                  </a:lnTo>
                  <a:cubicBezTo>
                    <a:pt x="621807" y="736590"/>
                    <a:pt x="581206" y="760004"/>
                    <a:pt x="537510" y="775970"/>
                  </a:cubicBezTo>
                  <a:lnTo>
                    <a:pt x="537510" y="775970"/>
                  </a:lnTo>
                  <a:cubicBezTo>
                    <a:pt x="493823" y="791933"/>
                    <a:pt x="447672" y="800100"/>
                    <a:pt x="401160" y="800100"/>
                  </a:cubicBezTo>
                  <a:lnTo>
                    <a:pt x="399540" y="800100"/>
                  </a:lnTo>
                  <a:cubicBezTo>
                    <a:pt x="353028" y="800100"/>
                    <a:pt x="306877" y="791933"/>
                    <a:pt x="263190" y="775970"/>
                  </a:cubicBezTo>
                  <a:lnTo>
                    <a:pt x="263190" y="775970"/>
                  </a:lnTo>
                  <a:cubicBezTo>
                    <a:pt x="219494" y="760004"/>
                    <a:pt x="178893" y="736590"/>
                    <a:pt x="143188" y="706766"/>
                  </a:cubicBezTo>
                  <a:lnTo>
                    <a:pt x="143175" y="706755"/>
                  </a:lnTo>
                  <a:cubicBezTo>
                    <a:pt x="107464" y="676925"/>
                    <a:pt x="77210" y="641115"/>
                    <a:pt x="53764" y="600923"/>
                  </a:cubicBezTo>
                  <a:lnTo>
                    <a:pt x="53640" y="600710"/>
                  </a:lnTo>
                  <a:cubicBezTo>
                    <a:pt x="30123" y="560395"/>
                    <a:pt x="14012" y="516197"/>
                    <a:pt x="6068" y="470206"/>
                  </a:cubicBezTo>
                  <a:lnTo>
                    <a:pt x="5909" y="469283"/>
                  </a:lnTo>
                  <a:cubicBezTo>
                    <a:pt x="-2005" y="423470"/>
                    <a:pt x="-1969" y="376636"/>
                    <a:pt x="6015" y="330835"/>
                  </a:cubicBezTo>
                  <a:lnTo>
                    <a:pt x="6015" y="330835"/>
                  </a:lnTo>
                  <a:cubicBezTo>
                    <a:pt x="13996" y="285049"/>
                    <a:pt x="29971" y="241024"/>
                    <a:pt x="53208" y="200773"/>
                  </a:cubicBezTo>
                  <a:lnTo>
                    <a:pt x="54038" y="199336"/>
                  </a:lnTo>
                  <a:cubicBezTo>
                    <a:pt x="77297" y="159047"/>
                    <a:pt x="107471" y="123169"/>
                    <a:pt x="143175" y="93345"/>
                  </a:cubicBezTo>
                  <a:lnTo>
                    <a:pt x="143188" y="93334"/>
                  </a:lnTo>
                  <a:cubicBezTo>
                    <a:pt x="178893" y="63510"/>
                    <a:pt x="219494" y="40096"/>
                    <a:pt x="263190" y="24130"/>
                  </a:cubicBezTo>
                  <a:lnTo>
                    <a:pt x="263190" y="24130"/>
                  </a:lnTo>
                  <a:cubicBezTo>
                    <a:pt x="306877" y="8167"/>
                    <a:pt x="353028" y="0"/>
                    <a:pt x="399540" y="0"/>
                  </a:cubicBezTo>
                  <a:lnTo>
                    <a:pt x="401160" y="0"/>
                  </a:lnTo>
                  <a:cubicBezTo>
                    <a:pt x="447672" y="0"/>
                    <a:pt x="493823" y="8167"/>
                    <a:pt x="537510" y="24130"/>
                  </a:cubicBezTo>
                  <a:close/>
                </a:path>
              </a:pathLst>
            </a:custGeom>
            <a:solidFill>
              <a:srgbClr val="004F5E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122142" y="115968"/>
              <a:ext cx="568517" cy="5683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7783869" y="7853919"/>
            <a:ext cx="1547862" cy="1526125"/>
            <a:chOff x="0" y="0"/>
            <a:chExt cx="812800" cy="80137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6050" y="0"/>
              <a:ext cx="800699" cy="800100"/>
            </a:xfrm>
            <a:custGeom>
              <a:avLst/>
              <a:gdLst/>
              <a:ahLst/>
              <a:cxnLst/>
              <a:rect r="r" b="b" t="t" l="l"/>
              <a:pathLst>
                <a:path h="800100" w="800699">
                  <a:moveTo>
                    <a:pt x="537510" y="24130"/>
                  </a:moveTo>
                  <a:lnTo>
                    <a:pt x="537510" y="24130"/>
                  </a:lnTo>
                  <a:cubicBezTo>
                    <a:pt x="581206" y="40096"/>
                    <a:pt x="621807" y="63510"/>
                    <a:pt x="657512" y="93334"/>
                  </a:cubicBezTo>
                  <a:lnTo>
                    <a:pt x="657525" y="93345"/>
                  </a:lnTo>
                  <a:cubicBezTo>
                    <a:pt x="693229" y="123169"/>
                    <a:pt x="723403" y="159047"/>
                    <a:pt x="746662" y="199336"/>
                  </a:cubicBezTo>
                  <a:lnTo>
                    <a:pt x="747492" y="200773"/>
                  </a:lnTo>
                  <a:cubicBezTo>
                    <a:pt x="770729" y="241024"/>
                    <a:pt x="786704" y="285049"/>
                    <a:pt x="794685" y="330835"/>
                  </a:cubicBezTo>
                  <a:lnTo>
                    <a:pt x="794685" y="330835"/>
                  </a:lnTo>
                  <a:cubicBezTo>
                    <a:pt x="802669" y="376636"/>
                    <a:pt x="802705" y="423470"/>
                    <a:pt x="794791" y="469283"/>
                  </a:cubicBezTo>
                  <a:lnTo>
                    <a:pt x="794632" y="470206"/>
                  </a:lnTo>
                  <a:cubicBezTo>
                    <a:pt x="786688" y="516197"/>
                    <a:pt x="770577" y="560395"/>
                    <a:pt x="747060" y="600710"/>
                  </a:cubicBezTo>
                  <a:lnTo>
                    <a:pt x="746936" y="600923"/>
                  </a:lnTo>
                  <a:cubicBezTo>
                    <a:pt x="723490" y="641115"/>
                    <a:pt x="693236" y="676925"/>
                    <a:pt x="657525" y="706755"/>
                  </a:cubicBezTo>
                  <a:lnTo>
                    <a:pt x="657512" y="706766"/>
                  </a:lnTo>
                  <a:cubicBezTo>
                    <a:pt x="621807" y="736590"/>
                    <a:pt x="581206" y="760004"/>
                    <a:pt x="537510" y="775970"/>
                  </a:cubicBezTo>
                  <a:lnTo>
                    <a:pt x="537510" y="775970"/>
                  </a:lnTo>
                  <a:cubicBezTo>
                    <a:pt x="493823" y="791933"/>
                    <a:pt x="447672" y="800100"/>
                    <a:pt x="401160" y="800100"/>
                  </a:cubicBezTo>
                  <a:lnTo>
                    <a:pt x="399540" y="800100"/>
                  </a:lnTo>
                  <a:cubicBezTo>
                    <a:pt x="353028" y="800100"/>
                    <a:pt x="306877" y="791933"/>
                    <a:pt x="263190" y="775970"/>
                  </a:cubicBezTo>
                  <a:lnTo>
                    <a:pt x="263190" y="775970"/>
                  </a:lnTo>
                  <a:cubicBezTo>
                    <a:pt x="219494" y="760004"/>
                    <a:pt x="178893" y="736590"/>
                    <a:pt x="143188" y="706766"/>
                  </a:cubicBezTo>
                  <a:lnTo>
                    <a:pt x="143175" y="706755"/>
                  </a:lnTo>
                  <a:cubicBezTo>
                    <a:pt x="107464" y="676925"/>
                    <a:pt x="77210" y="641115"/>
                    <a:pt x="53764" y="600923"/>
                  </a:cubicBezTo>
                  <a:lnTo>
                    <a:pt x="53640" y="600710"/>
                  </a:lnTo>
                  <a:cubicBezTo>
                    <a:pt x="30123" y="560395"/>
                    <a:pt x="14012" y="516197"/>
                    <a:pt x="6068" y="470206"/>
                  </a:cubicBezTo>
                  <a:lnTo>
                    <a:pt x="5909" y="469283"/>
                  </a:lnTo>
                  <a:cubicBezTo>
                    <a:pt x="-2005" y="423470"/>
                    <a:pt x="-1969" y="376636"/>
                    <a:pt x="6015" y="330835"/>
                  </a:cubicBezTo>
                  <a:lnTo>
                    <a:pt x="6015" y="330835"/>
                  </a:lnTo>
                  <a:cubicBezTo>
                    <a:pt x="13996" y="285049"/>
                    <a:pt x="29971" y="241024"/>
                    <a:pt x="53208" y="200773"/>
                  </a:cubicBezTo>
                  <a:lnTo>
                    <a:pt x="54038" y="199336"/>
                  </a:lnTo>
                  <a:cubicBezTo>
                    <a:pt x="77297" y="159047"/>
                    <a:pt x="107471" y="123169"/>
                    <a:pt x="143175" y="93345"/>
                  </a:cubicBezTo>
                  <a:lnTo>
                    <a:pt x="143188" y="93334"/>
                  </a:lnTo>
                  <a:cubicBezTo>
                    <a:pt x="178893" y="63510"/>
                    <a:pt x="219494" y="40096"/>
                    <a:pt x="263190" y="24130"/>
                  </a:cubicBezTo>
                  <a:lnTo>
                    <a:pt x="263190" y="24130"/>
                  </a:lnTo>
                  <a:cubicBezTo>
                    <a:pt x="306877" y="8167"/>
                    <a:pt x="353028" y="0"/>
                    <a:pt x="399540" y="0"/>
                  </a:cubicBezTo>
                  <a:lnTo>
                    <a:pt x="401160" y="0"/>
                  </a:lnTo>
                  <a:cubicBezTo>
                    <a:pt x="447672" y="0"/>
                    <a:pt x="493823" y="8167"/>
                    <a:pt x="537510" y="24130"/>
                  </a:cubicBezTo>
                  <a:close/>
                </a:path>
              </a:pathLst>
            </a:custGeom>
            <a:solidFill>
              <a:srgbClr val="B3D3D9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122142" y="115968"/>
              <a:ext cx="568517" cy="5683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2525353" y="7853919"/>
            <a:ext cx="1547862" cy="1526125"/>
            <a:chOff x="0" y="0"/>
            <a:chExt cx="812800" cy="80137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6050" y="0"/>
              <a:ext cx="800699" cy="800100"/>
            </a:xfrm>
            <a:custGeom>
              <a:avLst/>
              <a:gdLst/>
              <a:ahLst/>
              <a:cxnLst/>
              <a:rect r="r" b="b" t="t" l="l"/>
              <a:pathLst>
                <a:path h="800100" w="800699">
                  <a:moveTo>
                    <a:pt x="537510" y="24130"/>
                  </a:moveTo>
                  <a:lnTo>
                    <a:pt x="537510" y="24130"/>
                  </a:lnTo>
                  <a:cubicBezTo>
                    <a:pt x="581206" y="40096"/>
                    <a:pt x="621807" y="63510"/>
                    <a:pt x="657512" y="93334"/>
                  </a:cubicBezTo>
                  <a:lnTo>
                    <a:pt x="657525" y="93345"/>
                  </a:lnTo>
                  <a:cubicBezTo>
                    <a:pt x="693229" y="123169"/>
                    <a:pt x="723403" y="159047"/>
                    <a:pt x="746662" y="199336"/>
                  </a:cubicBezTo>
                  <a:lnTo>
                    <a:pt x="747492" y="200773"/>
                  </a:lnTo>
                  <a:cubicBezTo>
                    <a:pt x="770729" y="241024"/>
                    <a:pt x="786704" y="285049"/>
                    <a:pt x="794685" y="330835"/>
                  </a:cubicBezTo>
                  <a:lnTo>
                    <a:pt x="794685" y="330835"/>
                  </a:lnTo>
                  <a:cubicBezTo>
                    <a:pt x="802669" y="376636"/>
                    <a:pt x="802705" y="423470"/>
                    <a:pt x="794791" y="469283"/>
                  </a:cubicBezTo>
                  <a:lnTo>
                    <a:pt x="794632" y="470206"/>
                  </a:lnTo>
                  <a:cubicBezTo>
                    <a:pt x="786688" y="516197"/>
                    <a:pt x="770577" y="560395"/>
                    <a:pt x="747060" y="600710"/>
                  </a:cubicBezTo>
                  <a:lnTo>
                    <a:pt x="746936" y="600923"/>
                  </a:lnTo>
                  <a:cubicBezTo>
                    <a:pt x="723490" y="641115"/>
                    <a:pt x="693236" y="676925"/>
                    <a:pt x="657525" y="706755"/>
                  </a:cubicBezTo>
                  <a:lnTo>
                    <a:pt x="657512" y="706766"/>
                  </a:lnTo>
                  <a:cubicBezTo>
                    <a:pt x="621807" y="736590"/>
                    <a:pt x="581206" y="760004"/>
                    <a:pt x="537510" y="775970"/>
                  </a:cubicBezTo>
                  <a:lnTo>
                    <a:pt x="537510" y="775970"/>
                  </a:lnTo>
                  <a:cubicBezTo>
                    <a:pt x="493823" y="791933"/>
                    <a:pt x="447672" y="800100"/>
                    <a:pt x="401160" y="800100"/>
                  </a:cubicBezTo>
                  <a:lnTo>
                    <a:pt x="399540" y="800100"/>
                  </a:lnTo>
                  <a:cubicBezTo>
                    <a:pt x="353028" y="800100"/>
                    <a:pt x="306877" y="791933"/>
                    <a:pt x="263190" y="775970"/>
                  </a:cubicBezTo>
                  <a:lnTo>
                    <a:pt x="263190" y="775970"/>
                  </a:lnTo>
                  <a:cubicBezTo>
                    <a:pt x="219494" y="760004"/>
                    <a:pt x="178893" y="736590"/>
                    <a:pt x="143188" y="706766"/>
                  </a:cubicBezTo>
                  <a:lnTo>
                    <a:pt x="143175" y="706755"/>
                  </a:lnTo>
                  <a:cubicBezTo>
                    <a:pt x="107464" y="676925"/>
                    <a:pt x="77210" y="641115"/>
                    <a:pt x="53764" y="600923"/>
                  </a:cubicBezTo>
                  <a:lnTo>
                    <a:pt x="53640" y="600710"/>
                  </a:lnTo>
                  <a:cubicBezTo>
                    <a:pt x="30123" y="560395"/>
                    <a:pt x="14012" y="516197"/>
                    <a:pt x="6068" y="470206"/>
                  </a:cubicBezTo>
                  <a:lnTo>
                    <a:pt x="5909" y="469283"/>
                  </a:lnTo>
                  <a:cubicBezTo>
                    <a:pt x="-2005" y="423470"/>
                    <a:pt x="-1969" y="376636"/>
                    <a:pt x="6015" y="330835"/>
                  </a:cubicBezTo>
                  <a:lnTo>
                    <a:pt x="6015" y="330835"/>
                  </a:lnTo>
                  <a:cubicBezTo>
                    <a:pt x="13996" y="285049"/>
                    <a:pt x="29971" y="241024"/>
                    <a:pt x="53208" y="200773"/>
                  </a:cubicBezTo>
                  <a:lnTo>
                    <a:pt x="54038" y="199336"/>
                  </a:lnTo>
                  <a:cubicBezTo>
                    <a:pt x="77297" y="159047"/>
                    <a:pt x="107471" y="123169"/>
                    <a:pt x="143175" y="93345"/>
                  </a:cubicBezTo>
                  <a:lnTo>
                    <a:pt x="143188" y="93334"/>
                  </a:lnTo>
                  <a:cubicBezTo>
                    <a:pt x="178893" y="63510"/>
                    <a:pt x="219494" y="40096"/>
                    <a:pt x="263190" y="24130"/>
                  </a:cubicBezTo>
                  <a:lnTo>
                    <a:pt x="263190" y="24130"/>
                  </a:lnTo>
                  <a:cubicBezTo>
                    <a:pt x="306877" y="8167"/>
                    <a:pt x="353028" y="0"/>
                    <a:pt x="399540" y="0"/>
                  </a:cubicBezTo>
                  <a:lnTo>
                    <a:pt x="401160" y="0"/>
                  </a:lnTo>
                  <a:cubicBezTo>
                    <a:pt x="447672" y="0"/>
                    <a:pt x="493823" y="8167"/>
                    <a:pt x="537510" y="24130"/>
                  </a:cubicBezTo>
                  <a:close/>
                </a:path>
              </a:pathLst>
            </a:custGeom>
            <a:solidFill>
              <a:srgbClr val="004F5E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122142" y="115968"/>
              <a:ext cx="568517" cy="5683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5909768" y="2382098"/>
            <a:ext cx="1547862" cy="1526125"/>
            <a:chOff x="0" y="0"/>
            <a:chExt cx="812800" cy="80137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6050" y="0"/>
              <a:ext cx="800699" cy="800100"/>
            </a:xfrm>
            <a:custGeom>
              <a:avLst/>
              <a:gdLst/>
              <a:ahLst/>
              <a:cxnLst/>
              <a:rect r="r" b="b" t="t" l="l"/>
              <a:pathLst>
                <a:path h="800100" w="800699">
                  <a:moveTo>
                    <a:pt x="537510" y="24130"/>
                  </a:moveTo>
                  <a:lnTo>
                    <a:pt x="537510" y="24130"/>
                  </a:lnTo>
                  <a:cubicBezTo>
                    <a:pt x="581206" y="40096"/>
                    <a:pt x="621807" y="63510"/>
                    <a:pt x="657512" y="93334"/>
                  </a:cubicBezTo>
                  <a:lnTo>
                    <a:pt x="657525" y="93345"/>
                  </a:lnTo>
                  <a:cubicBezTo>
                    <a:pt x="693229" y="123169"/>
                    <a:pt x="723403" y="159047"/>
                    <a:pt x="746662" y="199336"/>
                  </a:cubicBezTo>
                  <a:lnTo>
                    <a:pt x="747492" y="200773"/>
                  </a:lnTo>
                  <a:cubicBezTo>
                    <a:pt x="770729" y="241024"/>
                    <a:pt x="786704" y="285049"/>
                    <a:pt x="794685" y="330835"/>
                  </a:cubicBezTo>
                  <a:lnTo>
                    <a:pt x="794685" y="330835"/>
                  </a:lnTo>
                  <a:cubicBezTo>
                    <a:pt x="802669" y="376636"/>
                    <a:pt x="802705" y="423470"/>
                    <a:pt x="794791" y="469283"/>
                  </a:cubicBezTo>
                  <a:lnTo>
                    <a:pt x="794632" y="470206"/>
                  </a:lnTo>
                  <a:cubicBezTo>
                    <a:pt x="786688" y="516197"/>
                    <a:pt x="770577" y="560395"/>
                    <a:pt x="747060" y="600710"/>
                  </a:cubicBezTo>
                  <a:lnTo>
                    <a:pt x="746936" y="600923"/>
                  </a:lnTo>
                  <a:cubicBezTo>
                    <a:pt x="723490" y="641115"/>
                    <a:pt x="693236" y="676925"/>
                    <a:pt x="657525" y="706755"/>
                  </a:cubicBezTo>
                  <a:lnTo>
                    <a:pt x="657512" y="706766"/>
                  </a:lnTo>
                  <a:cubicBezTo>
                    <a:pt x="621807" y="736590"/>
                    <a:pt x="581206" y="760004"/>
                    <a:pt x="537510" y="775970"/>
                  </a:cubicBezTo>
                  <a:lnTo>
                    <a:pt x="537510" y="775970"/>
                  </a:lnTo>
                  <a:cubicBezTo>
                    <a:pt x="493823" y="791933"/>
                    <a:pt x="447672" y="800100"/>
                    <a:pt x="401160" y="800100"/>
                  </a:cubicBezTo>
                  <a:lnTo>
                    <a:pt x="399540" y="800100"/>
                  </a:lnTo>
                  <a:cubicBezTo>
                    <a:pt x="353028" y="800100"/>
                    <a:pt x="306877" y="791933"/>
                    <a:pt x="263190" y="775970"/>
                  </a:cubicBezTo>
                  <a:lnTo>
                    <a:pt x="263190" y="775970"/>
                  </a:lnTo>
                  <a:cubicBezTo>
                    <a:pt x="219494" y="760004"/>
                    <a:pt x="178893" y="736590"/>
                    <a:pt x="143188" y="706766"/>
                  </a:cubicBezTo>
                  <a:lnTo>
                    <a:pt x="143175" y="706755"/>
                  </a:lnTo>
                  <a:cubicBezTo>
                    <a:pt x="107464" y="676925"/>
                    <a:pt x="77210" y="641115"/>
                    <a:pt x="53764" y="600923"/>
                  </a:cubicBezTo>
                  <a:lnTo>
                    <a:pt x="53640" y="600710"/>
                  </a:lnTo>
                  <a:cubicBezTo>
                    <a:pt x="30123" y="560395"/>
                    <a:pt x="14012" y="516197"/>
                    <a:pt x="6068" y="470206"/>
                  </a:cubicBezTo>
                  <a:lnTo>
                    <a:pt x="5909" y="469283"/>
                  </a:lnTo>
                  <a:cubicBezTo>
                    <a:pt x="-2005" y="423470"/>
                    <a:pt x="-1969" y="376636"/>
                    <a:pt x="6015" y="330835"/>
                  </a:cubicBezTo>
                  <a:lnTo>
                    <a:pt x="6015" y="330835"/>
                  </a:lnTo>
                  <a:cubicBezTo>
                    <a:pt x="13996" y="285049"/>
                    <a:pt x="29971" y="241024"/>
                    <a:pt x="53208" y="200773"/>
                  </a:cubicBezTo>
                  <a:lnTo>
                    <a:pt x="54038" y="199336"/>
                  </a:lnTo>
                  <a:cubicBezTo>
                    <a:pt x="77297" y="159047"/>
                    <a:pt x="107471" y="123169"/>
                    <a:pt x="143175" y="93345"/>
                  </a:cubicBezTo>
                  <a:lnTo>
                    <a:pt x="143188" y="93334"/>
                  </a:lnTo>
                  <a:cubicBezTo>
                    <a:pt x="178893" y="63510"/>
                    <a:pt x="219494" y="40096"/>
                    <a:pt x="263190" y="24130"/>
                  </a:cubicBezTo>
                  <a:lnTo>
                    <a:pt x="263190" y="24130"/>
                  </a:lnTo>
                  <a:cubicBezTo>
                    <a:pt x="306877" y="8167"/>
                    <a:pt x="353028" y="0"/>
                    <a:pt x="399540" y="0"/>
                  </a:cubicBezTo>
                  <a:lnTo>
                    <a:pt x="401160" y="0"/>
                  </a:lnTo>
                  <a:cubicBezTo>
                    <a:pt x="447672" y="0"/>
                    <a:pt x="493823" y="8167"/>
                    <a:pt x="537510" y="24130"/>
                  </a:cubicBezTo>
                  <a:close/>
                </a:path>
              </a:pathLst>
            </a:custGeom>
            <a:solidFill>
              <a:srgbClr val="B3D3D9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122142" y="115968"/>
              <a:ext cx="568517" cy="5683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12887191" y="8261432"/>
            <a:ext cx="874301" cy="685700"/>
          </a:xfrm>
          <a:custGeom>
            <a:avLst/>
            <a:gdLst/>
            <a:ahLst/>
            <a:cxnLst/>
            <a:rect r="r" b="b" t="t" l="l"/>
            <a:pathLst>
              <a:path h="685700" w="874301">
                <a:moveTo>
                  <a:pt x="0" y="0"/>
                </a:moveTo>
                <a:lnTo>
                  <a:pt x="874301" y="0"/>
                </a:lnTo>
                <a:lnTo>
                  <a:pt x="874301" y="685700"/>
                </a:lnTo>
                <a:lnTo>
                  <a:pt x="0" y="68570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8227747" y="8235026"/>
            <a:ext cx="639878" cy="807076"/>
          </a:xfrm>
          <a:custGeom>
            <a:avLst/>
            <a:gdLst/>
            <a:ahLst/>
            <a:cxnLst/>
            <a:rect r="r" b="b" t="t" l="l"/>
            <a:pathLst>
              <a:path h="807076" w="639878">
                <a:moveTo>
                  <a:pt x="0" y="0"/>
                </a:moveTo>
                <a:lnTo>
                  <a:pt x="639878" y="0"/>
                </a:lnTo>
                <a:lnTo>
                  <a:pt x="639878" y="807076"/>
                </a:lnTo>
                <a:lnTo>
                  <a:pt x="0" y="80707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3357503" y="8315402"/>
            <a:ext cx="810422" cy="860655"/>
          </a:xfrm>
          <a:custGeom>
            <a:avLst/>
            <a:gdLst/>
            <a:ahLst/>
            <a:cxnLst/>
            <a:rect r="r" b="b" t="t" l="l"/>
            <a:pathLst>
              <a:path h="860655" w="810422">
                <a:moveTo>
                  <a:pt x="0" y="0"/>
                </a:moveTo>
                <a:lnTo>
                  <a:pt x="810422" y="0"/>
                </a:lnTo>
                <a:lnTo>
                  <a:pt x="810422" y="860655"/>
                </a:lnTo>
                <a:lnTo>
                  <a:pt x="0" y="86065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16163016" y="2556077"/>
            <a:ext cx="880986" cy="932325"/>
          </a:xfrm>
          <a:custGeom>
            <a:avLst/>
            <a:gdLst/>
            <a:ahLst/>
            <a:cxnLst/>
            <a:rect r="r" b="b" t="t" l="l"/>
            <a:pathLst>
              <a:path h="932325" w="880986">
                <a:moveTo>
                  <a:pt x="0" y="0"/>
                </a:moveTo>
                <a:lnTo>
                  <a:pt x="880986" y="0"/>
                </a:lnTo>
                <a:lnTo>
                  <a:pt x="880986" y="932325"/>
                </a:lnTo>
                <a:lnTo>
                  <a:pt x="0" y="93232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5210057" y="474843"/>
            <a:ext cx="6545831" cy="3575660"/>
          </a:xfrm>
          <a:custGeom>
            <a:avLst/>
            <a:gdLst/>
            <a:ahLst/>
            <a:cxnLst/>
            <a:rect r="r" b="b" t="t" l="l"/>
            <a:pathLst>
              <a:path h="3575660" w="6545831">
                <a:moveTo>
                  <a:pt x="0" y="0"/>
                </a:moveTo>
                <a:lnTo>
                  <a:pt x="6545832" y="0"/>
                </a:lnTo>
                <a:lnTo>
                  <a:pt x="6545832" y="3575660"/>
                </a:lnTo>
                <a:lnTo>
                  <a:pt x="0" y="357566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0">
            <a:off x="6771077" y="6329628"/>
            <a:ext cx="3553422" cy="9837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954"/>
              </a:lnSpc>
            </a:pPr>
            <a:r>
              <a:rPr lang="en-US" sz="1395">
                <a:solidFill>
                  <a:srgbClr val="181A1A"/>
                </a:solidFill>
                <a:latin typeface="Canva Sans"/>
                <a:ea typeface="Canva Sans"/>
                <a:cs typeface="Canva Sans"/>
                <a:sym typeface="Canva Sans"/>
              </a:rPr>
              <a:t>Unmanaged EV charging causes 40% peak load spikes. AI-driven smart grid coordination is critical for grid stability and energy efficiency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6902219" y="5459432"/>
            <a:ext cx="3233142" cy="3558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59"/>
              </a:lnSpc>
              <a:spcBef>
                <a:spcPct val="0"/>
              </a:spcBef>
            </a:pPr>
            <a:r>
              <a:rPr lang="en-US" b="true" sz="2113">
                <a:solidFill>
                  <a:srgbClr val="181A1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Smart Grid Integration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028700" y="1825600"/>
            <a:ext cx="8025966" cy="7207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500"/>
              </a:lnSpc>
              <a:spcBef>
                <a:spcPct val="0"/>
              </a:spcBef>
            </a:pPr>
            <a:r>
              <a:rPr lang="en-US" b="true" sz="5000">
                <a:solidFill>
                  <a:srgbClr val="181A1A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Market Context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2008899" y="6329628"/>
            <a:ext cx="3617323" cy="9837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954"/>
              </a:lnSpc>
            </a:pPr>
            <a:r>
              <a:rPr lang="en-US" sz="1395">
                <a:solidFill>
                  <a:srgbClr val="181A1A"/>
                </a:solidFill>
                <a:latin typeface="Canva Sans"/>
                <a:ea typeface="Canva Sans"/>
                <a:cs typeface="Canva Sans"/>
                <a:sym typeface="Canva Sans"/>
              </a:rPr>
              <a:t>Only 1 charger per 20 EVs globally. 68% of EV owners cite charging availability as their #1 concern, demanding urgent network expansion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1638798" y="3291678"/>
            <a:ext cx="3397463" cy="9837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954"/>
              </a:lnSpc>
            </a:pPr>
            <a:r>
              <a:rPr lang="en-US" sz="1395">
                <a:solidFill>
                  <a:srgbClr val="181A1A"/>
                </a:solidFill>
                <a:latin typeface="Canva Sans"/>
                <a:ea typeface="Canva Sans"/>
                <a:cs typeface="Canva Sans"/>
                <a:sym typeface="Canva Sans"/>
              </a:rPr>
              <a:t>EV market projected to reach $1.3 Trillion by 2028, growing at 24.5% CAGR — driven by policy mandates and consumer adoption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2349216" y="5459432"/>
            <a:ext cx="3013179" cy="7273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59"/>
              </a:lnSpc>
              <a:spcBef>
                <a:spcPct val="0"/>
              </a:spcBef>
            </a:pPr>
            <a:r>
              <a:rPr lang="en-US" b="true" sz="2113">
                <a:solidFill>
                  <a:srgbClr val="181A1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Charging Infrastructure Gap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1755889" y="2421482"/>
            <a:ext cx="3163281" cy="7273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59"/>
              </a:lnSpc>
              <a:spcBef>
                <a:spcPct val="0"/>
              </a:spcBef>
            </a:pPr>
            <a:r>
              <a:rPr lang="en-US" b="true" sz="2113">
                <a:solidFill>
                  <a:srgbClr val="181A1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Global EV Market Growth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1928700" y="5459432"/>
            <a:ext cx="2817660" cy="7273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59"/>
              </a:lnSpc>
              <a:spcBef>
                <a:spcPct val="0"/>
              </a:spcBef>
            </a:pPr>
            <a:r>
              <a:rPr lang="en-US" b="true" sz="2113">
                <a:solidFill>
                  <a:srgbClr val="181A1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Azure Cloud Opportunity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F3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874688" y="3308030"/>
            <a:ext cx="2670195" cy="2670195"/>
          </a:xfrm>
          <a:custGeom>
            <a:avLst/>
            <a:gdLst/>
            <a:ahLst/>
            <a:cxnLst/>
            <a:rect r="r" b="b" t="t" l="l"/>
            <a:pathLst>
              <a:path h="2670195" w="2670195">
                <a:moveTo>
                  <a:pt x="0" y="0"/>
                </a:moveTo>
                <a:lnTo>
                  <a:pt x="2670195" y="0"/>
                </a:lnTo>
                <a:lnTo>
                  <a:pt x="2670195" y="2670194"/>
                </a:lnTo>
                <a:lnTo>
                  <a:pt x="0" y="26701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619104" y="4796592"/>
            <a:ext cx="5049793" cy="4516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957"/>
              </a:lnSpc>
            </a:pPr>
            <a:r>
              <a:rPr lang="en-US" b="true" sz="2198">
                <a:solidFill>
                  <a:srgbClr val="181A1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Demand Prediction via ML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7089999" y="5548890"/>
            <a:ext cx="4075274" cy="10248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791"/>
              </a:lnSpc>
            </a:pPr>
            <a:r>
              <a:rPr lang="en-US" sz="1551">
                <a:solidFill>
                  <a:srgbClr val="181A1A"/>
                </a:solidFill>
                <a:latin typeface="Canva Sans"/>
                <a:ea typeface="Canva Sans"/>
                <a:cs typeface="Canva Sans"/>
                <a:sym typeface="Canva Sans"/>
              </a:rPr>
              <a:t>Leverage machine learning models to forecast EV charging demand patterns and proactively allocate network resources</a:t>
            </a:r>
          </a:p>
        </p:txBody>
      </p:sp>
      <p:sp>
        <p:nvSpPr>
          <p:cNvPr name="Freeform 5" id="5"/>
          <p:cNvSpPr/>
          <p:nvPr/>
        </p:nvSpPr>
        <p:spPr>
          <a:xfrm flipH="true" flipV="true" rot="0">
            <a:off x="2871651" y="4059377"/>
            <a:ext cx="2670195" cy="2670195"/>
          </a:xfrm>
          <a:custGeom>
            <a:avLst/>
            <a:gdLst/>
            <a:ahLst/>
            <a:cxnLst/>
            <a:rect r="r" b="b" t="t" l="l"/>
            <a:pathLst>
              <a:path h="2670195" w="2670195">
                <a:moveTo>
                  <a:pt x="2670194" y="2670195"/>
                </a:moveTo>
                <a:lnTo>
                  <a:pt x="0" y="2670195"/>
                </a:lnTo>
                <a:lnTo>
                  <a:pt x="0" y="0"/>
                </a:lnTo>
                <a:lnTo>
                  <a:pt x="2670194" y="0"/>
                </a:lnTo>
                <a:lnTo>
                  <a:pt x="2670194" y="2670195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10690297" y="3308030"/>
            <a:ext cx="2670195" cy="2670195"/>
          </a:xfrm>
          <a:custGeom>
            <a:avLst/>
            <a:gdLst/>
            <a:ahLst/>
            <a:cxnLst/>
            <a:rect r="r" b="b" t="t" l="l"/>
            <a:pathLst>
              <a:path h="2670195" w="2670195">
                <a:moveTo>
                  <a:pt x="2670195" y="0"/>
                </a:moveTo>
                <a:lnTo>
                  <a:pt x="0" y="0"/>
                </a:lnTo>
                <a:lnTo>
                  <a:pt x="0" y="2670194"/>
                </a:lnTo>
                <a:lnTo>
                  <a:pt x="2670195" y="2670194"/>
                </a:lnTo>
                <a:lnTo>
                  <a:pt x="2670195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true" rot="0">
            <a:off x="12689274" y="4059377"/>
            <a:ext cx="2670195" cy="2670195"/>
          </a:xfrm>
          <a:custGeom>
            <a:avLst/>
            <a:gdLst/>
            <a:ahLst/>
            <a:cxnLst/>
            <a:rect r="r" b="b" t="t" l="l"/>
            <a:pathLst>
              <a:path h="2670195" w="2670195">
                <a:moveTo>
                  <a:pt x="0" y="2670195"/>
                </a:moveTo>
                <a:lnTo>
                  <a:pt x="2670194" y="2670195"/>
                </a:lnTo>
                <a:lnTo>
                  <a:pt x="2670194" y="0"/>
                </a:lnTo>
                <a:lnTo>
                  <a:pt x="0" y="0"/>
                </a:lnTo>
                <a:lnTo>
                  <a:pt x="0" y="2670195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7489745" y="3308030"/>
            <a:ext cx="3290053" cy="658987"/>
          </a:xfrm>
          <a:custGeom>
            <a:avLst/>
            <a:gdLst/>
            <a:ahLst/>
            <a:cxnLst/>
            <a:rect r="r" b="b" t="t" l="l"/>
            <a:pathLst>
              <a:path h="658987" w="3290053">
                <a:moveTo>
                  <a:pt x="0" y="0"/>
                </a:moveTo>
                <a:lnTo>
                  <a:pt x="3290053" y="0"/>
                </a:lnTo>
                <a:lnTo>
                  <a:pt x="3290053" y="658986"/>
                </a:lnTo>
                <a:lnTo>
                  <a:pt x="0" y="65898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5269968" y="6070585"/>
            <a:ext cx="3290053" cy="658987"/>
          </a:xfrm>
          <a:custGeom>
            <a:avLst/>
            <a:gdLst/>
            <a:ahLst/>
            <a:cxnLst/>
            <a:rect r="r" b="b" t="t" l="l"/>
            <a:pathLst>
              <a:path h="658987" w="3290053">
                <a:moveTo>
                  <a:pt x="0" y="0"/>
                </a:moveTo>
                <a:lnTo>
                  <a:pt x="3290053" y="0"/>
                </a:lnTo>
                <a:lnTo>
                  <a:pt x="3290053" y="658987"/>
                </a:lnTo>
                <a:lnTo>
                  <a:pt x="0" y="65898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-378871" y="6070585"/>
            <a:ext cx="3290053" cy="658987"/>
          </a:xfrm>
          <a:custGeom>
            <a:avLst/>
            <a:gdLst/>
            <a:ahLst/>
            <a:cxnLst/>
            <a:rect r="r" b="b" t="t" l="l"/>
            <a:pathLst>
              <a:path h="658987" w="3290053">
                <a:moveTo>
                  <a:pt x="0" y="0"/>
                </a:moveTo>
                <a:lnTo>
                  <a:pt x="3290053" y="0"/>
                </a:lnTo>
                <a:lnTo>
                  <a:pt x="3290053" y="658987"/>
                </a:lnTo>
                <a:lnTo>
                  <a:pt x="0" y="65898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8370069" y="2874460"/>
            <a:ext cx="1547862" cy="1526125"/>
            <a:chOff x="0" y="0"/>
            <a:chExt cx="812800" cy="80137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6050" y="0"/>
              <a:ext cx="800699" cy="800100"/>
            </a:xfrm>
            <a:custGeom>
              <a:avLst/>
              <a:gdLst/>
              <a:ahLst/>
              <a:cxnLst/>
              <a:rect r="r" b="b" t="t" l="l"/>
              <a:pathLst>
                <a:path h="800100" w="800699">
                  <a:moveTo>
                    <a:pt x="537510" y="24130"/>
                  </a:moveTo>
                  <a:lnTo>
                    <a:pt x="537510" y="24130"/>
                  </a:lnTo>
                  <a:cubicBezTo>
                    <a:pt x="581206" y="40096"/>
                    <a:pt x="621807" y="63510"/>
                    <a:pt x="657512" y="93334"/>
                  </a:cubicBezTo>
                  <a:lnTo>
                    <a:pt x="657525" y="93345"/>
                  </a:lnTo>
                  <a:cubicBezTo>
                    <a:pt x="693229" y="123169"/>
                    <a:pt x="723403" y="159047"/>
                    <a:pt x="746662" y="199336"/>
                  </a:cubicBezTo>
                  <a:lnTo>
                    <a:pt x="747492" y="200773"/>
                  </a:lnTo>
                  <a:cubicBezTo>
                    <a:pt x="770729" y="241024"/>
                    <a:pt x="786704" y="285049"/>
                    <a:pt x="794685" y="330835"/>
                  </a:cubicBezTo>
                  <a:lnTo>
                    <a:pt x="794685" y="330835"/>
                  </a:lnTo>
                  <a:cubicBezTo>
                    <a:pt x="802669" y="376636"/>
                    <a:pt x="802705" y="423470"/>
                    <a:pt x="794791" y="469283"/>
                  </a:cubicBezTo>
                  <a:lnTo>
                    <a:pt x="794632" y="470206"/>
                  </a:lnTo>
                  <a:cubicBezTo>
                    <a:pt x="786688" y="516197"/>
                    <a:pt x="770577" y="560395"/>
                    <a:pt x="747060" y="600710"/>
                  </a:cubicBezTo>
                  <a:lnTo>
                    <a:pt x="746936" y="600923"/>
                  </a:lnTo>
                  <a:cubicBezTo>
                    <a:pt x="723490" y="641115"/>
                    <a:pt x="693236" y="676925"/>
                    <a:pt x="657525" y="706755"/>
                  </a:cubicBezTo>
                  <a:lnTo>
                    <a:pt x="657512" y="706766"/>
                  </a:lnTo>
                  <a:cubicBezTo>
                    <a:pt x="621807" y="736590"/>
                    <a:pt x="581206" y="760004"/>
                    <a:pt x="537510" y="775970"/>
                  </a:cubicBezTo>
                  <a:lnTo>
                    <a:pt x="537510" y="775970"/>
                  </a:lnTo>
                  <a:cubicBezTo>
                    <a:pt x="493823" y="791933"/>
                    <a:pt x="447672" y="800100"/>
                    <a:pt x="401160" y="800100"/>
                  </a:cubicBezTo>
                  <a:lnTo>
                    <a:pt x="399540" y="800100"/>
                  </a:lnTo>
                  <a:cubicBezTo>
                    <a:pt x="353028" y="800100"/>
                    <a:pt x="306877" y="791933"/>
                    <a:pt x="263190" y="775970"/>
                  </a:cubicBezTo>
                  <a:lnTo>
                    <a:pt x="263190" y="775970"/>
                  </a:lnTo>
                  <a:cubicBezTo>
                    <a:pt x="219494" y="760004"/>
                    <a:pt x="178893" y="736590"/>
                    <a:pt x="143188" y="706766"/>
                  </a:cubicBezTo>
                  <a:lnTo>
                    <a:pt x="143175" y="706755"/>
                  </a:lnTo>
                  <a:cubicBezTo>
                    <a:pt x="107464" y="676925"/>
                    <a:pt x="77210" y="641115"/>
                    <a:pt x="53764" y="600923"/>
                  </a:cubicBezTo>
                  <a:lnTo>
                    <a:pt x="53640" y="600710"/>
                  </a:lnTo>
                  <a:cubicBezTo>
                    <a:pt x="30123" y="560395"/>
                    <a:pt x="14012" y="516197"/>
                    <a:pt x="6068" y="470206"/>
                  </a:cubicBezTo>
                  <a:lnTo>
                    <a:pt x="5909" y="469283"/>
                  </a:lnTo>
                  <a:cubicBezTo>
                    <a:pt x="-2005" y="423470"/>
                    <a:pt x="-1969" y="376636"/>
                    <a:pt x="6015" y="330835"/>
                  </a:cubicBezTo>
                  <a:lnTo>
                    <a:pt x="6015" y="330835"/>
                  </a:lnTo>
                  <a:cubicBezTo>
                    <a:pt x="13996" y="285049"/>
                    <a:pt x="29971" y="241024"/>
                    <a:pt x="53208" y="200773"/>
                  </a:cubicBezTo>
                  <a:lnTo>
                    <a:pt x="54038" y="199336"/>
                  </a:lnTo>
                  <a:cubicBezTo>
                    <a:pt x="77297" y="159047"/>
                    <a:pt x="107471" y="123169"/>
                    <a:pt x="143175" y="93345"/>
                  </a:cubicBezTo>
                  <a:lnTo>
                    <a:pt x="143188" y="93334"/>
                  </a:lnTo>
                  <a:cubicBezTo>
                    <a:pt x="178893" y="63510"/>
                    <a:pt x="219494" y="40096"/>
                    <a:pt x="263190" y="24130"/>
                  </a:cubicBezTo>
                  <a:lnTo>
                    <a:pt x="263190" y="24130"/>
                  </a:lnTo>
                  <a:cubicBezTo>
                    <a:pt x="306877" y="8167"/>
                    <a:pt x="353028" y="0"/>
                    <a:pt x="399540" y="0"/>
                  </a:cubicBezTo>
                  <a:lnTo>
                    <a:pt x="401160" y="0"/>
                  </a:lnTo>
                  <a:cubicBezTo>
                    <a:pt x="447672" y="0"/>
                    <a:pt x="493823" y="8167"/>
                    <a:pt x="537510" y="24130"/>
                  </a:cubicBezTo>
                  <a:close/>
                </a:path>
              </a:pathLst>
            </a:custGeom>
            <a:solidFill>
              <a:srgbClr val="B3D3D9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122142" y="115968"/>
              <a:ext cx="568517" cy="5683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4374867" y="5634615"/>
            <a:ext cx="1547862" cy="1526125"/>
            <a:chOff x="0" y="0"/>
            <a:chExt cx="812800" cy="80137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6050" y="0"/>
              <a:ext cx="800699" cy="800100"/>
            </a:xfrm>
            <a:custGeom>
              <a:avLst/>
              <a:gdLst/>
              <a:ahLst/>
              <a:cxnLst/>
              <a:rect r="r" b="b" t="t" l="l"/>
              <a:pathLst>
                <a:path h="800100" w="800699">
                  <a:moveTo>
                    <a:pt x="537510" y="24130"/>
                  </a:moveTo>
                  <a:lnTo>
                    <a:pt x="537510" y="24130"/>
                  </a:lnTo>
                  <a:cubicBezTo>
                    <a:pt x="581206" y="40096"/>
                    <a:pt x="621807" y="63510"/>
                    <a:pt x="657512" y="93334"/>
                  </a:cubicBezTo>
                  <a:lnTo>
                    <a:pt x="657525" y="93345"/>
                  </a:lnTo>
                  <a:cubicBezTo>
                    <a:pt x="693229" y="123169"/>
                    <a:pt x="723403" y="159047"/>
                    <a:pt x="746662" y="199336"/>
                  </a:cubicBezTo>
                  <a:lnTo>
                    <a:pt x="747492" y="200773"/>
                  </a:lnTo>
                  <a:cubicBezTo>
                    <a:pt x="770729" y="241024"/>
                    <a:pt x="786704" y="285049"/>
                    <a:pt x="794685" y="330835"/>
                  </a:cubicBezTo>
                  <a:lnTo>
                    <a:pt x="794685" y="330835"/>
                  </a:lnTo>
                  <a:cubicBezTo>
                    <a:pt x="802669" y="376636"/>
                    <a:pt x="802705" y="423470"/>
                    <a:pt x="794791" y="469283"/>
                  </a:cubicBezTo>
                  <a:lnTo>
                    <a:pt x="794632" y="470206"/>
                  </a:lnTo>
                  <a:cubicBezTo>
                    <a:pt x="786688" y="516197"/>
                    <a:pt x="770577" y="560395"/>
                    <a:pt x="747060" y="600710"/>
                  </a:cubicBezTo>
                  <a:lnTo>
                    <a:pt x="746936" y="600923"/>
                  </a:lnTo>
                  <a:cubicBezTo>
                    <a:pt x="723490" y="641115"/>
                    <a:pt x="693236" y="676925"/>
                    <a:pt x="657525" y="706755"/>
                  </a:cubicBezTo>
                  <a:lnTo>
                    <a:pt x="657512" y="706766"/>
                  </a:lnTo>
                  <a:cubicBezTo>
                    <a:pt x="621807" y="736590"/>
                    <a:pt x="581206" y="760004"/>
                    <a:pt x="537510" y="775970"/>
                  </a:cubicBezTo>
                  <a:lnTo>
                    <a:pt x="537510" y="775970"/>
                  </a:lnTo>
                  <a:cubicBezTo>
                    <a:pt x="493823" y="791933"/>
                    <a:pt x="447672" y="800100"/>
                    <a:pt x="401160" y="800100"/>
                  </a:cubicBezTo>
                  <a:lnTo>
                    <a:pt x="399540" y="800100"/>
                  </a:lnTo>
                  <a:cubicBezTo>
                    <a:pt x="353028" y="800100"/>
                    <a:pt x="306877" y="791933"/>
                    <a:pt x="263190" y="775970"/>
                  </a:cubicBezTo>
                  <a:lnTo>
                    <a:pt x="263190" y="775970"/>
                  </a:lnTo>
                  <a:cubicBezTo>
                    <a:pt x="219494" y="760004"/>
                    <a:pt x="178893" y="736590"/>
                    <a:pt x="143188" y="706766"/>
                  </a:cubicBezTo>
                  <a:lnTo>
                    <a:pt x="143175" y="706755"/>
                  </a:lnTo>
                  <a:cubicBezTo>
                    <a:pt x="107464" y="676925"/>
                    <a:pt x="77210" y="641115"/>
                    <a:pt x="53764" y="600923"/>
                  </a:cubicBezTo>
                  <a:lnTo>
                    <a:pt x="53640" y="600710"/>
                  </a:lnTo>
                  <a:cubicBezTo>
                    <a:pt x="30123" y="560395"/>
                    <a:pt x="14012" y="516197"/>
                    <a:pt x="6068" y="470206"/>
                  </a:cubicBezTo>
                  <a:lnTo>
                    <a:pt x="5909" y="469283"/>
                  </a:lnTo>
                  <a:cubicBezTo>
                    <a:pt x="-2005" y="423470"/>
                    <a:pt x="-1969" y="376636"/>
                    <a:pt x="6015" y="330835"/>
                  </a:cubicBezTo>
                  <a:lnTo>
                    <a:pt x="6015" y="330835"/>
                  </a:lnTo>
                  <a:cubicBezTo>
                    <a:pt x="13996" y="285049"/>
                    <a:pt x="29971" y="241024"/>
                    <a:pt x="53208" y="200773"/>
                  </a:cubicBezTo>
                  <a:lnTo>
                    <a:pt x="54038" y="199336"/>
                  </a:lnTo>
                  <a:cubicBezTo>
                    <a:pt x="77297" y="159047"/>
                    <a:pt x="107471" y="123169"/>
                    <a:pt x="143175" y="93345"/>
                  </a:cubicBezTo>
                  <a:lnTo>
                    <a:pt x="143188" y="93334"/>
                  </a:lnTo>
                  <a:cubicBezTo>
                    <a:pt x="178893" y="63510"/>
                    <a:pt x="219494" y="40096"/>
                    <a:pt x="263190" y="24130"/>
                  </a:cubicBezTo>
                  <a:lnTo>
                    <a:pt x="263190" y="24130"/>
                  </a:lnTo>
                  <a:cubicBezTo>
                    <a:pt x="306877" y="8167"/>
                    <a:pt x="353028" y="0"/>
                    <a:pt x="399540" y="0"/>
                  </a:cubicBezTo>
                  <a:lnTo>
                    <a:pt x="401160" y="0"/>
                  </a:lnTo>
                  <a:cubicBezTo>
                    <a:pt x="447672" y="0"/>
                    <a:pt x="493823" y="8167"/>
                    <a:pt x="537510" y="24130"/>
                  </a:cubicBezTo>
                  <a:close/>
                </a:path>
              </a:pathLst>
            </a:custGeom>
            <a:solidFill>
              <a:srgbClr val="004F5E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122142" y="115968"/>
              <a:ext cx="568517" cy="5683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2137250" y="5548054"/>
            <a:ext cx="1547862" cy="1526125"/>
            <a:chOff x="0" y="0"/>
            <a:chExt cx="812800" cy="80137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6050" y="0"/>
              <a:ext cx="800699" cy="800100"/>
            </a:xfrm>
            <a:custGeom>
              <a:avLst/>
              <a:gdLst/>
              <a:ahLst/>
              <a:cxnLst/>
              <a:rect r="r" b="b" t="t" l="l"/>
              <a:pathLst>
                <a:path h="800100" w="800699">
                  <a:moveTo>
                    <a:pt x="537510" y="24130"/>
                  </a:moveTo>
                  <a:lnTo>
                    <a:pt x="537510" y="24130"/>
                  </a:lnTo>
                  <a:cubicBezTo>
                    <a:pt x="581206" y="40096"/>
                    <a:pt x="621807" y="63510"/>
                    <a:pt x="657512" y="93334"/>
                  </a:cubicBezTo>
                  <a:lnTo>
                    <a:pt x="657525" y="93345"/>
                  </a:lnTo>
                  <a:cubicBezTo>
                    <a:pt x="693229" y="123169"/>
                    <a:pt x="723403" y="159047"/>
                    <a:pt x="746662" y="199336"/>
                  </a:cubicBezTo>
                  <a:lnTo>
                    <a:pt x="747492" y="200773"/>
                  </a:lnTo>
                  <a:cubicBezTo>
                    <a:pt x="770729" y="241024"/>
                    <a:pt x="786704" y="285049"/>
                    <a:pt x="794685" y="330835"/>
                  </a:cubicBezTo>
                  <a:lnTo>
                    <a:pt x="794685" y="330835"/>
                  </a:lnTo>
                  <a:cubicBezTo>
                    <a:pt x="802669" y="376636"/>
                    <a:pt x="802705" y="423470"/>
                    <a:pt x="794791" y="469283"/>
                  </a:cubicBezTo>
                  <a:lnTo>
                    <a:pt x="794632" y="470206"/>
                  </a:lnTo>
                  <a:cubicBezTo>
                    <a:pt x="786688" y="516197"/>
                    <a:pt x="770577" y="560395"/>
                    <a:pt x="747060" y="600710"/>
                  </a:cubicBezTo>
                  <a:lnTo>
                    <a:pt x="746936" y="600923"/>
                  </a:lnTo>
                  <a:cubicBezTo>
                    <a:pt x="723490" y="641115"/>
                    <a:pt x="693236" y="676925"/>
                    <a:pt x="657525" y="706755"/>
                  </a:cubicBezTo>
                  <a:lnTo>
                    <a:pt x="657512" y="706766"/>
                  </a:lnTo>
                  <a:cubicBezTo>
                    <a:pt x="621807" y="736590"/>
                    <a:pt x="581206" y="760004"/>
                    <a:pt x="537510" y="775970"/>
                  </a:cubicBezTo>
                  <a:lnTo>
                    <a:pt x="537510" y="775970"/>
                  </a:lnTo>
                  <a:cubicBezTo>
                    <a:pt x="493823" y="791933"/>
                    <a:pt x="447672" y="800100"/>
                    <a:pt x="401160" y="800100"/>
                  </a:cubicBezTo>
                  <a:lnTo>
                    <a:pt x="399540" y="800100"/>
                  </a:lnTo>
                  <a:cubicBezTo>
                    <a:pt x="353028" y="800100"/>
                    <a:pt x="306877" y="791933"/>
                    <a:pt x="263190" y="775970"/>
                  </a:cubicBezTo>
                  <a:lnTo>
                    <a:pt x="263190" y="775970"/>
                  </a:lnTo>
                  <a:cubicBezTo>
                    <a:pt x="219494" y="760004"/>
                    <a:pt x="178893" y="736590"/>
                    <a:pt x="143188" y="706766"/>
                  </a:cubicBezTo>
                  <a:lnTo>
                    <a:pt x="143175" y="706755"/>
                  </a:lnTo>
                  <a:cubicBezTo>
                    <a:pt x="107464" y="676925"/>
                    <a:pt x="77210" y="641115"/>
                    <a:pt x="53764" y="600923"/>
                  </a:cubicBezTo>
                  <a:lnTo>
                    <a:pt x="53640" y="600710"/>
                  </a:lnTo>
                  <a:cubicBezTo>
                    <a:pt x="30123" y="560395"/>
                    <a:pt x="14012" y="516197"/>
                    <a:pt x="6068" y="470206"/>
                  </a:cubicBezTo>
                  <a:lnTo>
                    <a:pt x="5909" y="469283"/>
                  </a:lnTo>
                  <a:cubicBezTo>
                    <a:pt x="-2005" y="423470"/>
                    <a:pt x="-1969" y="376636"/>
                    <a:pt x="6015" y="330835"/>
                  </a:cubicBezTo>
                  <a:lnTo>
                    <a:pt x="6015" y="330835"/>
                  </a:lnTo>
                  <a:cubicBezTo>
                    <a:pt x="13996" y="285049"/>
                    <a:pt x="29971" y="241024"/>
                    <a:pt x="53208" y="200773"/>
                  </a:cubicBezTo>
                  <a:lnTo>
                    <a:pt x="54038" y="199336"/>
                  </a:lnTo>
                  <a:cubicBezTo>
                    <a:pt x="77297" y="159047"/>
                    <a:pt x="107471" y="123169"/>
                    <a:pt x="143175" y="93345"/>
                  </a:cubicBezTo>
                  <a:lnTo>
                    <a:pt x="143188" y="93334"/>
                  </a:lnTo>
                  <a:cubicBezTo>
                    <a:pt x="178893" y="63510"/>
                    <a:pt x="219494" y="40096"/>
                    <a:pt x="263190" y="24130"/>
                  </a:cubicBezTo>
                  <a:lnTo>
                    <a:pt x="263190" y="24130"/>
                  </a:lnTo>
                  <a:cubicBezTo>
                    <a:pt x="306877" y="8167"/>
                    <a:pt x="353028" y="0"/>
                    <a:pt x="399540" y="0"/>
                  </a:cubicBezTo>
                  <a:lnTo>
                    <a:pt x="401160" y="0"/>
                  </a:lnTo>
                  <a:cubicBezTo>
                    <a:pt x="447672" y="0"/>
                    <a:pt x="493823" y="8167"/>
                    <a:pt x="537510" y="24130"/>
                  </a:cubicBezTo>
                  <a:close/>
                </a:path>
              </a:pathLst>
            </a:custGeom>
            <a:solidFill>
              <a:srgbClr val="004F5E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122142" y="115968"/>
              <a:ext cx="568517" cy="5683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8849107" y="3312963"/>
            <a:ext cx="630531" cy="644639"/>
          </a:xfrm>
          <a:custGeom>
            <a:avLst/>
            <a:gdLst/>
            <a:ahLst/>
            <a:cxnLst/>
            <a:rect r="r" b="b" t="t" l="l"/>
            <a:pathLst>
              <a:path h="644639" w="630531">
                <a:moveTo>
                  <a:pt x="0" y="0"/>
                </a:moveTo>
                <a:lnTo>
                  <a:pt x="630530" y="0"/>
                </a:lnTo>
                <a:lnTo>
                  <a:pt x="630530" y="644639"/>
                </a:lnTo>
                <a:lnTo>
                  <a:pt x="0" y="64463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14763394" y="6114283"/>
            <a:ext cx="772894" cy="768917"/>
          </a:xfrm>
          <a:custGeom>
            <a:avLst/>
            <a:gdLst/>
            <a:ahLst/>
            <a:cxnLst/>
            <a:rect r="r" b="b" t="t" l="l"/>
            <a:pathLst>
              <a:path h="768917" w="772894">
                <a:moveTo>
                  <a:pt x="0" y="0"/>
                </a:moveTo>
                <a:lnTo>
                  <a:pt x="772894" y="0"/>
                </a:lnTo>
                <a:lnTo>
                  <a:pt x="772894" y="768916"/>
                </a:lnTo>
                <a:lnTo>
                  <a:pt x="0" y="76891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2567085" y="5956911"/>
            <a:ext cx="684851" cy="703627"/>
          </a:xfrm>
          <a:custGeom>
            <a:avLst/>
            <a:gdLst/>
            <a:ahLst/>
            <a:cxnLst/>
            <a:rect r="r" b="b" t="t" l="l"/>
            <a:pathLst>
              <a:path h="703627" w="684851">
                <a:moveTo>
                  <a:pt x="0" y="0"/>
                </a:moveTo>
                <a:lnTo>
                  <a:pt x="684850" y="0"/>
                </a:lnTo>
                <a:lnTo>
                  <a:pt x="684850" y="703627"/>
                </a:lnTo>
                <a:lnTo>
                  <a:pt x="0" y="70362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6584009" y="8372433"/>
            <a:ext cx="5119982" cy="744725"/>
          </a:xfrm>
          <a:custGeom>
            <a:avLst/>
            <a:gdLst/>
            <a:ahLst/>
            <a:cxnLst/>
            <a:rect r="r" b="b" t="t" l="l"/>
            <a:pathLst>
              <a:path h="744725" w="5119982">
                <a:moveTo>
                  <a:pt x="0" y="0"/>
                </a:moveTo>
                <a:lnTo>
                  <a:pt x="5119982" y="0"/>
                </a:lnTo>
                <a:lnTo>
                  <a:pt x="5119982" y="744725"/>
                </a:lnTo>
                <a:lnTo>
                  <a:pt x="0" y="744725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861484" y="1242702"/>
            <a:ext cx="3400425" cy="3400425"/>
          </a:xfrm>
          <a:custGeom>
            <a:avLst/>
            <a:gdLst/>
            <a:ahLst/>
            <a:cxnLst/>
            <a:rect r="r" b="b" t="t" l="l"/>
            <a:pathLst>
              <a:path h="3400425" w="3400425">
                <a:moveTo>
                  <a:pt x="0" y="0"/>
                </a:moveTo>
                <a:lnTo>
                  <a:pt x="3400425" y="0"/>
                </a:lnTo>
                <a:lnTo>
                  <a:pt x="3400425" y="3400425"/>
                </a:lnTo>
                <a:lnTo>
                  <a:pt x="0" y="3400425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0">
            <a:off x="492053" y="7321830"/>
            <a:ext cx="5049793" cy="4516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957"/>
              </a:lnSpc>
            </a:pPr>
            <a:r>
              <a:rPr lang="en-US" b="true" sz="2198">
                <a:solidFill>
                  <a:srgbClr val="181A1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Optimize Station Utilization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735682" y="8049471"/>
            <a:ext cx="4562534" cy="10248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791"/>
              </a:lnSpc>
            </a:pPr>
            <a:r>
              <a:rPr lang="en-US" sz="1551">
                <a:solidFill>
                  <a:srgbClr val="181A1A"/>
                </a:solidFill>
                <a:latin typeface="Canva Sans"/>
                <a:ea typeface="Canva Sans"/>
                <a:cs typeface="Canva Sans"/>
                <a:sym typeface="Canva Sans"/>
              </a:rPr>
              <a:t>Maximize throughput and minimize idle time across all charging stations using intelligent scheduling and Azure-powered analytics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2623902" y="7322103"/>
            <a:ext cx="5049793" cy="4516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957"/>
              </a:lnSpc>
            </a:pPr>
            <a:r>
              <a:rPr lang="en-US" b="true" sz="2198">
                <a:solidFill>
                  <a:srgbClr val="181A1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Real-Time Load Balancing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2724124" y="8049471"/>
            <a:ext cx="4849348" cy="10248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791"/>
              </a:lnSpc>
            </a:pPr>
            <a:r>
              <a:rPr lang="en-US" sz="1551">
                <a:solidFill>
                  <a:srgbClr val="181A1A"/>
                </a:solidFill>
                <a:latin typeface="Canva Sans"/>
                <a:ea typeface="Canva Sans"/>
                <a:cs typeface="Canva Sans"/>
                <a:sym typeface="Canva Sans"/>
              </a:rPr>
              <a:t>Enable dynamic load distribution across the EV charging network to prevent overload and ensure seamless power delivery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2781357" y="1784030"/>
            <a:ext cx="12692560" cy="809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418"/>
              </a:lnSpc>
            </a:pPr>
            <a:r>
              <a:rPr lang="en-US" b="true" sz="5349">
                <a:solidFill>
                  <a:srgbClr val="181A1A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Project Objectives</a:t>
            </a:r>
          </a:p>
        </p:txBody>
      </p:sp>
      <p:sp>
        <p:nvSpPr>
          <p:cNvPr name="Freeform 30" id="30"/>
          <p:cNvSpPr/>
          <p:nvPr/>
        </p:nvSpPr>
        <p:spPr>
          <a:xfrm flipH="true" flipV="false" rot="0">
            <a:off x="13970092" y="1476907"/>
            <a:ext cx="3400425" cy="3400425"/>
          </a:xfrm>
          <a:custGeom>
            <a:avLst/>
            <a:gdLst/>
            <a:ahLst/>
            <a:cxnLst/>
            <a:rect r="r" b="b" t="t" l="l"/>
            <a:pathLst>
              <a:path h="3400425" w="3400425">
                <a:moveTo>
                  <a:pt x="3400425" y="0"/>
                </a:moveTo>
                <a:lnTo>
                  <a:pt x="0" y="0"/>
                </a:lnTo>
                <a:lnTo>
                  <a:pt x="0" y="3400425"/>
                </a:lnTo>
                <a:lnTo>
                  <a:pt x="3400425" y="3400425"/>
                </a:lnTo>
                <a:lnTo>
                  <a:pt x="3400425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F3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5495123" y="4398483"/>
            <a:ext cx="4835744" cy="4835744"/>
          </a:xfrm>
          <a:custGeom>
            <a:avLst/>
            <a:gdLst/>
            <a:ahLst/>
            <a:cxnLst/>
            <a:rect r="r" b="b" t="t" l="l"/>
            <a:pathLst>
              <a:path h="4835744" w="4835744">
                <a:moveTo>
                  <a:pt x="4835744" y="4835744"/>
                </a:moveTo>
                <a:lnTo>
                  <a:pt x="0" y="4835744"/>
                </a:lnTo>
                <a:lnTo>
                  <a:pt x="0" y="0"/>
                </a:lnTo>
                <a:lnTo>
                  <a:pt x="4835744" y="0"/>
                </a:lnTo>
                <a:lnTo>
                  <a:pt x="4835744" y="4835744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400000">
            <a:off x="6689043" y="2222032"/>
            <a:ext cx="6068205" cy="1215442"/>
          </a:xfrm>
          <a:custGeom>
            <a:avLst/>
            <a:gdLst/>
            <a:ahLst/>
            <a:cxnLst/>
            <a:rect r="r" b="b" t="t" l="l"/>
            <a:pathLst>
              <a:path h="1215442" w="6068205">
                <a:moveTo>
                  <a:pt x="0" y="0"/>
                </a:moveTo>
                <a:lnTo>
                  <a:pt x="6068206" y="0"/>
                </a:lnTo>
                <a:lnTo>
                  <a:pt x="6068206" y="1215442"/>
                </a:lnTo>
                <a:lnTo>
                  <a:pt x="0" y="121544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515933" y="8014984"/>
            <a:ext cx="6039630" cy="1209718"/>
          </a:xfrm>
          <a:custGeom>
            <a:avLst/>
            <a:gdLst/>
            <a:ahLst/>
            <a:cxnLst/>
            <a:rect r="r" b="b" t="t" l="l"/>
            <a:pathLst>
              <a:path h="1209718" w="6039630">
                <a:moveTo>
                  <a:pt x="0" y="0"/>
                </a:moveTo>
                <a:lnTo>
                  <a:pt x="6039631" y="0"/>
                </a:lnTo>
                <a:lnTo>
                  <a:pt x="6039631" y="1209718"/>
                </a:lnTo>
                <a:lnTo>
                  <a:pt x="0" y="120971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679622" y="3099567"/>
            <a:ext cx="4826594" cy="2171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755"/>
              </a:lnSpc>
            </a:pPr>
            <a:r>
              <a:rPr lang="en-US" b="true" sz="4796">
                <a:solidFill>
                  <a:srgbClr val="181A1A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Technical</a:t>
            </a:r>
          </a:p>
          <a:p>
            <a:pPr algn="l" marL="0" indent="0" lvl="0">
              <a:lnSpc>
                <a:spcPts val="5755"/>
              </a:lnSpc>
            </a:pPr>
            <a:r>
              <a:rPr lang="en-US" b="true" sz="4796">
                <a:solidFill>
                  <a:srgbClr val="181A1A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Scope</a:t>
            </a:r>
          </a:p>
          <a:p>
            <a:pPr algn="l" marL="0" indent="0" lvl="0">
              <a:lnSpc>
                <a:spcPts val="5755"/>
              </a:lnSpc>
            </a:pPr>
            <a:r>
              <a:rPr lang="en-US" b="true" sz="4796">
                <a:solidFill>
                  <a:srgbClr val="181A1A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Definition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2235824" y="3385332"/>
            <a:ext cx="5023476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18"/>
              </a:lnSpc>
            </a:pPr>
            <a:r>
              <a:rPr lang="en-US" b="true" sz="2098">
                <a:solidFill>
                  <a:srgbClr val="181A1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ML Prediction Models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235824" y="4033032"/>
            <a:ext cx="5452528" cy="9223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12"/>
              </a:lnSpc>
            </a:pPr>
            <a:r>
              <a:rPr lang="en-US" sz="1395">
                <a:solidFill>
                  <a:srgbClr val="181A1A"/>
                </a:solidFill>
                <a:latin typeface="Canva Sans"/>
                <a:ea typeface="Canva Sans"/>
                <a:cs typeface="Canva Sans"/>
                <a:sym typeface="Canva Sans"/>
              </a:rPr>
              <a:t>Demand forecasting and energy optimization algorithms using Azure Machine Learning, trained on real-world EV charging datasets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235824" y="1398375"/>
            <a:ext cx="4410790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18"/>
              </a:lnSpc>
            </a:pPr>
            <a:r>
              <a:rPr lang="en-US" b="true" sz="2098">
                <a:solidFill>
                  <a:srgbClr val="181A1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Azure Cloud Architecture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235824" y="2041313"/>
            <a:ext cx="5452528" cy="9223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12"/>
              </a:lnSpc>
            </a:pPr>
            <a:r>
              <a:rPr lang="en-US" sz="1395">
                <a:solidFill>
                  <a:srgbClr val="181A1A"/>
                </a:solidFill>
                <a:latin typeface="Canva Sans"/>
                <a:ea typeface="Canva Sans"/>
                <a:cs typeface="Canva Sans"/>
                <a:sym typeface="Canva Sans"/>
              </a:rPr>
              <a:t>End-to-end cloud infrastructure on Microsoft Azure including IoT Hub, Azure Stream Analytics, and scalable microservices deployment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235824" y="5572020"/>
            <a:ext cx="4410790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18"/>
              </a:lnSpc>
            </a:pPr>
            <a:r>
              <a:rPr lang="en-US" b="true" sz="2098">
                <a:solidFill>
                  <a:srgbClr val="181A1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Real-Time Optimization Engine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235824" y="7596783"/>
            <a:ext cx="4410790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18"/>
              </a:lnSpc>
            </a:pPr>
            <a:r>
              <a:rPr lang="en-US" b="true" sz="2098">
                <a:solidFill>
                  <a:srgbClr val="181A1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User-Facing Dashboard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235824" y="6219720"/>
            <a:ext cx="5452528" cy="6080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12"/>
              </a:lnSpc>
            </a:pPr>
            <a:r>
              <a:rPr lang="en-US" sz="1395">
                <a:solidFill>
                  <a:srgbClr val="181A1A"/>
                </a:solidFill>
                <a:latin typeface="Canva Sans"/>
                <a:ea typeface="Canva Sans"/>
                <a:cs typeface="Canva Sans"/>
                <a:sym typeface="Canva Sans"/>
              </a:rPr>
              <a:t>Dynamic load balancing and intelligent slot allocation engine processing live data streams with sub-second response latency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235824" y="8244483"/>
            <a:ext cx="5452528" cy="9223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12"/>
              </a:lnSpc>
            </a:pPr>
            <a:r>
              <a:rPr lang="en-US" sz="1395">
                <a:solidFill>
                  <a:srgbClr val="181A1A"/>
                </a:solidFill>
                <a:latin typeface="Canva Sans"/>
                <a:ea typeface="Canva Sans"/>
                <a:cs typeface="Canva Sans"/>
                <a:sym typeface="Canva Sans"/>
              </a:rPr>
              <a:t>Interactive Power BI and React-based dashboard providing real-time station monitoring, analytics, and EV driver mobile interface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10902597" y="1274802"/>
            <a:ext cx="694821" cy="694821"/>
          </a:xfrm>
          <a:custGeom>
            <a:avLst/>
            <a:gdLst/>
            <a:ahLst/>
            <a:cxnLst/>
            <a:rect r="r" b="b" t="t" l="l"/>
            <a:pathLst>
              <a:path h="694821" w="694821">
                <a:moveTo>
                  <a:pt x="0" y="0"/>
                </a:moveTo>
                <a:lnTo>
                  <a:pt x="694821" y="0"/>
                </a:lnTo>
                <a:lnTo>
                  <a:pt x="694821" y="694821"/>
                </a:lnTo>
                <a:lnTo>
                  <a:pt x="0" y="69482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0902597" y="3294803"/>
            <a:ext cx="694821" cy="694821"/>
          </a:xfrm>
          <a:custGeom>
            <a:avLst/>
            <a:gdLst/>
            <a:ahLst/>
            <a:cxnLst/>
            <a:rect r="r" b="b" t="t" l="l"/>
            <a:pathLst>
              <a:path h="694821" w="694821">
                <a:moveTo>
                  <a:pt x="0" y="0"/>
                </a:moveTo>
                <a:lnTo>
                  <a:pt x="694821" y="0"/>
                </a:lnTo>
                <a:lnTo>
                  <a:pt x="694821" y="694821"/>
                </a:lnTo>
                <a:lnTo>
                  <a:pt x="0" y="69482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0902597" y="5448447"/>
            <a:ext cx="694821" cy="694821"/>
          </a:xfrm>
          <a:custGeom>
            <a:avLst/>
            <a:gdLst/>
            <a:ahLst/>
            <a:cxnLst/>
            <a:rect r="r" b="b" t="t" l="l"/>
            <a:pathLst>
              <a:path h="694821" w="694821">
                <a:moveTo>
                  <a:pt x="0" y="0"/>
                </a:moveTo>
                <a:lnTo>
                  <a:pt x="694821" y="0"/>
                </a:lnTo>
                <a:lnTo>
                  <a:pt x="694821" y="694821"/>
                </a:lnTo>
                <a:lnTo>
                  <a:pt x="0" y="69482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0902597" y="7473210"/>
            <a:ext cx="694821" cy="694821"/>
          </a:xfrm>
          <a:custGeom>
            <a:avLst/>
            <a:gdLst/>
            <a:ahLst/>
            <a:cxnLst/>
            <a:rect r="r" b="b" t="t" l="l"/>
            <a:pathLst>
              <a:path h="694821" w="694821">
                <a:moveTo>
                  <a:pt x="0" y="0"/>
                </a:moveTo>
                <a:lnTo>
                  <a:pt x="694821" y="0"/>
                </a:lnTo>
                <a:lnTo>
                  <a:pt x="694821" y="694821"/>
                </a:lnTo>
                <a:lnTo>
                  <a:pt x="0" y="69482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-1935021" y="-528203"/>
            <a:ext cx="4438904" cy="1556903"/>
          </a:xfrm>
          <a:custGeom>
            <a:avLst/>
            <a:gdLst/>
            <a:ahLst/>
            <a:cxnLst/>
            <a:rect r="r" b="b" t="t" l="l"/>
            <a:pathLst>
              <a:path h="1556903" w="4438904">
                <a:moveTo>
                  <a:pt x="0" y="0"/>
                </a:moveTo>
                <a:lnTo>
                  <a:pt x="4438903" y="0"/>
                </a:lnTo>
                <a:lnTo>
                  <a:pt x="4438903" y="1556903"/>
                </a:lnTo>
                <a:lnTo>
                  <a:pt x="0" y="155690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4337332" y="6143268"/>
            <a:ext cx="4438904" cy="1556903"/>
          </a:xfrm>
          <a:custGeom>
            <a:avLst/>
            <a:gdLst/>
            <a:ahLst/>
            <a:cxnLst/>
            <a:rect r="r" b="b" t="t" l="l"/>
            <a:pathLst>
              <a:path h="1556903" w="4438904">
                <a:moveTo>
                  <a:pt x="0" y="0"/>
                </a:moveTo>
                <a:lnTo>
                  <a:pt x="4438904" y="0"/>
                </a:lnTo>
                <a:lnTo>
                  <a:pt x="4438904" y="1556903"/>
                </a:lnTo>
                <a:lnTo>
                  <a:pt x="0" y="155690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F3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5400000">
            <a:off x="6017211" y="5791601"/>
            <a:ext cx="4308443" cy="3445476"/>
          </a:xfrm>
          <a:custGeom>
            <a:avLst/>
            <a:gdLst/>
            <a:ahLst/>
            <a:cxnLst/>
            <a:rect r="r" b="b" t="t" l="l"/>
            <a:pathLst>
              <a:path h="3445476" w="4308443">
                <a:moveTo>
                  <a:pt x="0" y="3445476"/>
                </a:moveTo>
                <a:lnTo>
                  <a:pt x="4308443" y="3445476"/>
                </a:lnTo>
                <a:lnTo>
                  <a:pt x="4308443" y="0"/>
                </a:lnTo>
                <a:lnTo>
                  <a:pt x="0" y="0"/>
                </a:lnTo>
                <a:lnTo>
                  <a:pt x="0" y="344547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5400000">
            <a:off x="4730097" y="2857176"/>
            <a:ext cx="4298088" cy="860893"/>
          </a:xfrm>
          <a:custGeom>
            <a:avLst/>
            <a:gdLst/>
            <a:ahLst/>
            <a:cxnLst/>
            <a:rect r="r" b="b" t="t" l="l"/>
            <a:pathLst>
              <a:path h="860893" w="4298088">
                <a:moveTo>
                  <a:pt x="0" y="0"/>
                </a:moveTo>
                <a:lnTo>
                  <a:pt x="4298088" y="0"/>
                </a:lnTo>
                <a:lnTo>
                  <a:pt x="4298088" y="860893"/>
                </a:lnTo>
                <a:lnTo>
                  <a:pt x="0" y="86089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5400000">
            <a:off x="4730097" y="654574"/>
            <a:ext cx="4298088" cy="860893"/>
          </a:xfrm>
          <a:custGeom>
            <a:avLst/>
            <a:gdLst/>
            <a:ahLst/>
            <a:cxnLst/>
            <a:rect r="r" b="b" t="t" l="l"/>
            <a:pathLst>
              <a:path h="860893" w="4298088">
                <a:moveTo>
                  <a:pt x="0" y="0"/>
                </a:moveTo>
                <a:lnTo>
                  <a:pt x="4298088" y="0"/>
                </a:lnTo>
                <a:lnTo>
                  <a:pt x="4298088" y="860893"/>
                </a:lnTo>
                <a:lnTo>
                  <a:pt x="0" y="86089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5400000">
            <a:off x="7314680" y="10322930"/>
            <a:ext cx="4298088" cy="860893"/>
          </a:xfrm>
          <a:custGeom>
            <a:avLst/>
            <a:gdLst/>
            <a:ahLst/>
            <a:cxnLst/>
            <a:rect r="r" b="b" t="t" l="l"/>
            <a:pathLst>
              <a:path h="860893" w="4298088">
                <a:moveTo>
                  <a:pt x="0" y="0"/>
                </a:moveTo>
                <a:lnTo>
                  <a:pt x="4298088" y="0"/>
                </a:lnTo>
                <a:lnTo>
                  <a:pt x="4298088" y="860893"/>
                </a:lnTo>
                <a:lnTo>
                  <a:pt x="0" y="86089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6879103" y="782444"/>
            <a:ext cx="948173" cy="1085540"/>
          </a:xfrm>
          <a:custGeom>
            <a:avLst/>
            <a:gdLst/>
            <a:ahLst/>
            <a:cxnLst/>
            <a:rect r="r" b="b" t="t" l="l"/>
            <a:pathLst>
              <a:path h="1085540" w="948173">
                <a:moveTo>
                  <a:pt x="0" y="0"/>
                </a:moveTo>
                <a:lnTo>
                  <a:pt x="948172" y="0"/>
                </a:lnTo>
                <a:lnTo>
                  <a:pt x="948172" y="1085540"/>
                </a:lnTo>
                <a:lnTo>
                  <a:pt x="0" y="108554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6869710" y="2807017"/>
            <a:ext cx="878758" cy="1028408"/>
          </a:xfrm>
          <a:custGeom>
            <a:avLst/>
            <a:gdLst/>
            <a:ahLst/>
            <a:cxnLst/>
            <a:rect r="r" b="b" t="t" l="l"/>
            <a:pathLst>
              <a:path h="1028408" w="878758">
                <a:moveTo>
                  <a:pt x="0" y="0"/>
                </a:moveTo>
                <a:lnTo>
                  <a:pt x="878758" y="0"/>
                </a:lnTo>
                <a:lnTo>
                  <a:pt x="878758" y="1028408"/>
                </a:lnTo>
                <a:lnTo>
                  <a:pt x="0" y="102840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6835501" y="4866850"/>
            <a:ext cx="948173" cy="1174952"/>
          </a:xfrm>
          <a:custGeom>
            <a:avLst/>
            <a:gdLst/>
            <a:ahLst/>
            <a:cxnLst/>
            <a:rect r="r" b="b" t="t" l="l"/>
            <a:pathLst>
              <a:path h="1174952" w="948173">
                <a:moveTo>
                  <a:pt x="0" y="0"/>
                </a:moveTo>
                <a:lnTo>
                  <a:pt x="948172" y="0"/>
                </a:lnTo>
                <a:lnTo>
                  <a:pt x="948172" y="1174952"/>
                </a:lnTo>
                <a:lnTo>
                  <a:pt x="0" y="117495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9439246" y="7191179"/>
            <a:ext cx="909923" cy="1109956"/>
          </a:xfrm>
          <a:custGeom>
            <a:avLst/>
            <a:gdLst/>
            <a:ahLst/>
            <a:cxnLst/>
            <a:rect r="r" b="b" t="t" l="l"/>
            <a:pathLst>
              <a:path h="1109956" w="909923">
                <a:moveTo>
                  <a:pt x="0" y="0"/>
                </a:moveTo>
                <a:lnTo>
                  <a:pt x="909923" y="0"/>
                </a:lnTo>
                <a:lnTo>
                  <a:pt x="909923" y="1109956"/>
                </a:lnTo>
                <a:lnTo>
                  <a:pt x="0" y="1109956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323720" y="2925141"/>
            <a:ext cx="3951828" cy="7786854"/>
          </a:xfrm>
          <a:custGeom>
            <a:avLst/>
            <a:gdLst/>
            <a:ahLst/>
            <a:cxnLst/>
            <a:rect r="r" b="b" t="t" l="l"/>
            <a:pathLst>
              <a:path h="7786854" w="3951828">
                <a:moveTo>
                  <a:pt x="0" y="0"/>
                </a:moveTo>
                <a:lnTo>
                  <a:pt x="3951828" y="0"/>
                </a:lnTo>
                <a:lnTo>
                  <a:pt x="3951828" y="7786854"/>
                </a:lnTo>
                <a:lnTo>
                  <a:pt x="0" y="7786854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8396438" y="5242616"/>
            <a:ext cx="5562404" cy="62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610"/>
              </a:lnSpc>
            </a:pPr>
            <a:r>
              <a:rPr lang="en-US" sz="1450">
                <a:solidFill>
                  <a:srgbClr val="181A1A"/>
                </a:solidFill>
                <a:latin typeface="Canva Sans"/>
                <a:ea typeface="Canva Sans"/>
                <a:cs typeface="Canva Sans"/>
                <a:sym typeface="Canva Sans"/>
              </a:rPr>
              <a:t>Azure Machine Learning trains demand forecasting and load optimization models deployed via AKS containerized services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396438" y="4713026"/>
            <a:ext cx="4916676" cy="4516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57"/>
              </a:lnSpc>
              <a:spcBef>
                <a:spcPct val="0"/>
              </a:spcBef>
            </a:pPr>
            <a:r>
              <a:rPr lang="en-US" b="true" sz="2198">
                <a:solidFill>
                  <a:srgbClr val="181A1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ML Processing Engine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28700" y="1927018"/>
            <a:ext cx="4104197" cy="1352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392"/>
              </a:lnSpc>
            </a:pPr>
            <a:r>
              <a:rPr lang="en-US" b="true" sz="4493">
                <a:solidFill>
                  <a:srgbClr val="181A1A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System Architecture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396438" y="3237658"/>
            <a:ext cx="5879084" cy="62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610"/>
              </a:lnSpc>
            </a:pPr>
            <a:r>
              <a:rPr lang="en-US" sz="1450">
                <a:solidFill>
                  <a:srgbClr val="181A1A"/>
                </a:solidFill>
                <a:latin typeface="Canva Sans"/>
                <a:ea typeface="Canva Sans"/>
                <a:cs typeface="Canva Sans"/>
                <a:sym typeface="Canva Sans"/>
              </a:rPr>
              <a:t>Azure Data Factory, Azure Synapse Analytics, and Blob Storage orchestrate data pipelines and scalable cloud infrastructure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873826" y="7640340"/>
            <a:ext cx="5298731" cy="946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610"/>
              </a:lnSpc>
            </a:pPr>
            <a:r>
              <a:rPr lang="en-US" sz="1450">
                <a:solidFill>
                  <a:srgbClr val="181A1A"/>
                </a:solidFill>
                <a:latin typeface="Canva Sans"/>
                <a:ea typeface="Canva Sans"/>
                <a:cs typeface="Canva Sans"/>
                <a:sym typeface="Canva Sans"/>
              </a:rPr>
              <a:t>React-based dashboard and REST APIs deliver real-time EV charging insights, alerts, and optimization controls to operators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8453086" y="1229678"/>
            <a:ext cx="5822437" cy="62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610"/>
              </a:lnSpc>
            </a:pPr>
            <a:r>
              <a:rPr lang="en-US" sz="1450">
                <a:solidFill>
                  <a:srgbClr val="181A1A"/>
                </a:solidFill>
                <a:latin typeface="Canva Sans"/>
                <a:ea typeface="Canva Sans"/>
                <a:cs typeface="Canva Sans"/>
                <a:sym typeface="Canva Sans"/>
              </a:rPr>
              <a:t>Real-time data streams from EV chargers, IoT sensors, and grid APIs are ingested via Azure Event Hubs and IoT Hub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8453086" y="700088"/>
            <a:ext cx="4916676" cy="4516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57"/>
              </a:lnSpc>
              <a:spcBef>
                <a:spcPct val="0"/>
              </a:spcBef>
            </a:pPr>
            <a:r>
              <a:rPr lang="en-US" b="true" sz="2198">
                <a:solidFill>
                  <a:srgbClr val="181A1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Data Ingestion Layer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8396438" y="2705045"/>
            <a:ext cx="4916676" cy="4516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57"/>
              </a:lnSpc>
              <a:spcBef>
                <a:spcPct val="0"/>
              </a:spcBef>
            </a:pPr>
            <a:r>
              <a:rPr lang="en-US" b="true" sz="2198">
                <a:solidFill>
                  <a:srgbClr val="181A1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Azure Cloud Services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873825" y="7080333"/>
            <a:ext cx="4916676" cy="4516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57"/>
              </a:lnSpc>
              <a:spcBef>
                <a:spcPct val="0"/>
              </a:spcBef>
            </a:pPr>
            <a:r>
              <a:rPr lang="en-US" b="true" sz="2198">
                <a:solidFill>
                  <a:srgbClr val="181A1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Application Interface</a:t>
            </a:r>
          </a:p>
        </p:txBody>
      </p:sp>
      <p:sp>
        <p:nvSpPr>
          <p:cNvPr name="Freeform 20" id="20"/>
          <p:cNvSpPr/>
          <p:nvPr/>
        </p:nvSpPr>
        <p:spPr>
          <a:xfrm flipH="false" flipV="false" rot="-5400000">
            <a:off x="13660617" y="2609751"/>
            <a:ext cx="4416598" cy="2517461"/>
          </a:xfrm>
          <a:custGeom>
            <a:avLst/>
            <a:gdLst/>
            <a:ahLst/>
            <a:cxnLst/>
            <a:rect r="r" b="b" t="t" l="l"/>
            <a:pathLst>
              <a:path h="2517461" w="4416598">
                <a:moveTo>
                  <a:pt x="0" y="0"/>
                </a:moveTo>
                <a:lnTo>
                  <a:pt x="4416598" y="0"/>
                </a:lnTo>
                <a:lnTo>
                  <a:pt x="4416598" y="2517461"/>
                </a:lnTo>
                <a:lnTo>
                  <a:pt x="0" y="2517461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F3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293804" y="11390259"/>
            <a:ext cx="5331875" cy="1067957"/>
          </a:xfrm>
          <a:custGeom>
            <a:avLst/>
            <a:gdLst/>
            <a:ahLst/>
            <a:cxnLst/>
            <a:rect r="r" b="b" t="t" l="l"/>
            <a:pathLst>
              <a:path h="1067957" w="5331875">
                <a:moveTo>
                  <a:pt x="0" y="0"/>
                </a:moveTo>
                <a:lnTo>
                  <a:pt x="5331875" y="0"/>
                </a:lnTo>
                <a:lnTo>
                  <a:pt x="5331875" y="1067957"/>
                </a:lnTo>
                <a:lnTo>
                  <a:pt x="0" y="106795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1379477" y="6172786"/>
            <a:ext cx="3092948" cy="0"/>
          </a:xfrm>
          <a:prstGeom prst="line">
            <a:avLst/>
          </a:prstGeom>
          <a:ln cap="rnd" w="19050">
            <a:solidFill>
              <a:srgbClr val="00BBDE">
                <a:alpha val="40000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-5400000">
            <a:off x="12749547" y="7898685"/>
            <a:ext cx="5331875" cy="1067957"/>
          </a:xfrm>
          <a:custGeom>
            <a:avLst/>
            <a:gdLst/>
            <a:ahLst/>
            <a:cxnLst/>
            <a:rect r="r" b="b" t="t" l="l"/>
            <a:pathLst>
              <a:path h="1067957" w="5331875">
                <a:moveTo>
                  <a:pt x="0" y="0"/>
                </a:moveTo>
                <a:lnTo>
                  <a:pt x="5331875" y="0"/>
                </a:lnTo>
                <a:lnTo>
                  <a:pt x="5331875" y="1067957"/>
                </a:lnTo>
                <a:lnTo>
                  <a:pt x="0" y="106795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5" id="5"/>
          <p:cNvSpPr/>
          <p:nvPr/>
        </p:nvSpPr>
        <p:spPr>
          <a:xfrm>
            <a:off x="13747994" y="3027846"/>
            <a:ext cx="3092948" cy="0"/>
          </a:xfrm>
          <a:prstGeom prst="line">
            <a:avLst/>
          </a:prstGeom>
          <a:ln cap="rnd" w="19050">
            <a:solidFill>
              <a:srgbClr val="00BBDE">
                <a:alpha val="40000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6" id="6"/>
          <p:cNvSpPr/>
          <p:nvPr/>
        </p:nvSpPr>
        <p:spPr>
          <a:xfrm flipH="false" flipV="false" rot="-5400000">
            <a:off x="6478062" y="9560020"/>
            <a:ext cx="5331875" cy="1067957"/>
          </a:xfrm>
          <a:custGeom>
            <a:avLst/>
            <a:gdLst/>
            <a:ahLst/>
            <a:cxnLst/>
            <a:rect r="r" b="b" t="t" l="l"/>
            <a:pathLst>
              <a:path h="1067957" w="5331875">
                <a:moveTo>
                  <a:pt x="0" y="0"/>
                </a:moveTo>
                <a:lnTo>
                  <a:pt x="5331876" y="0"/>
                </a:lnTo>
                <a:lnTo>
                  <a:pt x="5331876" y="1067957"/>
                </a:lnTo>
                <a:lnTo>
                  <a:pt x="0" y="106795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7" id="7"/>
          <p:cNvSpPr/>
          <p:nvPr/>
        </p:nvSpPr>
        <p:spPr>
          <a:xfrm>
            <a:off x="7597526" y="4370509"/>
            <a:ext cx="3092948" cy="0"/>
          </a:xfrm>
          <a:prstGeom prst="line">
            <a:avLst/>
          </a:prstGeom>
          <a:ln cap="rnd" w="19050">
            <a:solidFill>
              <a:srgbClr val="00BBDE">
                <a:alpha val="40000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8" id="8"/>
          <p:cNvSpPr/>
          <p:nvPr/>
        </p:nvSpPr>
        <p:spPr>
          <a:xfrm flipH="false" flipV="false" rot="-5400000">
            <a:off x="12749547" y="9874335"/>
            <a:ext cx="5331875" cy="1067957"/>
          </a:xfrm>
          <a:custGeom>
            <a:avLst/>
            <a:gdLst/>
            <a:ahLst/>
            <a:cxnLst/>
            <a:rect r="r" b="b" t="t" l="l"/>
            <a:pathLst>
              <a:path h="1067957" w="5331875">
                <a:moveTo>
                  <a:pt x="0" y="0"/>
                </a:moveTo>
                <a:lnTo>
                  <a:pt x="5331875" y="0"/>
                </a:lnTo>
                <a:lnTo>
                  <a:pt x="5331875" y="1067957"/>
                </a:lnTo>
                <a:lnTo>
                  <a:pt x="0" y="106795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2185810" y="7939897"/>
            <a:ext cx="1547862" cy="1526125"/>
            <a:chOff x="0" y="0"/>
            <a:chExt cx="812800" cy="80137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6050" y="0"/>
              <a:ext cx="800699" cy="800100"/>
            </a:xfrm>
            <a:custGeom>
              <a:avLst/>
              <a:gdLst/>
              <a:ahLst/>
              <a:cxnLst/>
              <a:rect r="r" b="b" t="t" l="l"/>
              <a:pathLst>
                <a:path h="800100" w="800699">
                  <a:moveTo>
                    <a:pt x="537510" y="24130"/>
                  </a:moveTo>
                  <a:lnTo>
                    <a:pt x="537510" y="24130"/>
                  </a:lnTo>
                  <a:cubicBezTo>
                    <a:pt x="581206" y="40096"/>
                    <a:pt x="621807" y="63510"/>
                    <a:pt x="657512" y="93334"/>
                  </a:cubicBezTo>
                  <a:lnTo>
                    <a:pt x="657525" y="93345"/>
                  </a:lnTo>
                  <a:cubicBezTo>
                    <a:pt x="693229" y="123169"/>
                    <a:pt x="723403" y="159047"/>
                    <a:pt x="746662" y="199336"/>
                  </a:cubicBezTo>
                  <a:lnTo>
                    <a:pt x="747492" y="200773"/>
                  </a:lnTo>
                  <a:cubicBezTo>
                    <a:pt x="770729" y="241024"/>
                    <a:pt x="786704" y="285049"/>
                    <a:pt x="794685" y="330835"/>
                  </a:cubicBezTo>
                  <a:lnTo>
                    <a:pt x="794685" y="330835"/>
                  </a:lnTo>
                  <a:cubicBezTo>
                    <a:pt x="802669" y="376636"/>
                    <a:pt x="802705" y="423470"/>
                    <a:pt x="794791" y="469283"/>
                  </a:cubicBezTo>
                  <a:lnTo>
                    <a:pt x="794632" y="470206"/>
                  </a:lnTo>
                  <a:cubicBezTo>
                    <a:pt x="786688" y="516197"/>
                    <a:pt x="770577" y="560395"/>
                    <a:pt x="747060" y="600710"/>
                  </a:cubicBezTo>
                  <a:lnTo>
                    <a:pt x="746936" y="600923"/>
                  </a:lnTo>
                  <a:cubicBezTo>
                    <a:pt x="723490" y="641115"/>
                    <a:pt x="693236" y="676925"/>
                    <a:pt x="657525" y="706755"/>
                  </a:cubicBezTo>
                  <a:lnTo>
                    <a:pt x="657512" y="706766"/>
                  </a:lnTo>
                  <a:cubicBezTo>
                    <a:pt x="621807" y="736590"/>
                    <a:pt x="581206" y="760004"/>
                    <a:pt x="537510" y="775970"/>
                  </a:cubicBezTo>
                  <a:lnTo>
                    <a:pt x="537510" y="775970"/>
                  </a:lnTo>
                  <a:cubicBezTo>
                    <a:pt x="493823" y="791933"/>
                    <a:pt x="447672" y="800100"/>
                    <a:pt x="401160" y="800100"/>
                  </a:cubicBezTo>
                  <a:lnTo>
                    <a:pt x="399540" y="800100"/>
                  </a:lnTo>
                  <a:cubicBezTo>
                    <a:pt x="353028" y="800100"/>
                    <a:pt x="306877" y="791933"/>
                    <a:pt x="263190" y="775970"/>
                  </a:cubicBezTo>
                  <a:lnTo>
                    <a:pt x="263190" y="775970"/>
                  </a:lnTo>
                  <a:cubicBezTo>
                    <a:pt x="219494" y="760004"/>
                    <a:pt x="178893" y="736590"/>
                    <a:pt x="143188" y="706766"/>
                  </a:cubicBezTo>
                  <a:lnTo>
                    <a:pt x="143175" y="706755"/>
                  </a:lnTo>
                  <a:cubicBezTo>
                    <a:pt x="107464" y="676925"/>
                    <a:pt x="77210" y="641115"/>
                    <a:pt x="53764" y="600923"/>
                  </a:cubicBezTo>
                  <a:lnTo>
                    <a:pt x="53640" y="600710"/>
                  </a:lnTo>
                  <a:cubicBezTo>
                    <a:pt x="30123" y="560395"/>
                    <a:pt x="14012" y="516197"/>
                    <a:pt x="6068" y="470206"/>
                  </a:cubicBezTo>
                  <a:lnTo>
                    <a:pt x="5909" y="469283"/>
                  </a:lnTo>
                  <a:cubicBezTo>
                    <a:pt x="-2005" y="423470"/>
                    <a:pt x="-1969" y="376636"/>
                    <a:pt x="6015" y="330835"/>
                  </a:cubicBezTo>
                  <a:lnTo>
                    <a:pt x="6015" y="330835"/>
                  </a:lnTo>
                  <a:cubicBezTo>
                    <a:pt x="13996" y="285049"/>
                    <a:pt x="29971" y="241024"/>
                    <a:pt x="53208" y="200773"/>
                  </a:cubicBezTo>
                  <a:lnTo>
                    <a:pt x="54038" y="199336"/>
                  </a:lnTo>
                  <a:cubicBezTo>
                    <a:pt x="77297" y="159047"/>
                    <a:pt x="107471" y="123169"/>
                    <a:pt x="143175" y="93345"/>
                  </a:cubicBezTo>
                  <a:lnTo>
                    <a:pt x="143188" y="93334"/>
                  </a:lnTo>
                  <a:cubicBezTo>
                    <a:pt x="178893" y="63510"/>
                    <a:pt x="219494" y="40096"/>
                    <a:pt x="263190" y="24130"/>
                  </a:cubicBezTo>
                  <a:lnTo>
                    <a:pt x="263190" y="24130"/>
                  </a:lnTo>
                  <a:cubicBezTo>
                    <a:pt x="306877" y="8167"/>
                    <a:pt x="353028" y="0"/>
                    <a:pt x="399540" y="0"/>
                  </a:cubicBezTo>
                  <a:lnTo>
                    <a:pt x="401160" y="0"/>
                  </a:lnTo>
                  <a:cubicBezTo>
                    <a:pt x="447672" y="0"/>
                    <a:pt x="493823" y="8167"/>
                    <a:pt x="537510" y="24130"/>
                  </a:cubicBezTo>
                  <a:close/>
                </a:path>
              </a:pathLst>
            </a:custGeom>
            <a:solidFill>
              <a:srgbClr val="004F5E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122142" y="115968"/>
              <a:ext cx="568517" cy="5683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2554920" y="8388720"/>
            <a:ext cx="851637" cy="724227"/>
          </a:xfrm>
          <a:custGeom>
            <a:avLst/>
            <a:gdLst/>
            <a:ahLst/>
            <a:cxnLst/>
            <a:rect r="r" b="b" t="t" l="l"/>
            <a:pathLst>
              <a:path h="724227" w="851637">
                <a:moveTo>
                  <a:pt x="0" y="0"/>
                </a:moveTo>
                <a:lnTo>
                  <a:pt x="851637" y="0"/>
                </a:lnTo>
                <a:lnTo>
                  <a:pt x="851637" y="724227"/>
                </a:lnTo>
                <a:lnTo>
                  <a:pt x="0" y="72422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8370069" y="6288257"/>
            <a:ext cx="1547862" cy="1526125"/>
            <a:chOff x="0" y="0"/>
            <a:chExt cx="812800" cy="80137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6050" y="0"/>
              <a:ext cx="800699" cy="800100"/>
            </a:xfrm>
            <a:custGeom>
              <a:avLst/>
              <a:gdLst/>
              <a:ahLst/>
              <a:cxnLst/>
              <a:rect r="r" b="b" t="t" l="l"/>
              <a:pathLst>
                <a:path h="800100" w="800699">
                  <a:moveTo>
                    <a:pt x="537510" y="24130"/>
                  </a:moveTo>
                  <a:lnTo>
                    <a:pt x="537510" y="24130"/>
                  </a:lnTo>
                  <a:cubicBezTo>
                    <a:pt x="581206" y="40096"/>
                    <a:pt x="621807" y="63510"/>
                    <a:pt x="657512" y="93334"/>
                  </a:cubicBezTo>
                  <a:lnTo>
                    <a:pt x="657525" y="93345"/>
                  </a:lnTo>
                  <a:cubicBezTo>
                    <a:pt x="693229" y="123169"/>
                    <a:pt x="723403" y="159047"/>
                    <a:pt x="746662" y="199336"/>
                  </a:cubicBezTo>
                  <a:lnTo>
                    <a:pt x="747492" y="200773"/>
                  </a:lnTo>
                  <a:cubicBezTo>
                    <a:pt x="770729" y="241024"/>
                    <a:pt x="786704" y="285049"/>
                    <a:pt x="794685" y="330835"/>
                  </a:cubicBezTo>
                  <a:lnTo>
                    <a:pt x="794685" y="330835"/>
                  </a:lnTo>
                  <a:cubicBezTo>
                    <a:pt x="802669" y="376636"/>
                    <a:pt x="802705" y="423470"/>
                    <a:pt x="794791" y="469283"/>
                  </a:cubicBezTo>
                  <a:lnTo>
                    <a:pt x="794632" y="470206"/>
                  </a:lnTo>
                  <a:cubicBezTo>
                    <a:pt x="786688" y="516197"/>
                    <a:pt x="770577" y="560395"/>
                    <a:pt x="747060" y="600710"/>
                  </a:cubicBezTo>
                  <a:lnTo>
                    <a:pt x="746936" y="600923"/>
                  </a:lnTo>
                  <a:cubicBezTo>
                    <a:pt x="723490" y="641115"/>
                    <a:pt x="693236" y="676925"/>
                    <a:pt x="657525" y="706755"/>
                  </a:cubicBezTo>
                  <a:lnTo>
                    <a:pt x="657512" y="706766"/>
                  </a:lnTo>
                  <a:cubicBezTo>
                    <a:pt x="621807" y="736590"/>
                    <a:pt x="581206" y="760004"/>
                    <a:pt x="537510" y="775970"/>
                  </a:cubicBezTo>
                  <a:lnTo>
                    <a:pt x="537510" y="775970"/>
                  </a:lnTo>
                  <a:cubicBezTo>
                    <a:pt x="493823" y="791933"/>
                    <a:pt x="447672" y="800100"/>
                    <a:pt x="401160" y="800100"/>
                  </a:cubicBezTo>
                  <a:lnTo>
                    <a:pt x="399540" y="800100"/>
                  </a:lnTo>
                  <a:cubicBezTo>
                    <a:pt x="353028" y="800100"/>
                    <a:pt x="306877" y="791933"/>
                    <a:pt x="263190" y="775970"/>
                  </a:cubicBezTo>
                  <a:lnTo>
                    <a:pt x="263190" y="775970"/>
                  </a:lnTo>
                  <a:cubicBezTo>
                    <a:pt x="219494" y="760004"/>
                    <a:pt x="178893" y="736590"/>
                    <a:pt x="143188" y="706766"/>
                  </a:cubicBezTo>
                  <a:lnTo>
                    <a:pt x="143175" y="706755"/>
                  </a:lnTo>
                  <a:cubicBezTo>
                    <a:pt x="107464" y="676925"/>
                    <a:pt x="77210" y="641115"/>
                    <a:pt x="53764" y="600923"/>
                  </a:cubicBezTo>
                  <a:lnTo>
                    <a:pt x="53640" y="600710"/>
                  </a:lnTo>
                  <a:cubicBezTo>
                    <a:pt x="30123" y="560395"/>
                    <a:pt x="14012" y="516197"/>
                    <a:pt x="6068" y="470206"/>
                  </a:cubicBezTo>
                  <a:lnTo>
                    <a:pt x="5909" y="469283"/>
                  </a:lnTo>
                  <a:cubicBezTo>
                    <a:pt x="-2005" y="423470"/>
                    <a:pt x="-1969" y="376636"/>
                    <a:pt x="6015" y="330835"/>
                  </a:cubicBezTo>
                  <a:lnTo>
                    <a:pt x="6015" y="330835"/>
                  </a:lnTo>
                  <a:cubicBezTo>
                    <a:pt x="13996" y="285049"/>
                    <a:pt x="29971" y="241024"/>
                    <a:pt x="53208" y="200773"/>
                  </a:cubicBezTo>
                  <a:lnTo>
                    <a:pt x="54038" y="199336"/>
                  </a:lnTo>
                  <a:cubicBezTo>
                    <a:pt x="77297" y="159047"/>
                    <a:pt x="107471" y="123169"/>
                    <a:pt x="143175" y="93345"/>
                  </a:cubicBezTo>
                  <a:lnTo>
                    <a:pt x="143188" y="93334"/>
                  </a:lnTo>
                  <a:cubicBezTo>
                    <a:pt x="178893" y="63510"/>
                    <a:pt x="219494" y="40096"/>
                    <a:pt x="263190" y="24130"/>
                  </a:cubicBezTo>
                  <a:lnTo>
                    <a:pt x="263190" y="24130"/>
                  </a:lnTo>
                  <a:cubicBezTo>
                    <a:pt x="306877" y="8167"/>
                    <a:pt x="353028" y="0"/>
                    <a:pt x="399540" y="0"/>
                  </a:cubicBezTo>
                  <a:lnTo>
                    <a:pt x="401160" y="0"/>
                  </a:lnTo>
                  <a:cubicBezTo>
                    <a:pt x="447672" y="0"/>
                    <a:pt x="493823" y="8167"/>
                    <a:pt x="537510" y="24130"/>
                  </a:cubicBezTo>
                  <a:close/>
                </a:path>
              </a:pathLst>
            </a:custGeom>
            <a:solidFill>
              <a:srgbClr val="B3D3D9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122142" y="115968"/>
              <a:ext cx="568517" cy="5683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</a:pP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8717817" y="6570283"/>
            <a:ext cx="949535" cy="970635"/>
          </a:xfrm>
          <a:custGeom>
            <a:avLst/>
            <a:gdLst/>
            <a:ahLst/>
            <a:cxnLst/>
            <a:rect r="r" b="b" t="t" l="l"/>
            <a:pathLst>
              <a:path h="970635" w="949535">
                <a:moveTo>
                  <a:pt x="0" y="0"/>
                </a:moveTo>
                <a:lnTo>
                  <a:pt x="949534" y="0"/>
                </a:lnTo>
                <a:lnTo>
                  <a:pt x="949534" y="970635"/>
                </a:lnTo>
                <a:lnTo>
                  <a:pt x="0" y="97063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grpSp>
        <p:nvGrpSpPr>
          <p:cNvPr name="Group 17" id="17"/>
          <p:cNvGrpSpPr/>
          <p:nvPr/>
        </p:nvGrpSpPr>
        <p:grpSpPr>
          <a:xfrm rot="0">
            <a:off x="14651078" y="5003664"/>
            <a:ext cx="1547862" cy="1526125"/>
            <a:chOff x="0" y="0"/>
            <a:chExt cx="812800" cy="80137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6050" y="0"/>
              <a:ext cx="800699" cy="800100"/>
            </a:xfrm>
            <a:custGeom>
              <a:avLst/>
              <a:gdLst/>
              <a:ahLst/>
              <a:cxnLst/>
              <a:rect r="r" b="b" t="t" l="l"/>
              <a:pathLst>
                <a:path h="800100" w="800699">
                  <a:moveTo>
                    <a:pt x="537510" y="24130"/>
                  </a:moveTo>
                  <a:lnTo>
                    <a:pt x="537510" y="24130"/>
                  </a:lnTo>
                  <a:cubicBezTo>
                    <a:pt x="581206" y="40096"/>
                    <a:pt x="621807" y="63510"/>
                    <a:pt x="657512" y="93334"/>
                  </a:cubicBezTo>
                  <a:lnTo>
                    <a:pt x="657525" y="93345"/>
                  </a:lnTo>
                  <a:cubicBezTo>
                    <a:pt x="693229" y="123169"/>
                    <a:pt x="723403" y="159047"/>
                    <a:pt x="746662" y="199336"/>
                  </a:cubicBezTo>
                  <a:lnTo>
                    <a:pt x="747492" y="200773"/>
                  </a:lnTo>
                  <a:cubicBezTo>
                    <a:pt x="770729" y="241024"/>
                    <a:pt x="786704" y="285049"/>
                    <a:pt x="794685" y="330835"/>
                  </a:cubicBezTo>
                  <a:lnTo>
                    <a:pt x="794685" y="330835"/>
                  </a:lnTo>
                  <a:cubicBezTo>
                    <a:pt x="802669" y="376636"/>
                    <a:pt x="802705" y="423470"/>
                    <a:pt x="794791" y="469283"/>
                  </a:cubicBezTo>
                  <a:lnTo>
                    <a:pt x="794632" y="470206"/>
                  </a:lnTo>
                  <a:cubicBezTo>
                    <a:pt x="786688" y="516197"/>
                    <a:pt x="770577" y="560395"/>
                    <a:pt x="747060" y="600710"/>
                  </a:cubicBezTo>
                  <a:lnTo>
                    <a:pt x="746936" y="600923"/>
                  </a:lnTo>
                  <a:cubicBezTo>
                    <a:pt x="723490" y="641115"/>
                    <a:pt x="693236" y="676925"/>
                    <a:pt x="657525" y="706755"/>
                  </a:cubicBezTo>
                  <a:lnTo>
                    <a:pt x="657512" y="706766"/>
                  </a:lnTo>
                  <a:cubicBezTo>
                    <a:pt x="621807" y="736590"/>
                    <a:pt x="581206" y="760004"/>
                    <a:pt x="537510" y="775970"/>
                  </a:cubicBezTo>
                  <a:lnTo>
                    <a:pt x="537510" y="775970"/>
                  </a:lnTo>
                  <a:cubicBezTo>
                    <a:pt x="493823" y="791933"/>
                    <a:pt x="447672" y="800100"/>
                    <a:pt x="401160" y="800100"/>
                  </a:cubicBezTo>
                  <a:lnTo>
                    <a:pt x="399540" y="800100"/>
                  </a:lnTo>
                  <a:cubicBezTo>
                    <a:pt x="353028" y="800100"/>
                    <a:pt x="306877" y="791933"/>
                    <a:pt x="263190" y="775970"/>
                  </a:cubicBezTo>
                  <a:lnTo>
                    <a:pt x="263190" y="775970"/>
                  </a:lnTo>
                  <a:cubicBezTo>
                    <a:pt x="219494" y="760004"/>
                    <a:pt x="178893" y="736590"/>
                    <a:pt x="143188" y="706766"/>
                  </a:cubicBezTo>
                  <a:lnTo>
                    <a:pt x="143175" y="706755"/>
                  </a:lnTo>
                  <a:cubicBezTo>
                    <a:pt x="107464" y="676925"/>
                    <a:pt x="77210" y="641115"/>
                    <a:pt x="53764" y="600923"/>
                  </a:cubicBezTo>
                  <a:lnTo>
                    <a:pt x="53640" y="600710"/>
                  </a:lnTo>
                  <a:cubicBezTo>
                    <a:pt x="30123" y="560395"/>
                    <a:pt x="14012" y="516197"/>
                    <a:pt x="6068" y="470206"/>
                  </a:cubicBezTo>
                  <a:lnTo>
                    <a:pt x="5909" y="469283"/>
                  </a:lnTo>
                  <a:cubicBezTo>
                    <a:pt x="-2005" y="423470"/>
                    <a:pt x="-1969" y="376636"/>
                    <a:pt x="6015" y="330835"/>
                  </a:cubicBezTo>
                  <a:lnTo>
                    <a:pt x="6015" y="330835"/>
                  </a:lnTo>
                  <a:cubicBezTo>
                    <a:pt x="13996" y="285049"/>
                    <a:pt x="29971" y="241024"/>
                    <a:pt x="53208" y="200773"/>
                  </a:cubicBezTo>
                  <a:lnTo>
                    <a:pt x="54038" y="199336"/>
                  </a:lnTo>
                  <a:cubicBezTo>
                    <a:pt x="77297" y="159047"/>
                    <a:pt x="107471" y="123169"/>
                    <a:pt x="143175" y="93345"/>
                  </a:cubicBezTo>
                  <a:lnTo>
                    <a:pt x="143188" y="93334"/>
                  </a:lnTo>
                  <a:cubicBezTo>
                    <a:pt x="178893" y="63510"/>
                    <a:pt x="219494" y="40096"/>
                    <a:pt x="263190" y="24130"/>
                  </a:cubicBezTo>
                  <a:lnTo>
                    <a:pt x="263190" y="24130"/>
                  </a:lnTo>
                  <a:cubicBezTo>
                    <a:pt x="306877" y="8167"/>
                    <a:pt x="353028" y="0"/>
                    <a:pt x="399540" y="0"/>
                  </a:cubicBezTo>
                  <a:lnTo>
                    <a:pt x="401160" y="0"/>
                  </a:lnTo>
                  <a:cubicBezTo>
                    <a:pt x="447672" y="0"/>
                    <a:pt x="493823" y="8167"/>
                    <a:pt x="537510" y="24130"/>
                  </a:cubicBezTo>
                  <a:close/>
                </a:path>
              </a:pathLst>
            </a:custGeom>
            <a:solidFill>
              <a:srgbClr val="004F5E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122142" y="115968"/>
              <a:ext cx="568517" cy="5683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15064337" y="5339163"/>
            <a:ext cx="721891" cy="807043"/>
          </a:xfrm>
          <a:custGeom>
            <a:avLst/>
            <a:gdLst/>
            <a:ahLst/>
            <a:cxnLst/>
            <a:rect r="r" b="b" t="t" l="l"/>
            <a:pathLst>
              <a:path h="807043" w="721891">
                <a:moveTo>
                  <a:pt x="0" y="0"/>
                </a:moveTo>
                <a:lnTo>
                  <a:pt x="721891" y="0"/>
                </a:lnTo>
                <a:lnTo>
                  <a:pt x="721891" y="807044"/>
                </a:lnTo>
                <a:lnTo>
                  <a:pt x="0" y="80704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1028700" y="1116912"/>
            <a:ext cx="4286405" cy="2357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155"/>
              </a:lnSpc>
              <a:spcBef>
                <a:spcPct val="0"/>
              </a:spcBef>
            </a:pPr>
            <a:r>
              <a:rPr lang="en-US" b="true" sz="5596">
                <a:solidFill>
                  <a:srgbClr val="181A1A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Azure Services</a:t>
            </a:r>
          </a:p>
          <a:p>
            <a:pPr algn="l" marL="0" indent="0" lvl="0">
              <a:lnSpc>
                <a:spcPts val="6155"/>
              </a:lnSpc>
              <a:spcBef>
                <a:spcPct val="0"/>
              </a:spcBef>
            </a:pPr>
            <a:r>
              <a:rPr lang="en-US" b="true" sz="5596">
                <a:solidFill>
                  <a:srgbClr val="181A1A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Integration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205372" y="6443828"/>
            <a:ext cx="3591243" cy="9735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990"/>
              </a:lnSpc>
            </a:pPr>
            <a:r>
              <a:rPr lang="en-US" sz="1421">
                <a:solidFill>
                  <a:srgbClr val="181A1A"/>
                </a:solidFill>
                <a:latin typeface="Canva Sans"/>
                <a:ea typeface="Canva Sans"/>
                <a:cs typeface="Canva Sans"/>
                <a:sym typeface="Canva Sans"/>
              </a:rPr>
              <a:t>Bidirectional device-to-cloud messaging, secure device provisioning, and real-time telemetry ingestion from 10,000+ EV charging nodes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519723" y="5414667"/>
            <a:ext cx="2880037" cy="364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029"/>
              </a:lnSpc>
              <a:spcBef>
                <a:spcPct val="0"/>
              </a:spcBef>
            </a:pPr>
            <a:r>
              <a:rPr lang="en-US" b="true" sz="2163">
                <a:solidFill>
                  <a:srgbClr val="181A1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Azure IoT Hub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3543083" y="3316896"/>
            <a:ext cx="3570351" cy="9735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990"/>
              </a:lnSpc>
            </a:pPr>
            <a:r>
              <a:rPr lang="en-US" sz="1421">
                <a:solidFill>
                  <a:srgbClr val="181A1A"/>
                </a:solidFill>
                <a:latin typeface="Canva Sans"/>
                <a:ea typeface="Canva Sans"/>
                <a:cs typeface="Canva Sans"/>
                <a:sym typeface="Canva Sans"/>
              </a:rPr>
              <a:t>Event-driven serverless compute triggers real-time pricing updates, alerts, and orchestrates microservice workflows at scale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3427417" y="2350301"/>
            <a:ext cx="3801683" cy="364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029"/>
              </a:lnSpc>
              <a:spcBef>
                <a:spcPct val="0"/>
              </a:spcBef>
            </a:pPr>
            <a:r>
              <a:rPr lang="en-US" b="true" sz="2163">
                <a:solidFill>
                  <a:srgbClr val="181A1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Azure Functions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7183450" y="4703884"/>
            <a:ext cx="3921100" cy="725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990"/>
              </a:lnSpc>
            </a:pPr>
            <a:r>
              <a:rPr lang="en-US" sz="1421">
                <a:solidFill>
                  <a:srgbClr val="181A1A"/>
                </a:solidFill>
                <a:latin typeface="Canva Sans"/>
                <a:ea typeface="Canva Sans"/>
                <a:cs typeface="Canva Sans"/>
                <a:sym typeface="Canva Sans"/>
              </a:rPr>
              <a:t>Automated ML pipelines for demand forecasting, anomaly detection, and dynamic load balancing across the charging network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7529244" y="3645438"/>
            <a:ext cx="3229512" cy="364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029"/>
              </a:lnSpc>
              <a:spcBef>
                <a:spcPct val="0"/>
              </a:spcBef>
            </a:pPr>
            <a:r>
              <a:rPr lang="en-US" b="true" sz="2163">
                <a:solidFill>
                  <a:srgbClr val="181A1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Azure Machine Learning</a:t>
            </a:r>
          </a:p>
        </p:txBody>
      </p:sp>
      <p:sp>
        <p:nvSpPr>
          <p:cNvPr name="Freeform 28" id="28"/>
          <p:cNvSpPr/>
          <p:nvPr/>
        </p:nvSpPr>
        <p:spPr>
          <a:xfrm flipH="false" flipV="false" rot="0">
            <a:off x="3089392" y="8272732"/>
            <a:ext cx="5673763" cy="1163121"/>
          </a:xfrm>
          <a:custGeom>
            <a:avLst/>
            <a:gdLst/>
            <a:ahLst/>
            <a:cxnLst/>
            <a:rect r="r" b="b" t="t" l="l"/>
            <a:pathLst>
              <a:path h="1163121" w="5673763">
                <a:moveTo>
                  <a:pt x="0" y="0"/>
                </a:moveTo>
                <a:lnTo>
                  <a:pt x="5673763" y="0"/>
                </a:lnTo>
                <a:lnTo>
                  <a:pt x="5673763" y="1163122"/>
                </a:lnTo>
                <a:lnTo>
                  <a:pt x="0" y="116312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10735103" y="7388328"/>
            <a:ext cx="3800606" cy="712614"/>
          </a:xfrm>
          <a:custGeom>
            <a:avLst/>
            <a:gdLst/>
            <a:ahLst/>
            <a:cxnLst/>
            <a:rect r="r" b="b" t="t" l="l"/>
            <a:pathLst>
              <a:path h="712614" w="3800606">
                <a:moveTo>
                  <a:pt x="0" y="0"/>
                </a:moveTo>
                <a:lnTo>
                  <a:pt x="3800605" y="0"/>
                </a:lnTo>
                <a:lnTo>
                  <a:pt x="3800605" y="712613"/>
                </a:lnTo>
                <a:lnTo>
                  <a:pt x="0" y="71261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F3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037583" y="4437300"/>
            <a:ext cx="5922420" cy="5922420"/>
          </a:xfrm>
          <a:custGeom>
            <a:avLst/>
            <a:gdLst/>
            <a:ahLst/>
            <a:cxnLst/>
            <a:rect r="r" b="b" t="t" l="l"/>
            <a:pathLst>
              <a:path h="5922420" w="5922420">
                <a:moveTo>
                  <a:pt x="0" y="0"/>
                </a:moveTo>
                <a:lnTo>
                  <a:pt x="5922420" y="0"/>
                </a:lnTo>
                <a:lnTo>
                  <a:pt x="5922420" y="5922420"/>
                </a:lnTo>
                <a:lnTo>
                  <a:pt x="0" y="592242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1712478" y="0"/>
            <a:ext cx="5922420" cy="5922420"/>
          </a:xfrm>
          <a:custGeom>
            <a:avLst/>
            <a:gdLst/>
            <a:ahLst/>
            <a:cxnLst/>
            <a:rect r="r" b="b" t="t" l="l"/>
            <a:pathLst>
              <a:path h="5922420" w="5922420">
                <a:moveTo>
                  <a:pt x="5922420" y="5922420"/>
                </a:moveTo>
                <a:lnTo>
                  <a:pt x="0" y="5922420"/>
                </a:lnTo>
                <a:lnTo>
                  <a:pt x="0" y="0"/>
                </a:lnTo>
                <a:lnTo>
                  <a:pt x="5922420" y="0"/>
                </a:lnTo>
                <a:lnTo>
                  <a:pt x="5922420" y="592242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876717" y="4437300"/>
            <a:ext cx="7414601" cy="1485120"/>
          </a:xfrm>
          <a:custGeom>
            <a:avLst/>
            <a:gdLst/>
            <a:ahLst/>
            <a:cxnLst/>
            <a:rect r="r" b="b" t="t" l="l"/>
            <a:pathLst>
              <a:path h="1485120" w="7414601">
                <a:moveTo>
                  <a:pt x="0" y="0"/>
                </a:moveTo>
                <a:lnTo>
                  <a:pt x="7414600" y="0"/>
                </a:lnTo>
                <a:lnTo>
                  <a:pt x="7414600" y="1485120"/>
                </a:lnTo>
                <a:lnTo>
                  <a:pt x="0" y="148512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5400000">
            <a:off x="8942179" y="3657524"/>
            <a:ext cx="403643" cy="603458"/>
          </a:xfrm>
          <a:custGeom>
            <a:avLst/>
            <a:gdLst/>
            <a:ahLst/>
            <a:cxnLst/>
            <a:rect r="r" b="b" t="t" l="l"/>
            <a:pathLst>
              <a:path h="603458" w="403643">
                <a:moveTo>
                  <a:pt x="403642" y="603459"/>
                </a:moveTo>
                <a:lnTo>
                  <a:pt x="0" y="603459"/>
                </a:lnTo>
                <a:lnTo>
                  <a:pt x="0" y="0"/>
                </a:lnTo>
                <a:lnTo>
                  <a:pt x="403642" y="0"/>
                </a:lnTo>
                <a:lnTo>
                  <a:pt x="403642" y="603459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true" rot="5400000">
            <a:off x="13561229" y="3609899"/>
            <a:ext cx="403643" cy="603458"/>
          </a:xfrm>
          <a:custGeom>
            <a:avLst/>
            <a:gdLst/>
            <a:ahLst/>
            <a:cxnLst/>
            <a:rect r="r" b="b" t="t" l="l"/>
            <a:pathLst>
              <a:path h="603458" w="403643">
                <a:moveTo>
                  <a:pt x="403643" y="603459"/>
                </a:moveTo>
                <a:lnTo>
                  <a:pt x="0" y="603459"/>
                </a:lnTo>
                <a:lnTo>
                  <a:pt x="0" y="0"/>
                </a:lnTo>
                <a:lnTo>
                  <a:pt x="403643" y="0"/>
                </a:lnTo>
                <a:lnTo>
                  <a:pt x="403643" y="603459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5400000">
            <a:off x="8942179" y="6191619"/>
            <a:ext cx="403643" cy="603458"/>
          </a:xfrm>
          <a:custGeom>
            <a:avLst/>
            <a:gdLst/>
            <a:ahLst/>
            <a:cxnLst/>
            <a:rect r="r" b="b" t="t" l="l"/>
            <a:pathLst>
              <a:path h="603458" w="403643">
                <a:moveTo>
                  <a:pt x="0" y="0"/>
                </a:moveTo>
                <a:lnTo>
                  <a:pt x="403642" y="0"/>
                </a:lnTo>
                <a:lnTo>
                  <a:pt x="403642" y="603458"/>
                </a:lnTo>
                <a:lnTo>
                  <a:pt x="0" y="60345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709198" y="2268677"/>
            <a:ext cx="3802364" cy="8026099"/>
          </a:xfrm>
          <a:custGeom>
            <a:avLst/>
            <a:gdLst/>
            <a:ahLst/>
            <a:cxnLst/>
            <a:rect r="r" b="b" t="t" l="l"/>
            <a:pathLst>
              <a:path h="8026099" w="3802364">
                <a:moveTo>
                  <a:pt x="0" y="0"/>
                </a:moveTo>
                <a:lnTo>
                  <a:pt x="3802364" y="0"/>
                </a:lnTo>
                <a:lnTo>
                  <a:pt x="3802364" y="8026099"/>
                </a:lnTo>
                <a:lnTo>
                  <a:pt x="0" y="802609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3782875" y="7199141"/>
            <a:ext cx="2608910" cy="1487078"/>
          </a:xfrm>
          <a:custGeom>
            <a:avLst/>
            <a:gdLst/>
            <a:ahLst/>
            <a:cxnLst/>
            <a:rect r="r" b="b" t="t" l="l"/>
            <a:pathLst>
              <a:path h="1487078" w="2608910">
                <a:moveTo>
                  <a:pt x="0" y="0"/>
                </a:moveTo>
                <a:lnTo>
                  <a:pt x="2608909" y="0"/>
                </a:lnTo>
                <a:lnTo>
                  <a:pt x="2608909" y="1487078"/>
                </a:lnTo>
                <a:lnTo>
                  <a:pt x="0" y="148707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7467903" y="7085694"/>
            <a:ext cx="3352194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18"/>
              </a:lnSpc>
            </a:pPr>
            <a:r>
              <a:rPr lang="en-US" b="true" sz="2098">
                <a:solidFill>
                  <a:srgbClr val="181A1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ML Training &amp; Inference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467903" y="7725330"/>
            <a:ext cx="3492100" cy="15401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42"/>
              </a:lnSpc>
            </a:pPr>
            <a:r>
              <a:rPr lang="en-US" sz="1412">
                <a:solidFill>
                  <a:srgbClr val="181A1A"/>
                </a:solidFill>
                <a:latin typeface="Canva Sans"/>
                <a:ea typeface="Canva Sans"/>
                <a:cs typeface="Canva Sans"/>
                <a:sym typeface="Canva Sans"/>
              </a:rPr>
              <a:t>Azure Machine Learning pipelines train demand forecasting and anomaly detection models on historical data, deploying real-time inference endpoints for dynamic load balancing decisions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56610" y="1586301"/>
            <a:ext cx="5097370" cy="1247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916"/>
              </a:lnSpc>
            </a:pPr>
            <a:r>
              <a:rPr lang="en-US" b="true" sz="4097">
                <a:solidFill>
                  <a:srgbClr val="181A1A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Data Pipeline Architecture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876717" y="770127"/>
            <a:ext cx="4083287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18"/>
              </a:lnSpc>
            </a:pPr>
            <a:r>
              <a:rPr lang="en-US" b="true" sz="2098">
                <a:solidFill>
                  <a:srgbClr val="181A1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Data Collection Layer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876717" y="1335386"/>
            <a:ext cx="3632006" cy="15401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42"/>
              </a:lnSpc>
            </a:pPr>
            <a:r>
              <a:rPr lang="en-US" sz="1412">
                <a:solidFill>
                  <a:srgbClr val="181A1A"/>
                </a:solidFill>
                <a:latin typeface="Canva Sans"/>
                <a:ea typeface="Canva Sans"/>
                <a:cs typeface="Canva Sans"/>
                <a:sym typeface="Canva Sans"/>
              </a:rPr>
              <a:t>Real-time telemetry streams from 500+ EV charging stations via IoT sensors, capturing voltage, current, temperature, session duration, and grid load every 30 seconds into Azure Event Hubs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029938" y="758326"/>
            <a:ext cx="3285710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18"/>
              </a:lnSpc>
            </a:pPr>
            <a:r>
              <a:rPr lang="en-US" b="true" sz="2098">
                <a:solidFill>
                  <a:srgbClr val="181A1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Azure Cloud Processing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029938" y="1335386"/>
            <a:ext cx="3841083" cy="15401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42"/>
              </a:lnSpc>
            </a:pPr>
            <a:r>
              <a:rPr lang="en-US" sz="1412">
                <a:solidFill>
                  <a:srgbClr val="181A1A"/>
                </a:solidFill>
                <a:latin typeface="Canva Sans"/>
                <a:ea typeface="Canva Sans"/>
                <a:cs typeface="Canva Sans"/>
                <a:sym typeface="Canva Sans"/>
              </a:rPr>
              <a:t>Azure Stream Analytics and Databricks ingest, clean, and transform raw telemetry into structured feature sets stored in Azure Data Lake Gen2 for downstream ML consumption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F3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455571" y="1376731"/>
            <a:ext cx="4739166" cy="2944207"/>
          </a:xfrm>
          <a:custGeom>
            <a:avLst/>
            <a:gdLst/>
            <a:ahLst/>
            <a:cxnLst/>
            <a:rect r="r" b="b" t="t" l="l"/>
            <a:pathLst>
              <a:path h="2944207" w="4739166">
                <a:moveTo>
                  <a:pt x="0" y="0"/>
                </a:moveTo>
                <a:lnTo>
                  <a:pt x="4739166" y="0"/>
                </a:lnTo>
                <a:lnTo>
                  <a:pt x="4739166" y="2944207"/>
                </a:lnTo>
                <a:lnTo>
                  <a:pt x="0" y="294420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567250" y="4313437"/>
            <a:ext cx="3807903" cy="12366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12"/>
              </a:lnSpc>
            </a:pPr>
            <a:r>
              <a:rPr lang="en-US" sz="1395">
                <a:solidFill>
                  <a:srgbClr val="181A1A"/>
                </a:solidFill>
                <a:latin typeface="Canva Sans"/>
                <a:ea typeface="Canva Sans"/>
                <a:cs typeface="Canva Sans"/>
                <a:sym typeface="Canva Sans"/>
              </a:rPr>
              <a:t>Time-series features, usage patterns, weather correlations, and demand indicators extracted to enhance model predictive accuracy.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357474" y="6341659"/>
            <a:ext cx="3888832" cy="12366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12"/>
              </a:lnSpc>
            </a:pPr>
            <a:r>
              <a:rPr lang="en-US" sz="1395">
                <a:solidFill>
                  <a:srgbClr val="181A1A"/>
                </a:solidFill>
                <a:latin typeface="Canva Sans"/>
                <a:ea typeface="Canva Sans"/>
                <a:cs typeface="Canva Sans"/>
                <a:sym typeface="Canva Sans"/>
              </a:rPr>
              <a:t>LSTM and XGBoost models trained on Azure ML Studio with k-fold cross-validation, hyperparameter tuning, and performance benchmarking.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567251" y="3821947"/>
            <a:ext cx="5268279" cy="4306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777"/>
              </a:lnSpc>
              <a:spcBef>
                <a:spcPct val="0"/>
              </a:spcBef>
            </a:pPr>
            <a:r>
              <a:rPr lang="en-US" b="true" sz="2098">
                <a:solidFill>
                  <a:srgbClr val="181A1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Feature Engineering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7762408" y="4946323"/>
            <a:ext cx="8146243" cy="2454056"/>
          </a:xfrm>
          <a:custGeom>
            <a:avLst/>
            <a:gdLst/>
            <a:ahLst/>
            <a:cxnLst/>
            <a:rect r="r" b="b" t="t" l="l"/>
            <a:pathLst>
              <a:path h="2454056" w="8146243">
                <a:moveTo>
                  <a:pt x="0" y="0"/>
                </a:moveTo>
                <a:lnTo>
                  <a:pt x="8146243" y="0"/>
                </a:lnTo>
                <a:lnTo>
                  <a:pt x="8146243" y="2454056"/>
                </a:lnTo>
                <a:lnTo>
                  <a:pt x="0" y="245405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2084610" y="6683719"/>
            <a:ext cx="7836774" cy="2723279"/>
          </a:xfrm>
          <a:custGeom>
            <a:avLst/>
            <a:gdLst/>
            <a:ahLst/>
            <a:cxnLst/>
            <a:rect r="r" b="b" t="t" l="l"/>
            <a:pathLst>
              <a:path h="2723279" w="7836774">
                <a:moveTo>
                  <a:pt x="0" y="0"/>
                </a:moveTo>
                <a:lnTo>
                  <a:pt x="7836774" y="0"/>
                </a:lnTo>
                <a:lnTo>
                  <a:pt x="7836774" y="2723279"/>
                </a:lnTo>
                <a:lnTo>
                  <a:pt x="0" y="272327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2354617" y="3866141"/>
            <a:ext cx="4100374" cy="1265990"/>
          </a:xfrm>
          <a:custGeom>
            <a:avLst/>
            <a:gdLst/>
            <a:ahLst/>
            <a:cxnLst/>
            <a:rect r="r" b="b" t="t" l="l"/>
            <a:pathLst>
              <a:path h="1265990" w="4100374">
                <a:moveTo>
                  <a:pt x="0" y="0"/>
                </a:moveTo>
                <a:lnTo>
                  <a:pt x="4100374" y="0"/>
                </a:lnTo>
                <a:lnTo>
                  <a:pt x="4100374" y="1265990"/>
                </a:lnTo>
                <a:lnTo>
                  <a:pt x="0" y="126599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6002997" y="6284747"/>
            <a:ext cx="4936410" cy="968770"/>
          </a:xfrm>
          <a:custGeom>
            <a:avLst/>
            <a:gdLst/>
            <a:ahLst/>
            <a:cxnLst/>
            <a:rect r="r" b="b" t="t" l="l"/>
            <a:pathLst>
              <a:path h="968770" w="4936410">
                <a:moveTo>
                  <a:pt x="0" y="0"/>
                </a:moveTo>
                <a:lnTo>
                  <a:pt x="4936410" y="0"/>
                </a:lnTo>
                <a:lnTo>
                  <a:pt x="4936410" y="968770"/>
                </a:lnTo>
                <a:lnTo>
                  <a:pt x="0" y="96877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609297" y="8267355"/>
            <a:ext cx="4112243" cy="1120586"/>
          </a:xfrm>
          <a:custGeom>
            <a:avLst/>
            <a:gdLst/>
            <a:ahLst/>
            <a:cxnLst/>
            <a:rect r="r" b="b" t="t" l="l"/>
            <a:pathLst>
              <a:path h="1120586" w="4112243">
                <a:moveTo>
                  <a:pt x="0" y="0"/>
                </a:moveTo>
                <a:lnTo>
                  <a:pt x="4112244" y="0"/>
                </a:lnTo>
                <a:lnTo>
                  <a:pt x="4112244" y="1120587"/>
                </a:lnTo>
                <a:lnTo>
                  <a:pt x="0" y="112058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-2906304" y="9020763"/>
            <a:ext cx="4990914" cy="1004422"/>
          </a:xfrm>
          <a:custGeom>
            <a:avLst/>
            <a:gdLst/>
            <a:ahLst/>
            <a:cxnLst/>
            <a:rect r="r" b="b" t="t" l="l"/>
            <a:pathLst>
              <a:path h="1004422" w="4990914">
                <a:moveTo>
                  <a:pt x="0" y="0"/>
                </a:moveTo>
                <a:lnTo>
                  <a:pt x="4990914" y="0"/>
                </a:lnTo>
                <a:lnTo>
                  <a:pt x="4990914" y="1004421"/>
                </a:lnTo>
                <a:lnTo>
                  <a:pt x="0" y="100442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293948" y="4680447"/>
            <a:ext cx="1033508" cy="946234"/>
          </a:xfrm>
          <a:custGeom>
            <a:avLst/>
            <a:gdLst/>
            <a:ahLst/>
            <a:cxnLst/>
            <a:rect r="r" b="b" t="t" l="l"/>
            <a:pathLst>
              <a:path h="946234" w="1033508">
                <a:moveTo>
                  <a:pt x="0" y="0"/>
                </a:moveTo>
                <a:lnTo>
                  <a:pt x="1033508" y="0"/>
                </a:lnTo>
                <a:lnTo>
                  <a:pt x="1033508" y="946234"/>
                </a:lnTo>
                <a:lnTo>
                  <a:pt x="0" y="94623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6488768" y="2584147"/>
            <a:ext cx="1033508" cy="950189"/>
          </a:xfrm>
          <a:custGeom>
            <a:avLst/>
            <a:gdLst/>
            <a:ahLst/>
            <a:cxnLst/>
            <a:rect r="r" b="b" t="t" l="l"/>
            <a:pathLst>
              <a:path h="950189" w="1033508">
                <a:moveTo>
                  <a:pt x="0" y="0"/>
                </a:moveTo>
                <a:lnTo>
                  <a:pt x="1033509" y="0"/>
                </a:lnTo>
                <a:lnTo>
                  <a:pt x="1033509" y="950190"/>
                </a:lnTo>
                <a:lnTo>
                  <a:pt x="0" y="95019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1585627" y="683824"/>
            <a:ext cx="839544" cy="839544"/>
          </a:xfrm>
          <a:custGeom>
            <a:avLst/>
            <a:gdLst/>
            <a:ahLst/>
            <a:cxnLst/>
            <a:rect r="r" b="b" t="t" l="l"/>
            <a:pathLst>
              <a:path h="839544" w="839544">
                <a:moveTo>
                  <a:pt x="0" y="0"/>
                </a:moveTo>
                <a:lnTo>
                  <a:pt x="839544" y="0"/>
                </a:lnTo>
                <a:lnTo>
                  <a:pt x="839544" y="839544"/>
                </a:lnTo>
                <a:lnTo>
                  <a:pt x="0" y="839544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3248726" y="7106656"/>
            <a:ext cx="356157" cy="293723"/>
          </a:xfrm>
          <a:custGeom>
            <a:avLst/>
            <a:gdLst/>
            <a:ahLst/>
            <a:cxnLst/>
            <a:rect r="r" b="b" t="t" l="l"/>
            <a:pathLst>
              <a:path h="293723" w="356157">
                <a:moveTo>
                  <a:pt x="0" y="0"/>
                </a:moveTo>
                <a:lnTo>
                  <a:pt x="356157" y="0"/>
                </a:lnTo>
                <a:lnTo>
                  <a:pt x="356157" y="293723"/>
                </a:lnTo>
                <a:lnTo>
                  <a:pt x="0" y="293723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13248726" y="8827648"/>
            <a:ext cx="4739376" cy="1390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516"/>
              </a:lnSpc>
            </a:pPr>
            <a:r>
              <a:rPr lang="en-US" b="true" sz="4596">
                <a:solidFill>
                  <a:srgbClr val="181A1A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ML Model</a:t>
            </a:r>
          </a:p>
          <a:p>
            <a:pPr algn="l" marL="0" indent="0" lvl="0">
              <a:lnSpc>
                <a:spcPts val="5516"/>
              </a:lnSpc>
            </a:pPr>
            <a:r>
              <a:rPr lang="en-US" b="true" sz="4596">
                <a:solidFill>
                  <a:srgbClr val="181A1A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Development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1531937" y="2230043"/>
            <a:ext cx="3807903" cy="12366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12"/>
              </a:lnSpc>
            </a:pPr>
            <a:r>
              <a:rPr lang="en-US" sz="1395">
                <a:solidFill>
                  <a:srgbClr val="181A1A"/>
                </a:solidFill>
                <a:latin typeface="Canva Sans"/>
                <a:ea typeface="Canva Sans"/>
                <a:cs typeface="Canva Sans"/>
                <a:sym typeface="Canva Sans"/>
              </a:rPr>
              <a:t>Historical EV charging data is cleaned, normalized, and structured. Missing values handled via interpolation; outliers removed using IQR filtering.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531939" y="1738553"/>
            <a:ext cx="5268279" cy="4306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777"/>
              </a:lnSpc>
              <a:spcBef>
                <a:spcPct val="0"/>
              </a:spcBef>
            </a:pPr>
            <a:r>
              <a:rPr lang="en-US" b="true" sz="2098">
                <a:solidFill>
                  <a:srgbClr val="181A1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Data Preprocessing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357473" y="5853026"/>
            <a:ext cx="5268279" cy="4306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777"/>
              </a:lnSpc>
              <a:spcBef>
                <a:spcPct val="0"/>
              </a:spcBef>
            </a:pPr>
            <a:r>
              <a:rPr lang="en-US" b="true" sz="2098">
                <a:solidFill>
                  <a:srgbClr val="181A1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Model Training &amp; Validation</a:t>
            </a:r>
          </a:p>
        </p:txBody>
      </p:sp>
      <p:sp>
        <p:nvSpPr>
          <p:cNvPr name="Freeform 20" id="20"/>
          <p:cNvSpPr/>
          <p:nvPr/>
        </p:nvSpPr>
        <p:spPr>
          <a:xfrm flipH="false" flipV="false" rot="0">
            <a:off x="1592774" y="782768"/>
            <a:ext cx="3532833" cy="2000467"/>
          </a:xfrm>
          <a:custGeom>
            <a:avLst/>
            <a:gdLst/>
            <a:ahLst/>
            <a:cxnLst/>
            <a:rect r="r" b="b" t="t" l="l"/>
            <a:pathLst>
              <a:path h="2000467" w="3532833">
                <a:moveTo>
                  <a:pt x="0" y="0"/>
                </a:moveTo>
                <a:lnTo>
                  <a:pt x="3532833" y="0"/>
                </a:lnTo>
                <a:lnTo>
                  <a:pt x="3532833" y="2000466"/>
                </a:lnTo>
                <a:lnTo>
                  <a:pt x="0" y="2000466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F3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5400000">
            <a:off x="3000052" y="6476715"/>
            <a:ext cx="4308443" cy="3445476"/>
          </a:xfrm>
          <a:custGeom>
            <a:avLst/>
            <a:gdLst/>
            <a:ahLst/>
            <a:cxnLst/>
            <a:rect r="r" b="b" t="t" l="l"/>
            <a:pathLst>
              <a:path h="3445476" w="4308443">
                <a:moveTo>
                  <a:pt x="4308443" y="3445476"/>
                </a:moveTo>
                <a:lnTo>
                  <a:pt x="0" y="3445476"/>
                </a:lnTo>
                <a:lnTo>
                  <a:pt x="0" y="0"/>
                </a:lnTo>
                <a:lnTo>
                  <a:pt x="4308443" y="0"/>
                </a:lnTo>
                <a:lnTo>
                  <a:pt x="4308443" y="344547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5400000">
            <a:off x="4297521" y="3688533"/>
            <a:ext cx="4298088" cy="860893"/>
          </a:xfrm>
          <a:custGeom>
            <a:avLst/>
            <a:gdLst/>
            <a:ahLst/>
            <a:cxnLst/>
            <a:rect r="r" b="b" t="t" l="l"/>
            <a:pathLst>
              <a:path h="860893" w="4298088">
                <a:moveTo>
                  <a:pt x="4298088" y="0"/>
                </a:moveTo>
                <a:lnTo>
                  <a:pt x="0" y="0"/>
                </a:lnTo>
                <a:lnTo>
                  <a:pt x="0" y="860893"/>
                </a:lnTo>
                <a:lnTo>
                  <a:pt x="4298088" y="860893"/>
                </a:lnTo>
                <a:lnTo>
                  <a:pt x="4298088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5400000">
            <a:off x="4297521" y="1562480"/>
            <a:ext cx="4298088" cy="860893"/>
          </a:xfrm>
          <a:custGeom>
            <a:avLst/>
            <a:gdLst/>
            <a:ahLst/>
            <a:cxnLst/>
            <a:rect r="r" b="b" t="t" l="l"/>
            <a:pathLst>
              <a:path h="860893" w="4298088">
                <a:moveTo>
                  <a:pt x="4298088" y="0"/>
                </a:moveTo>
                <a:lnTo>
                  <a:pt x="0" y="0"/>
                </a:lnTo>
                <a:lnTo>
                  <a:pt x="0" y="860893"/>
                </a:lnTo>
                <a:lnTo>
                  <a:pt x="4298088" y="860893"/>
                </a:lnTo>
                <a:lnTo>
                  <a:pt x="4298088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5400000">
            <a:off x="6561666" y="4835994"/>
            <a:ext cx="4298088" cy="860893"/>
          </a:xfrm>
          <a:custGeom>
            <a:avLst/>
            <a:gdLst/>
            <a:ahLst/>
            <a:cxnLst/>
            <a:rect r="r" b="b" t="t" l="l"/>
            <a:pathLst>
              <a:path h="860893" w="4298088">
                <a:moveTo>
                  <a:pt x="4298088" y="0"/>
                </a:moveTo>
                <a:lnTo>
                  <a:pt x="0" y="0"/>
                </a:lnTo>
                <a:lnTo>
                  <a:pt x="0" y="860893"/>
                </a:lnTo>
                <a:lnTo>
                  <a:pt x="4298088" y="860893"/>
                </a:lnTo>
                <a:lnTo>
                  <a:pt x="4298088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5400000">
            <a:off x="6561666" y="979253"/>
            <a:ext cx="4298088" cy="860893"/>
          </a:xfrm>
          <a:custGeom>
            <a:avLst/>
            <a:gdLst/>
            <a:ahLst/>
            <a:cxnLst/>
            <a:rect r="r" b="b" t="t" l="l"/>
            <a:pathLst>
              <a:path h="860893" w="4298088">
                <a:moveTo>
                  <a:pt x="4298088" y="0"/>
                </a:moveTo>
                <a:lnTo>
                  <a:pt x="0" y="0"/>
                </a:lnTo>
                <a:lnTo>
                  <a:pt x="0" y="860893"/>
                </a:lnTo>
                <a:lnTo>
                  <a:pt x="4298088" y="860893"/>
                </a:lnTo>
                <a:lnTo>
                  <a:pt x="4298088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true" rot="-10800000">
            <a:off x="9750756" y="849880"/>
            <a:ext cx="328749" cy="491490"/>
          </a:xfrm>
          <a:custGeom>
            <a:avLst/>
            <a:gdLst/>
            <a:ahLst/>
            <a:cxnLst/>
            <a:rect r="r" b="b" t="t" l="l"/>
            <a:pathLst>
              <a:path h="491490" w="328749">
                <a:moveTo>
                  <a:pt x="328749" y="491490"/>
                </a:moveTo>
                <a:lnTo>
                  <a:pt x="0" y="491490"/>
                </a:lnTo>
                <a:lnTo>
                  <a:pt x="0" y="0"/>
                </a:lnTo>
                <a:lnTo>
                  <a:pt x="328749" y="0"/>
                </a:lnTo>
                <a:lnTo>
                  <a:pt x="328749" y="49149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true" flipV="true" rot="-10800000">
            <a:off x="711686" y="1040380"/>
            <a:ext cx="328749" cy="491490"/>
          </a:xfrm>
          <a:custGeom>
            <a:avLst/>
            <a:gdLst/>
            <a:ahLst/>
            <a:cxnLst/>
            <a:rect r="r" b="b" t="t" l="l"/>
            <a:pathLst>
              <a:path h="491490" w="328749">
                <a:moveTo>
                  <a:pt x="328749" y="491490"/>
                </a:moveTo>
                <a:lnTo>
                  <a:pt x="0" y="491490"/>
                </a:lnTo>
                <a:lnTo>
                  <a:pt x="0" y="0"/>
                </a:lnTo>
                <a:lnTo>
                  <a:pt x="328749" y="0"/>
                </a:lnTo>
                <a:lnTo>
                  <a:pt x="328749" y="49149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true" flipV="true" rot="-10800000">
            <a:off x="711686" y="3957783"/>
            <a:ext cx="328749" cy="491490"/>
          </a:xfrm>
          <a:custGeom>
            <a:avLst/>
            <a:gdLst/>
            <a:ahLst/>
            <a:cxnLst/>
            <a:rect r="r" b="b" t="t" l="l"/>
            <a:pathLst>
              <a:path h="491490" w="328749">
                <a:moveTo>
                  <a:pt x="328749" y="491490"/>
                </a:moveTo>
                <a:lnTo>
                  <a:pt x="0" y="491490"/>
                </a:lnTo>
                <a:lnTo>
                  <a:pt x="0" y="0"/>
                </a:lnTo>
                <a:lnTo>
                  <a:pt x="328749" y="0"/>
                </a:lnTo>
                <a:lnTo>
                  <a:pt x="328749" y="49149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true" flipV="false" rot="5400000">
            <a:off x="6561666" y="7960169"/>
            <a:ext cx="4298088" cy="860893"/>
          </a:xfrm>
          <a:custGeom>
            <a:avLst/>
            <a:gdLst/>
            <a:ahLst/>
            <a:cxnLst/>
            <a:rect r="r" b="b" t="t" l="l"/>
            <a:pathLst>
              <a:path h="860893" w="4298088">
                <a:moveTo>
                  <a:pt x="4298088" y="0"/>
                </a:moveTo>
                <a:lnTo>
                  <a:pt x="0" y="0"/>
                </a:lnTo>
                <a:lnTo>
                  <a:pt x="0" y="860893"/>
                </a:lnTo>
                <a:lnTo>
                  <a:pt x="4298088" y="860893"/>
                </a:lnTo>
                <a:lnTo>
                  <a:pt x="4298088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3297736" y="2893030"/>
            <a:ext cx="4092011" cy="4835464"/>
          </a:xfrm>
          <a:custGeom>
            <a:avLst/>
            <a:gdLst/>
            <a:ahLst/>
            <a:cxnLst/>
            <a:rect r="r" b="b" t="t" l="l"/>
            <a:pathLst>
              <a:path h="4835464" w="4092011">
                <a:moveTo>
                  <a:pt x="0" y="0"/>
                </a:moveTo>
                <a:lnTo>
                  <a:pt x="4092011" y="0"/>
                </a:lnTo>
                <a:lnTo>
                  <a:pt x="4092011" y="4835463"/>
                </a:lnTo>
                <a:lnTo>
                  <a:pt x="0" y="483546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0089030" y="8199453"/>
            <a:ext cx="7487542" cy="666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276"/>
              </a:lnSpc>
            </a:pPr>
            <a:r>
              <a:rPr lang="en-US" b="true" sz="4396">
                <a:solidFill>
                  <a:srgbClr val="181A1A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Prediction Algorithms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393830" y="864168"/>
            <a:ext cx="4442524" cy="3835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14"/>
              </a:lnSpc>
            </a:pPr>
            <a:r>
              <a:rPr lang="en-US" b="true" sz="1841">
                <a:solidFill>
                  <a:srgbClr val="181A1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Time-Series Forecasting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393830" y="1446145"/>
            <a:ext cx="3688821" cy="12366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12"/>
              </a:lnSpc>
            </a:pPr>
            <a:r>
              <a:rPr lang="en-US" sz="1395">
                <a:solidFill>
                  <a:srgbClr val="181A1A"/>
                </a:solidFill>
                <a:latin typeface="Canva Sans"/>
                <a:ea typeface="Canva Sans"/>
                <a:cs typeface="Canva Sans"/>
                <a:sym typeface="Canva Sans"/>
              </a:rPr>
              <a:t>LSTM and ARIMA models analyze historical charging demand patterns to predict future load, enabling proactive grid balancing and resource allocation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331392" y="4014205"/>
            <a:ext cx="4065602" cy="3835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14"/>
              </a:lnSpc>
            </a:pPr>
            <a:r>
              <a:rPr lang="en-US" b="true" sz="1841">
                <a:solidFill>
                  <a:srgbClr val="181A1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Station Availability Classification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331392" y="1045143"/>
            <a:ext cx="4065602" cy="3835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14"/>
              </a:lnSpc>
            </a:pPr>
            <a:r>
              <a:rPr lang="en-US" b="true" sz="1841">
                <a:solidFill>
                  <a:srgbClr val="181A1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Regression for Energy Optimization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331392" y="1593782"/>
            <a:ext cx="3688821" cy="12366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12"/>
              </a:lnSpc>
            </a:pPr>
            <a:r>
              <a:rPr lang="en-US" sz="1395">
                <a:solidFill>
                  <a:srgbClr val="181A1A"/>
                </a:solidFill>
                <a:latin typeface="Canva Sans"/>
                <a:ea typeface="Canva Sans"/>
                <a:cs typeface="Canva Sans"/>
                <a:sym typeface="Canva Sans"/>
              </a:rPr>
              <a:t>Gradient Boosting Regression models optimize energy distribution across charging nodes, minimizing cost and maximizing throughput efficiency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331392" y="4576180"/>
            <a:ext cx="4065602" cy="9223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12"/>
              </a:lnSpc>
            </a:pPr>
            <a:r>
              <a:rPr lang="en-US" sz="1395">
                <a:solidFill>
                  <a:srgbClr val="181A1A"/>
                </a:solidFill>
                <a:latin typeface="Canva Sans"/>
                <a:ea typeface="Canva Sans"/>
                <a:cs typeface="Canva Sans"/>
                <a:sym typeface="Canva Sans"/>
              </a:rPr>
              <a:t>Random Forest and XGBoost classifiers predict real-time station occupancy states, routing EV drivers to available chargers with high accuracy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-2559991" y="7827091"/>
            <a:ext cx="5119982" cy="744725"/>
          </a:xfrm>
          <a:custGeom>
            <a:avLst/>
            <a:gdLst/>
            <a:ahLst/>
            <a:cxnLst/>
            <a:rect r="r" b="b" t="t" l="l"/>
            <a:pathLst>
              <a:path h="744725" w="5119982">
                <a:moveTo>
                  <a:pt x="0" y="0"/>
                </a:moveTo>
                <a:lnTo>
                  <a:pt x="5119982" y="0"/>
                </a:lnTo>
                <a:lnTo>
                  <a:pt x="5119982" y="744725"/>
                </a:lnTo>
                <a:lnTo>
                  <a:pt x="0" y="744725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5400000">
            <a:off x="9824894" y="5313185"/>
            <a:ext cx="3172218" cy="461414"/>
          </a:xfrm>
          <a:custGeom>
            <a:avLst/>
            <a:gdLst/>
            <a:ahLst/>
            <a:cxnLst/>
            <a:rect r="r" b="b" t="t" l="l"/>
            <a:pathLst>
              <a:path h="461414" w="3172218">
                <a:moveTo>
                  <a:pt x="0" y="0"/>
                </a:moveTo>
                <a:lnTo>
                  <a:pt x="3172218" y="0"/>
                </a:lnTo>
                <a:lnTo>
                  <a:pt x="3172218" y="461413"/>
                </a:lnTo>
                <a:lnTo>
                  <a:pt x="0" y="461413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F3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359378" y="6037240"/>
            <a:ext cx="3310111" cy="663004"/>
          </a:xfrm>
          <a:custGeom>
            <a:avLst/>
            <a:gdLst/>
            <a:ahLst/>
            <a:cxnLst/>
            <a:rect r="r" b="b" t="t" l="l"/>
            <a:pathLst>
              <a:path h="663004" w="3310111">
                <a:moveTo>
                  <a:pt x="0" y="0"/>
                </a:moveTo>
                <a:lnTo>
                  <a:pt x="3310111" y="0"/>
                </a:lnTo>
                <a:lnTo>
                  <a:pt x="3310111" y="663005"/>
                </a:lnTo>
                <a:lnTo>
                  <a:pt x="0" y="66300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400000">
            <a:off x="7507822" y="8477389"/>
            <a:ext cx="3318213" cy="664627"/>
          </a:xfrm>
          <a:custGeom>
            <a:avLst/>
            <a:gdLst/>
            <a:ahLst/>
            <a:cxnLst/>
            <a:rect r="r" b="b" t="t" l="l"/>
            <a:pathLst>
              <a:path h="664627" w="3318213">
                <a:moveTo>
                  <a:pt x="0" y="0"/>
                </a:moveTo>
                <a:lnTo>
                  <a:pt x="3318213" y="0"/>
                </a:lnTo>
                <a:lnTo>
                  <a:pt x="3318213" y="664628"/>
                </a:lnTo>
                <a:lnTo>
                  <a:pt x="0" y="6646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5400000">
            <a:off x="749792" y="4129851"/>
            <a:ext cx="3282943" cy="657563"/>
          </a:xfrm>
          <a:custGeom>
            <a:avLst/>
            <a:gdLst/>
            <a:ahLst/>
            <a:cxnLst/>
            <a:rect r="r" b="b" t="t" l="l"/>
            <a:pathLst>
              <a:path h="657563" w="3282943">
                <a:moveTo>
                  <a:pt x="0" y="0"/>
                </a:moveTo>
                <a:lnTo>
                  <a:pt x="3282942" y="0"/>
                </a:lnTo>
                <a:lnTo>
                  <a:pt x="3282942" y="657563"/>
                </a:lnTo>
                <a:lnTo>
                  <a:pt x="0" y="65756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2062482" y="914400"/>
            <a:ext cx="2670195" cy="2670195"/>
          </a:xfrm>
          <a:custGeom>
            <a:avLst/>
            <a:gdLst/>
            <a:ahLst/>
            <a:cxnLst/>
            <a:rect r="r" b="b" t="t" l="l"/>
            <a:pathLst>
              <a:path h="2670195" w="2670195">
                <a:moveTo>
                  <a:pt x="0" y="0"/>
                </a:moveTo>
                <a:lnTo>
                  <a:pt x="2670195" y="0"/>
                </a:lnTo>
                <a:lnTo>
                  <a:pt x="2670195" y="2670195"/>
                </a:lnTo>
                <a:lnTo>
                  <a:pt x="0" y="267019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true" rot="0">
            <a:off x="3200709" y="-1079278"/>
            <a:ext cx="2670195" cy="2670195"/>
          </a:xfrm>
          <a:custGeom>
            <a:avLst/>
            <a:gdLst/>
            <a:ahLst/>
            <a:cxnLst/>
            <a:rect r="r" b="b" t="t" l="l"/>
            <a:pathLst>
              <a:path h="2670195" w="2670195">
                <a:moveTo>
                  <a:pt x="2670195" y="2670194"/>
                </a:moveTo>
                <a:lnTo>
                  <a:pt x="0" y="2670194"/>
                </a:lnTo>
                <a:lnTo>
                  <a:pt x="0" y="0"/>
                </a:lnTo>
                <a:lnTo>
                  <a:pt x="2670195" y="0"/>
                </a:lnTo>
                <a:lnTo>
                  <a:pt x="2670195" y="2670194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3661434" y="8081010"/>
            <a:ext cx="3904685" cy="12366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12"/>
              </a:lnSpc>
            </a:pPr>
            <a:r>
              <a:rPr lang="en-US" sz="1395">
                <a:solidFill>
                  <a:srgbClr val="181A1A"/>
                </a:solidFill>
                <a:latin typeface="Canva Sans"/>
                <a:ea typeface="Canva Sans"/>
                <a:cs typeface="Canva Sans"/>
                <a:sym typeface="Canva Sans"/>
              </a:rPr>
              <a:t>Intelligent power distribution across charging nodes ensures no single station is overloaded, optimizing grid stability and EV throughput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661434" y="7547763"/>
            <a:ext cx="4418940" cy="4516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57"/>
              </a:lnSpc>
              <a:spcBef>
                <a:spcPct val="0"/>
              </a:spcBef>
            </a:pPr>
            <a:r>
              <a:rPr lang="en-US" b="true" sz="2198">
                <a:solidFill>
                  <a:srgbClr val="181A1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Load Balancing Logic</a:t>
            </a:r>
          </a:p>
        </p:txBody>
      </p:sp>
      <p:sp>
        <p:nvSpPr>
          <p:cNvPr name="Freeform 9" id="9"/>
          <p:cNvSpPr/>
          <p:nvPr/>
        </p:nvSpPr>
        <p:spPr>
          <a:xfrm flipH="false" flipV="true" rot="0">
            <a:off x="2062482" y="4030050"/>
            <a:ext cx="2670195" cy="2670195"/>
          </a:xfrm>
          <a:custGeom>
            <a:avLst/>
            <a:gdLst/>
            <a:ahLst/>
            <a:cxnLst/>
            <a:rect r="r" b="b" t="t" l="l"/>
            <a:pathLst>
              <a:path h="2670195" w="2670195">
                <a:moveTo>
                  <a:pt x="0" y="2670195"/>
                </a:moveTo>
                <a:lnTo>
                  <a:pt x="2670195" y="2670195"/>
                </a:lnTo>
                <a:lnTo>
                  <a:pt x="2670195" y="0"/>
                </a:lnTo>
                <a:lnTo>
                  <a:pt x="0" y="0"/>
                </a:lnTo>
                <a:lnTo>
                  <a:pt x="0" y="2670195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true" flipV="false" rot="0">
            <a:off x="6838573" y="6037240"/>
            <a:ext cx="2660670" cy="2660670"/>
          </a:xfrm>
          <a:custGeom>
            <a:avLst/>
            <a:gdLst/>
            <a:ahLst/>
            <a:cxnLst/>
            <a:rect r="r" b="b" t="t" l="l"/>
            <a:pathLst>
              <a:path h="2660670" w="2660670">
                <a:moveTo>
                  <a:pt x="2660670" y="0"/>
                </a:moveTo>
                <a:lnTo>
                  <a:pt x="0" y="0"/>
                </a:lnTo>
                <a:lnTo>
                  <a:pt x="0" y="2660670"/>
                </a:lnTo>
                <a:lnTo>
                  <a:pt x="2660670" y="2660670"/>
                </a:lnTo>
                <a:lnTo>
                  <a:pt x="266067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3695941" y="1828085"/>
            <a:ext cx="451653" cy="430482"/>
          </a:xfrm>
          <a:custGeom>
            <a:avLst/>
            <a:gdLst/>
            <a:ahLst/>
            <a:cxnLst/>
            <a:rect r="r" b="b" t="t" l="l"/>
            <a:pathLst>
              <a:path h="430482" w="451653">
                <a:moveTo>
                  <a:pt x="0" y="0"/>
                </a:moveTo>
                <a:lnTo>
                  <a:pt x="451653" y="0"/>
                </a:lnTo>
                <a:lnTo>
                  <a:pt x="451653" y="430482"/>
                </a:lnTo>
                <a:lnTo>
                  <a:pt x="0" y="43048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3669839" y="6977664"/>
            <a:ext cx="516398" cy="391170"/>
          </a:xfrm>
          <a:custGeom>
            <a:avLst/>
            <a:gdLst/>
            <a:ahLst/>
            <a:cxnLst/>
            <a:rect r="r" b="b" t="t" l="l"/>
            <a:pathLst>
              <a:path h="391170" w="516398">
                <a:moveTo>
                  <a:pt x="0" y="0"/>
                </a:moveTo>
                <a:lnTo>
                  <a:pt x="516398" y="0"/>
                </a:lnTo>
                <a:lnTo>
                  <a:pt x="516398" y="391170"/>
                </a:lnTo>
                <a:lnTo>
                  <a:pt x="0" y="39117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0523443" y="6926264"/>
            <a:ext cx="526677" cy="457551"/>
          </a:xfrm>
          <a:custGeom>
            <a:avLst/>
            <a:gdLst/>
            <a:ahLst/>
            <a:cxnLst/>
            <a:rect r="r" b="b" t="t" l="l"/>
            <a:pathLst>
              <a:path h="457551" w="526677">
                <a:moveTo>
                  <a:pt x="0" y="0"/>
                </a:moveTo>
                <a:lnTo>
                  <a:pt x="526677" y="0"/>
                </a:lnTo>
                <a:lnTo>
                  <a:pt x="526677" y="457551"/>
                </a:lnTo>
                <a:lnTo>
                  <a:pt x="0" y="45755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0525287" y="8081010"/>
            <a:ext cx="4392536" cy="9223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12"/>
              </a:lnSpc>
            </a:pPr>
            <a:r>
              <a:rPr lang="en-US" sz="1395">
                <a:solidFill>
                  <a:srgbClr val="181A1A"/>
                </a:solidFill>
                <a:latin typeface="Canva Sans"/>
                <a:ea typeface="Canva Sans"/>
                <a:cs typeface="Canva Sans"/>
                <a:sym typeface="Canva Sans"/>
              </a:rPr>
              <a:t>Predictive slot allocation and smart queuing minimize user wait times by forecasting station availability using historical usage patterns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204954" y="1848825"/>
            <a:ext cx="5316382" cy="1457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727"/>
              </a:lnSpc>
            </a:pPr>
            <a:r>
              <a:rPr lang="en-US" b="true" sz="4773">
                <a:solidFill>
                  <a:srgbClr val="181A1A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Optimization</a:t>
            </a:r>
          </a:p>
          <a:p>
            <a:pPr algn="l" marL="0" indent="0" lvl="0">
              <a:lnSpc>
                <a:spcPts val="5727"/>
              </a:lnSpc>
            </a:pPr>
            <a:r>
              <a:rPr lang="en-US" b="true" sz="4773">
                <a:solidFill>
                  <a:srgbClr val="181A1A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Engine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498884" y="7588721"/>
            <a:ext cx="4418940" cy="4516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57"/>
              </a:lnSpc>
              <a:spcBef>
                <a:spcPct val="0"/>
              </a:spcBef>
            </a:pPr>
            <a:r>
              <a:rPr lang="en-US" b="true" sz="2198">
                <a:solidFill>
                  <a:srgbClr val="181A1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Queue Management System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3661434" y="2998136"/>
            <a:ext cx="3721352" cy="12366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12"/>
              </a:lnSpc>
            </a:pPr>
            <a:r>
              <a:rPr lang="en-US" sz="1395">
                <a:solidFill>
                  <a:srgbClr val="181A1A"/>
                </a:solidFill>
                <a:latin typeface="Canva Sans"/>
                <a:ea typeface="Canva Sans"/>
                <a:cs typeface="Canva Sans"/>
                <a:sym typeface="Canva Sans"/>
              </a:rPr>
              <a:t>ML-driven real-time pricing adjusts tariffs based on grid demand, time-of-day, and station load to maximize revenue and reduce peak congestion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3661434" y="2392372"/>
            <a:ext cx="4418940" cy="4516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57"/>
              </a:lnSpc>
              <a:spcBef>
                <a:spcPct val="0"/>
              </a:spcBef>
            </a:pPr>
            <a:r>
              <a:rPr lang="en-US" b="true" sz="2198">
                <a:solidFill>
                  <a:srgbClr val="181A1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Dynamic Pricing Algorithms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7846420" y="1756867"/>
            <a:ext cx="3366250" cy="3366250"/>
          </a:xfrm>
          <a:custGeom>
            <a:avLst/>
            <a:gdLst/>
            <a:ahLst/>
            <a:cxnLst/>
            <a:rect r="r" b="b" t="t" l="l"/>
            <a:pathLst>
              <a:path h="3366250" w="3366250">
                <a:moveTo>
                  <a:pt x="0" y="0"/>
                </a:moveTo>
                <a:lnTo>
                  <a:pt x="3366249" y="0"/>
                </a:lnTo>
                <a:lnTo>
                  <a:pt x="3366249" y="3366250"/>
                </a:lnTo>
                <a:lnTo>
                  <a:pt x="0" y="336625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3019500" y="4126024"/>
            <a:ext cx="2234215" cy="2801524"/>
          </a:xfrm>
          <a:custGeom>
            <a:avLst/>
            <a:gdLst/>
            <a:ahLst/>
            <a:cxnLst/>
            <a:rect r="r" b="b" t="t" l="l"/>
            <a:pathLst>
              <a:path h="2801524" w="2234215">
                <a:moveTo>
                  <a:pt x="0" y="0"/>
                </a:moveTo>
                <a:lnTo>
                  <a:pt x="2234215" y="0"/>
                </a:lnTo>
                <a:lnTo>
                  <a:pt x="2234215" y="2801524"/>
                </a:lnTo>
                <a:lnTo>
                  <a:pt x="0" y="2801524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F3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318580" y="4668383"/>
            <a:ext cx="5038288" cy="4836757"/>
          </a:xfrm>
          <a:custGeom>
            <a:avLst/>
            <a:gdLst/>
            <a:ahLst/>
            <a:cxnLst/>
            <a:rect r="r" b="b" t="t" l="l"/>
            <a:pathLst>
              <a:path h="4836757" w="5038288">
                <a:moveTo>
                  <a:pt x="0" y="0"/>
                </a:moveTo>
                <a:lnTo>
                  <a:pt x="5038289" y="0"/>
                </a:lnTo>
                <a:lnTo>
                  <a:pt x="5038289" y="4836757"/>
                </a:lnTo>
                <a:lnTo>
                  <a:pt x="0" y="483675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400000">
            <a:off x="6913240" y="2003613"/>
            <a:ext cx="5678327" cy="1526050"/>
          </a:xfrm>
          <a:custGeom>
            <a:avLst/>
            <a:gdLst/>
            <a:ahLst/>
            <a:cxnLst/>
            <a:rect r="r" b="b" t="t" l="l"/>
            <a:pathLst>
              <a:path h="1526050" w="5678327">
                <a:moveTo>
                  <a:pt x="0" y="0"/>
                </a:moveTo>
                <a:lnTo>
                  <a:pt x="5678327" y="0"/>
                </a:lnTo>
                <a:lnTo>
                  <a:pt x="5678327" y="1526051"/>
                </a:lnTo>
                <a:lnTo>
                  <a:pt x="0" y="152605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263553" y="7954041"/>
            <a:ext cx="5551325" cy="1353135"/>
          </a:xfrm>
          <a:custGeom>
            <a:avLst/>
            <a:gdLst/>
            <a:ahLst/>
            <a:cxnLst/>
            <a:rect r="r" b="b" t="t" l="l"/>
            <a:pathLst>
              <a:path h="1353135" w="5551325">
                <a:moveTo>
                  <a:pt x="0" y="0"/>
                </a:moveTo>
                <a:lnTo>
                  <a:pt x="5551325" y="0"/>
                </a:lnTo>
                <a:lnTo>
                  <a:pt x="5551325" y="1353136"/>
                </a:lnTo>
                <a:lnTo>
                  <a:pt x="0" y="135313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679622" y="3099567"/>
            <a:ext cx="4826594" cy="1447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759"/>
              </a:lnSpc>
            </a:pPr>
            <a:r>
              <a:rPr lang="en-US" b="true" sz="4800">
                <a:solidFill>
                  <a:srgbClr val="181A1A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Technology Stack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2235824" y="3385332"/>
            <a:ext cx="5023476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18"/>
              </a:lnSpc>
            </a:pPr>
            <a:r>
              <a:rPr lang="en-US" b="true" sz="2098">
                <a:solidFill>
                  <a:srgbClr val="181A1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Microsoft Azure Cloud Services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235824" y="4033032"/>
            <a:ext cx="5452528" cy="9223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12"/>
              </a:lnSpc>
            </a:pPr>
            <a:r>
              <a:rPr lang="en-US" sz="1395">
                <a:solidFill>
                  <a:srgbClr val="181A1A"/>
                </a:solidFill>
                <a:latin typeface="Canva Sans"/>
                <a:ea typeface="Canva Sans"/>
                <a:cs typeface="Canva Sans"/>
                <a:sym typeface="Canva Sans"/>
              </a:rPr>
              <a:t>Azure IoT Hub, Azure ML Studio, Azure Kubernetes Service (AKS), Azure SQL, Blob Storage, and Azure API Management for scalable cloud infrastructure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235824" y="1398375"/>
            <a:ext cx="4410790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18"/>
              </a:lnSpc>
            </a:pPr>
            <a:r>
              <a:rPr lang="en-US" b="true" sz="2098">
                <a:solidFill>
                  <a:srgbClr val="181A1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Python &amp; TensorFlow (ML Layer)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235824" y="2041313"/>
            <a:ext cx="5452528" cy="9223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12"/>
              </a:lnSpc>
            </a:pPr>
            <a:r>
              <a:rPr lang="en-US" sz="1395">
                <a:solidFill>
                  <a:srgbClr val="181A1A"/>
                </a:solidFill>
                <a:latin typeface="Canva Sans"/>
                <a:ea typeface="Canva Sans"/>
                <a:cs typeface="Canva Sans"/>
                <a:sym typeface="Canva Sans"/>
              </a:rPr>
              <a:t>Core ML engine built with Python 3.10, TensorFlow 2.x, Scikit-learn, and Pandas for demand forecasting, load balancing, and predictive maintenance models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235824" y="5572020"/>
            <a:ext cx="4410790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18"/>
              </a:lnSpc>
            </a:pPr>
            <a:r>
              <a:rPr lang="en-US" b="true" sz="2098">
                <a:solidFill>
                  <a:srgbClr val="181A1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React.js Analytics Dashboard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235824" y="7596783"/>
            <a:ext cx="4410790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18"/>
              </a:lnSpc>
            </a:pPr>
            <a:r>
              <a:rPr lang="en-US" b="true" sz="2098">
                <a:solidFill>
                  <a:srgbClr val="181A1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PostgreSQL Database Layer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235824" y="6219720"/>
            <a:ext cx="5452528" cy="9223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12"/>
              </a:lnSpc>
            </a:pPr>
            <a:r>
              <a:rPr lang="en-US" sz="1395">
                <a:solidFill>
                  <a:srgbClr val="181A1A"/>
                </a:solidFill>
                <a:latin typeface="Canva Sans"/>
                <a:ea typeface="Canva Sans"/>
                <a:cs typeface="Canva Sans"/>
                <a:sym typeface="Canva Sans"/>
              </a:rPr>
              <a:t>Interactive frontend built with React.js 18, TypeScript, Chart.js, and Tailwind CSS for real-time EV charging network visualization and operator control panels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235824" y="8244483"/>
            <a:ext cx="5452528" cy="9223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12"/>
              </a:lnSpc>
            </a:pPr>
            <a:r>
              <a:rPr lang="en-US" sz="1395">
                <a:solidFill>
                  <a:srgbClr val="181A1A"/>
                </a:solidFill>
                <a:latin typeface="Canva Sans"/>
                <a:ea typeface="Canva Sans"/>
                <a:cs typeface="Canva Sans"/>
                <a:sym typeface="Canva Sans"/>
              </a:rPr>
              <a:t>PostgreSQL 15 with TimescaleDB extension for time-series charging data, Redis for caching, and Azure Cosmos DB for distributed session and telemetry storage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10902597" y="1274802"/>
            <a:ext cx="694821" cy="694821"/>
          </a:xfrm>
          <a:custGeom>
            <a:avLst/>
            <a:gdLst/>
            <a:ahLst/>
            <a:cxnLst/>
            <a:rect r="r" b="b" t="t" l="l"/>
            <a:pathLst>
              <a:path h="694821" w="694821">
                <a:moveTo>
                  <a:pt x="0" y="0"/>
                </a:moveTo>
                <a:lnTo>
                  <a:pt x="694821" y="0"/>
                </a:lnTo>
                <a:lnTo>
                  <a:pt x="694821" y="694821"/>
                </a:lnTo>
                <a:lnTo>
                  <a:pt x="0" y="69482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0902597" y="3294803"/>
            <a:ext cx="694821" cy="694821"/>
          </a:xfrm>
          <a:custGeom>
            <a:avLst/>
            <a:gdLst/>
            <a:ahLst/>
            <a:cxnLst/>
            <a:rect r="r" b="b" t="t" l="l"/>
            <a:pathLst>
              <a:path h="694821" w="694821">
                <a:moveTo>
                  <a:pt x="0" y="0"/>
                </a:moveTo>
                <a:lnTo>
                  <a:pt x="694821" y="0"/>
                </a:lnTo>
                <a:lnTo>
                  <a:pt x="694821" y="694821"/>
                </a:lnTo>
                <a:lnTo>
                  <a:pt x="0" y="69482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0902597" y="5448447"/>
            <a:ext cx="694821" cy="694821"/>
          </a:xfrm>
          <a:custGeom>
            <a:avLst/>
            <a:gdLst/>
            <a:ahLst/>
            <a:cxnLst/>
            <a:rect r="r" b="b" t="t" l="l"/>
            <a:pathLst>
              <a:path h="694821" w="694821">
                <a:moveTo>
                  <a:pt x="0" y="0"/>
                </a:moveTo>
                <a:lnTo>
                  <a:pt x="694821" y="0"/>
                </a:lnTo>
                <a:lnTo>
                  <a:pt x="694821" y="694821"/>
                </a:lnTo>
                <a:lnTo>
                  <a:pt x="0" y="69482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0902597" y="7473210"/>
            <a:ext cx="694821" cy="694821"/>
          </a:xfrm>
          <a:custGeom>
            <a:avLst/>
            <a:gdLst/>
            <a:ahLst/>
            <a:cxnLst/>
            <a:rect r="r" b="b" t="t" l="l"/>
            <a:pathLst>
              <a:path h="694821" w="694821">
                <a:moveTo>
                  <a:pt x="0" y="0"/>
                </a:moveTo>
                <a:lnTo>
                  <a:pt x="694821" y="0"/>
                </a:lnTo>
                <a:lnTo>
                  <a:pt x="694821" y="694821"/>
                </a:lnTo>
                <a:lnTo>
                  <a:pt x="0" y="69482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-1832384" y="-785291"/>
            <a:ext cx="3977213" cy="2267012"/>
          </a:xfrm>
          <a:custGeom>
            <a:avLst/>
            <a:gdLst/>
            <a:ahLst/>
            <a:cxnLst/>
            <a:rect r="r" b="b" t="t" l="l"/>
            <a:pathLst>
              <a:path h="2267012" w="3977213">
                <a:moveTo>
                  <a:pt x="0" y="0"/>
                </a:moveTo>
                <a:lnTo>
                  <a:pt x="3977214" y="0"/>
                </a:lnTo>
                <a:lnTo>
                  <a:pt x="3977214" y="2267012"/>
                </a:lnTo>
                <a:lnTo>
                  <a:pt x="0" y="226701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4645871" y="5819253"/>
            <a:ext cx="3922282" cy="2235701"/>
          </a:xfrm>
          <a:custGeom>
            <a:avLst/>
            <a:gdLst/>
            <a:ahLst/>
            <a:cxnLst/>
            <a:rect r="r" b="b" t="t" l="l"/>
            <a:pathLst>
              <a:path h="2235701" w="3922282">
                <a:moveTo>
                  <a:pt x="0" y="0"/>
                </a:moveTo>
                <a:lnTo>
                  <a:pt x="3922282" y="0"/>
                </a:lnTo>
                <a:lnTo>
                  <a:pt x="3922282" y="2235701"/>
                </a:lnTo>
                <a:lnTo>
                  <a:pt x="0" y="223570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F3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5400000">
            <a:off x="6017211" y="5791601"/>
            <a:ext cx="4308443" cy="3445476"/>
          </a:xfrm>
          <a:custGeom>
            <a:avLst/>
            <a:gdLst/>
            <a:ahLst/>
            <a:cxnLst/>
            <a:rect r="r" b="b" t="t" l="l"/>
            <a:pathLst>
              <a:path h="3445476" w="4308443">
                <a:moveTo>
                  <a:pt x="0" y="3445476"/>
                </a:moveTo>
                <a:lnTo>
                  <a:pt x="4308443" y="3445476"/>
                </a:lnTo>
                <a:lnTo>
                  <a:pt x="4308443" y="0"/>
                </a:lnTo>
                <a:lnTo>
                  <a:pt x="0" y="0"/>
                </a:lnTo>
                <a:lnTo>
                  <a:pt x="0" y="344547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5400000">
            <a:off x="4730097" y="2857176"/>
            <a:ext cx="4298088" cy="860893"/>
          </a:xfrm>
          <a:custGeom>
            <a:avLst/>
            <a:gdLst/>
            <a:ahLst/>
            <a:cxnLst/>
            <a:rect r="r" b="b" t="t" l="l"/>
            <a:pathLst>
              <a:path h="860893" w="4298088">
                <a:moveTo>
                  <a:pt x="0" y="0"/>
                </a:moveTo>
                <a:lnTo>
                  <a:pt x="4298088" y="0"/>
                </a:lnTo>
                <a:lnTo>
                  <a:pt x="4298088" y="860893"/>
                </a:lnTo>
                <a:lnTo>
                  <a:pt x="0" y="86089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5400000">
            <a:off x="4730097" y="654574"/>
            <a:ext cx="4298088" cy="860893"/>
          </a:xfrm>
          <a:custGeom>
            <a:avLst/>
            <a:gdLst/>
            <a:ahLst/>
            <a:cxnLst/>
            <a:rect r="r" b="b" t="t" l="l"/>
            <a:pathLst>
              <a:path h="860893" w="4298088">
                <a:moveTo>
                  <a:pt x="0" y="0"/>
                </a:moveTo>
                <a:lnTo>
                  <a:pt x="4298088" y="0"/>
                </a:lnTo>
                <a:lnTo>
                  <a:pt x="4298088" y="860893"/>
                </a:lnTo>
                <a:lnTo>
                  <a:pt x="0" y="86089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5400000">
            <a:off x="7314680" y="10322930"/>
            <a:ext cx="4298088" cy="860893"/>
          </a:xfrm>
          <a:custGeom>
            <a:avLst/>
            <a:gdLst/>
            <a:ahLst/>
            <a:cxnLst/>
            <a:rect r="r" b="b" t="t" l="l"/>
            <a:pathLst>
              <a:path h="860893" w="4298088">
                <a:moveTo>
                  <a:pt x="0" y="0"/>
                </a:moveTo>
                <a:lnTo>
                  <a:pt x="4298088" y="0"/>
                </a:lnTo>
                <a:lnTo>
                  <a:pt x="4298088" y="860893"/>
                </a:lnTo>
                <a:lnTo>
                  <a:pt x="0" y="86089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6879141" y="823913"/>
            <a:ext cx="948173" cy="948173"/>
          </a:xfrm>
          <a:custGeom>
            <a:avLst/>
            <a:gdLst/>
            <a:ahLst/>
            <a:cxnLst/>
            <a:rect r="r" b="b" t="t" l="l"/>
            <a:pathLst>
              <a:path h="948173" w="948173">
                <a:moveTo>
                  <a:pt x="0" y="0"/>
                </a:moveTo>
                <a:lnTo>
                  <a:pt x="948173" y="0"/>
                </a:lnTo>
                <a:lnTo>
                  <a:pt x="948173" y="948172"/>
                </a:lnTo>
                <a:lnTo>
                  <a:pt x="0" y="94817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6835501" y="2828870"/>
            <a:ext cx="948173" cy="948173"/>
          </a:xfrm>
          <a:custGeom>
            <a:avLst/>
            <a:gdLst/>
            <a:ahLst/>
            <a:cxnLst/>
            <a:rect r="r" b="b" t="t" l="l"/>
            <a:pathLst>
              <a:path h="948173" w="948173">
                <a:moveTo>
                  <a:pt x="0" y="0"/>
                </a:moveTo>
                <a:lnTo>
                  <a:pt x="948173" y="0"/>
                </a:lnTo>
                <a:lnTo>
                  <a:pt x="948173" y="948172"/>
                </a:lnTo>
                <a:lnTo>
                  <a:pt x="0" y="94817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6835501" y="4962581"/>
            <a:ext cx="948173" cy="948173"/>
          </a:xfrm>
          <a:custGeom>
            <a:avLst/>
            <a:gdLst/>
            <a:ahLst/>
            <a:cxnLst/>
            <a:rect r="r" b="b" t="t" l="l"/>
            <a:pathLst>
              <a:path h="948173" w="948173">
                <a:moveTo>
                  <a:pt x="0" y="0"/>
                </a:moveTo>
                <a:lnTo>
                  <a:pt x="948173" y="0"/>
                </a:lnTo>
                <a:lnTo>
                  <a:pt x="948173" y="948172"/>
                </a:lnTo>
                <a:lnTo>
                  <a:pt x="0" y="94817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9420084" y="7251979"/>
            <a:ext cx="948173" cy="948173"/>
          </a:xfrm>
          <a:custGeom>
            <a:avLst/>
            <a:gdLst/>
            <a:ahLst/>
            <a:cxnLst/>
            <a:rect r="r" b="b" t="t" l="l"/>
            <a:pathLst>
              <a:path h="948173" w="948173">
                <a:moveTo>
                  <a:pt x="0" y="0"/>
                </a:moveTo>
                <a:lnTo>
                  <a:pt x="948173" y="0"/>
                </a:lnTo>
                <a:lnTo>
                  <a:pt x="948173" y="948173"/>
                </a:lnTo>
                <a:lnTo>
                  <a:pt x="0" y="94817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410452" y="2685909"/>
            <a:ext cx="4034432" cy="8891311"/>
          </a:xfrm>
          <a:custGeom>
            <a:avLst/>
            <a:gdLst/>
            <a:ahLst/>
            <a:cxnLst/>
            <a:rect r="r" b="b" t="t" l="l"/>
            <a:pathLst>
              <a:path h="8891311" w="4034432">
                <a:moveTo>
                  <a:pt x="0" y="0"/>
                </a:moveTo>
                <a:lnTo>
                  <a:pt x="4034433" y="0"/>
                </a:lnTo>
                <a:lnTo>
                  <a:pt x="4034433" y="8891311"/>
                </a:lnTo>
                <a:lnTo>
                  <a:pt x="0" y="889131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8396438" y="5242616"/>
            <a:ext cx="5562404" cy="9223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12"/>
              </a:lnSpc>
            </a:pPr>
            <a:r>
              <a:rPr lang="en-US" sz="1395">
                <a:solidFill>
                  <a:srgbClr val="181A1A"/>
                </a:solidFill>
                <a:latin typeface="Canva Sans"/>
                <a:ea typeface="Canva Sans"/>
                <a:cs typeface="Canva Sans"/>
                <a:sym typeface="Canva Sans"/>
              </a:rPr>
              <a:t>Captures real-time sensor streams: voltage, current, temperature, connector status, fault codes, and uptime metrics ingested via Azure IoT Hub.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396438" y="4713026"/>
            <a:ext cx="4916676" cy="4516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57"/>
              </a:lnSpc>
              <a:spcBef>
                <a:spcPct val="0"/>
              </a:spcBef>
            </a:pPr>
            <a:r>
              <a:rPr lang="en-US" b="true" sz="2198">
                <a:solidFill>
                  <a:srgbClr val="181A1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Station Telemetry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28700" y="1927018"/>
            <a:ext cx="4104197" cy="1352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392"/>
              </a:lnSpc>
            </a:pPr>
            <a:r>
              <a:rPr lang="en-US" b="true" sz="4493">
                <a:solidFill>
                  <a:srgbClr val="181A1A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Database Design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396438" y="3237658"/>
            <a:ext cx="5879084" cy="9223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12"/>
              </a:lnSpc>
            </a:pPr>
            <a:r>
              <a:rPr lang="en-US" sz="1395">
                <a:solidFill>
                  <a:srgbClr val="181A1A"/>
                </a:solidFill>
                <a:latin typeface="Canva Sans"/>
                <a:ea typeface="Canva Sans"/>
                <a:cs typeface="Canva Sans"/>
                <a:sym typeface="Canva Sans"/>
              </a:rPr>
              <a:t>Records every session event including start/end timestamps, energy consumed (kWh), cost billed, payment method, and station ID for billing and analytics.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873826" y="7640340"/>
            <a:ext cx="5298731" cy="9223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12"/>
              </a:lnSpc>
            </a:pPr>
            <a:r>
              <a:rPr lang="en-US" sz="1395">
                <a:solidFill>
                  <a:srgbClr val="181A1A"/>
                </a:solidFill>
                <a:latin typeface="Canva Sans"/>
                <a:ea typeface="Canva Sans"/>
                <a:cs typeface="Canva Sans"/>
                <a:sym typeface="Canva Sans"/>
              </a:rPr>
              <a:t>Persists ML model inference results including demand forecasts, anomaly scores, maintenance alerts, and load optimization recommendations per station.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8453086" y="1229678"/>
            <a:ext cx="5822437" cy="9223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12"/>
              </a:lnSpc>
            </a:pPr>
            <a:r>
              <a:rPr lang="en-US" sz="1395">
                <a:solidFill>
                  <a:srgbClr val="181A1A"/>
                </a:solidFill>
                <a:latin typeface="Canva Sans"/>
                <a:ea typeface="Canva Sans"/>
                <a:cs typeface="Canva Sans"/>
                <a:sym typeface="Canva Sans"/>
              </a:rPr>
              <a:t>Stores EV owner identity, vehicle specifications, subscription tier, preferred charging behavior, and historical usage patterns for personalized service delivery.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8453086" y="700088"/>
            <a:ext cx="4916676" cy="4516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57"/>
              </a:lnSpc>
              <a:spcBef>
                <a:spcPct val="0"/>
              </a:spcBef>
            </a:pPr>
            <a:r>
              <a:rPr lang="en-US" b="true" sz="2198">
                <a:solidFill>
                  <a:srgbClr val="181A1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User Profiles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8396438" y="2705045"/>
            <a:ext cx="4916676" cy="4516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57"/>
              </a:lnSpc>
              <a:spcBef>
                <a:spcPct val="0"/>
              </a:spcBef>
            </a:pPr>
            <a:r>
              <a:rPr lang="en-US" b="true" sz="2198">
                <a:solidFill>
                  <a:srgbClr val="181A1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Charging Transactions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873825" y="7080333"/>
            <a:ext cx="4916676" cy="4516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57"/>
              </a:lnSpc>
              <a:spcBef>
                <a:spcPct val="0"/>
              </a:spcBef>
            </a:pPr>
            <a:r>
              <a:rPr lang="en-US" b="true" sz="2198">
                <a:solidFill>
                  <a:srgbClr val="181A1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Prediction Outputs</a:t>
            </a:r>
          </a:p>
        </p:txBody>
      </p:sp>
      <p:sp>
        <p:nvSpPr>
          <p:cNvPr name="Freeform 20" id="20"/>
          <p:cNvSpPr/>
          <p:nvPr/>
        </p:nvSpPr>
        <p:spPr>
          <a:xfrm flipH="false" flipV="false" rot="-5400000">
            <a:off x="14087399" y="2081683"/>
            <a:ext cx="4072802" cy="2321497"/>
          </a:xfrm>
          <a:custGeom>
            <a:avLst/>
            <a:gdLst/>
            <a:ahLst/>
            <a:cxnLst/>
            <a:rect r="r" b="b" t="t" l="l"/>
            <a:pathLst>
              <a:path h="2321497" w="4072802">
                <a:moveTo>
                  <a:pt x="0" y="0"/>
                </a:moveTo>
                <a:lnTo>
                  <a:pt x="4072802" y="0"/>
                </a:lnTo>
                <a:lnTo>
                  <a:pt x="4072802" y="2321497"/>
                </a:lnTo>
                <a:lnTo>
                  <a:pt x="0" y="232149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F3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874688" y="3308030"/>
            <a:ext cx="2670195" cy="2670195"/>
          </a:xfrm>
          <a:custGeom>
            <a:avLst/>
            <a:gdLst/>
            <a:ahLst/>
            <a:cxnLst/>
            <a:rect r="r" b="b" t="t" l="l"/>
            <a:pathLst>
              <a:path h="2670195" w="2670195">
                <a:moveTo>
                  <a:pt x="0" y="0"/>
                </a:moveTo>
                <a:lnTo>
                  <a:pt x="2670195" y="0"/>
                </a:lnTo>
                <a:lnTo>
                  <a:pt x="2670195" y="2670194"/>
                </a:lnTo>
                <a:lnTo>
                  <a:pt x="0" y="26701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619104" y="4796592"/>
            <a:ext cx="5049793" cy="4516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957"/>
              </a:lnSpc>
            </a:pPr>
            <a:r>
              <a:rPr lang="en-US" b="true" sz="2198">
                <a:solidFill>
                  <a:srgbClr val="181A1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REST APIs — Mobile &amp; Web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7089999" y="5548890"/>
            <a:ext cx="4075274" cy="17296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791"/>
              </a:lnSpc>
            </a:pPr>
            <a:r>
              <a:rPr lang="en-US" sz="1551">
                <a:solidFill>
                  <a:srgbClr val="181A1A"/>
                </a:solidFill>
                <a:latin typeface="Canva Sans"/>
                <a:ea typeface="Canva Sans"/>
                <a:cs typeface="Canva Sans"/>
                <a:sym typeface="Canva Sans"/>
              </a:rPr>
              <a:t>Stateless RESTful endpoints expose charging station data, session management, and user authentication to mobile apps and web dashboards with JWT-secured, versioned API contracts</a:t>
            </a:r>
          </a:p>
        </p:txBody>
      </p:sp>
      <p:sp>
        <p:nvSpPr>
          <p:cNvPr name="Freeform 5" id="5"/>
          <p:cNvSpPr/>
          <p:nvPr/>
        </p:nvSpPr>
        <p:spPr>
          <a:xfrm flipH="true" flipV="true" rot="0">
            <a:off x="2871651" y="4059377"/>
            <a:ext cx="2670195" cy="2670195"/>
          </a:xfrm>
          <a:custGeom>
            <a:avLst/>
            <a:gdLst/>
            <a:ahLst/>
            <a:cxnLst/>
            <a:rect r="r" b="b" t="t" l="l"/>
            <a:pathLst>
              <a:path h="2670195" w="2670195">
                <a:moveTo>
                  <a:pt x="2670194" y="2670195"/>
                </a:moveTo>
                <a:lnTo>
                  <a:pt x="0" y="2670195"/>
                </a:lnTo>
                <a:lnTo>
                  <a:pt x="0" y="0"/>
                </a:lnTo>
                <a:lnTo>
                  <a:pt x="2670194" y="0"/>
                </a:lnTo>
                <a:lnTo>
                  <a:pt x="2670194" y="2670195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10690297" y="3308030"/>
            <a:ext cx="2670195" cy="2670195"/>
          </a:xfrm>
          <a:custGeom>
            <a:avLst/>
            <a:gdLst/>
            <a:ahLst/>
            <a:cxnLst/>
            <a:rect r="r" b="b" t="t" l="l"/>
            <a:pathLst>
              <a:path h="2670195" w="2670195">
                <a:moveTo>
                  <a:pt x="2670195" y="0"/>
                </a:moveTo>
                <a:lnTo>
                  <a:pt x="0" y="0"/>
                </a:lnTo>
                <a:lnTo>
                  <a:pt x="0" y="2670194"/>
                </a:lnTo>
                <a:lnTo>
                  <a:pt x="2670195" y="2670194"/>
                </a:lnTo>
                <a:lnTo>
                  <a:pt x="2670195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true" rot="0">
            <a:off x="12689274" y="4059377"/>
            <a:ext cx="2670195" cy="2670195"/>
          </a:xfrm>
          <a:custGeom>
            <a:avLst/>
            <a:gdLst/>
            <a:ahLst/>
            <a:cxnLst/>
            <a:rect r="r" b="b" t="t" l="l"/>
            <a:pathLst>
              <a:path h="2670195" w="2670195">
                <a:moveTo>
                  <a:pt x="0" y="2670195"/>
                </a:moveTo>
                <a:lnTo>
                  <a:pt x="2670194" y="2670195"/>
                </a:lnTo>
                <a:lnTo>
                  <a:pt x="2670194" y="0"/>
                </a:lnTo>
                <a:lnTo>
                  <a:pt x="0" y="0"/>
                </a:lnTo>
                <a:lnTo>
                  <a:pt x="0" y="2670195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7489745" y="3308030"/>
            <a:ext cx="3290053" cy="658987"/>
          </a:xfrm>
          <a:custGeom>
            <a:avLst/>
            <a:gdLst/>
            <a:ahLst/>
            <a:cxnLst/>
            <a:rect r="r" b="b" t="t" l="l"/>
            <a:pathLst>
              <a:path h="658987" w="3290053">
                <a:moveTo>
                  <a:pt x="0" y="0"/>
                </a:moveTo>
                <a:lnTo>
                  <a:pt x="3290053" y="0"/>
                </a:lnTo>
                <a:lnTo>
                  <a:pt x="3290053" y="658986"/>
                </a:lnTo>
                <a:lnTo>
                  <a:pt x="0" y="65898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5269968" y="6070585"/>
            <a:ext cx="3290053" cy="658987"/>
          </a:xfrm>
          <a:custGeom>
            <a:avLst/>
            <a:gdLst/>
            <a:ahLst/>
            <a:cxnLst/>
            <a:rect r="r" b="b" t="t" l="l"/>
            <a:pathLst>
              <a:path h="658987" w="3290053">
                <a:moveTo>
                  <a:pt x="0" y="0"/>
                </a:moveTo>
                <a:lnTo>
                  <a:pt x="3290053" y="0"/>
                </a:lnTo>
                <a:lnTo>
                  <a:pt x="3290053" y="658987"/>
                </a:lnTo>
                <a:lnTo>
                  <a:pt x="0" y="65898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-378871" y="6070585"/>
            <a:ext cx="3290053" cy="658987"/>
          </a:xfrm>
          <a:custGeom>
            <a:avLst/>
            <a:gdLst/>
            <a:ahLst/>
            <a:cxnLst/>
            <a:rect r="r" b="b" t="t" l="l"/>
            <a:pathLst>
              <a:path h="658987" w="3290053">
                <a:moveTo>
                  <a:pt x="0" y="0"/>
                </a:moveTo>
                <a:lnTo>
                  <a:pt x="3290053" y="0"/>
                </a:lnTo>
                <a:lnTo>
                  <a:pt x="3290053" y="658987"/>
                </a:lnTo>
                <a:lnTo>
                  <a:pt x="0" y="65898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8370069" y="2874460"/>
            <a:ext cx="1547862" cy="1526125"/>
            <a:chOff x="0" y="0"/>
            <a:chExt cx="812800" cy="80137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6050" y="0"/>
              <a:ext cx="800699" cy="800100"/>
            </a:xfrm>
            <a:custGeom>
              <a:avLst/>
              <a:gdLst/>
              <a:ahLst/>
              <a:cxnLst/>
              <a:rect r="r" b="b" t="t" l="l"/>
              <a:pathLst>
                <a:path h="800100" w="800699">
                  <a:moveTo>
                    <a:pt x="537510" y="24130"/>
                  </a:moveTo>
                  <a:lnTo>
                    <a:pt x="537510" y="24130"/>
                  </a:lnTo>
                  <a:cubicBezTo>
                    <a:pt x="581206" y="40096"/>
                    <a:pt x="621807" y="63510"/>
                    <a:pt x="657512" y="93334"/>
                  </a:cubicBezTo>
                  <a:lnTo>
                    <a:pt x="657525" y="93345"/>
                  </a:lnTo>
                  <a:cubicBezTo>
                    <a:pt x="693229" y="123169"/>
                    <a:pt x="723403" y="159047"/>
                    <a:pt x="746662" y="199336"/>
                  </a:cubicBezTo>
                  <a:lnTo>
                    <a:pt x="747492" y="200773"/>
                  </a:lnTo>
                  <a:cubicBezTo>
                    <a:pt x="770729" y="241024"/>
                    <a:pt x="786704" y="285049"/>
                    <a:pt x="794685" y="330835"/>
                  </a:cubicBezTo>
                  <a:lnTo>
                    <a:pt x="794685" y="330835"/>
                  </a:lnTo>
                  <a:cubicBezTo>
                    <a:pt x="802669" y="376636"/>
                    <a:pt x="802705" y="423470"/>
                    <a:pt x="794791" y="469283"/>
                  </a:cubicBezTo>
                  <a:lnTo>
                    <a:pt x="794632" y="470206"/>
                  </a:lnTo>
                  <a:cubicBezTo>
                    <a:pt x="786688" y="516197"/>
                    <a:pt x="770577" y="560395"/>
                    <a:pt x="747060" y="600710"/>
                  </a:cubicBezTo>
                  <a:lnTo>
                    <a:pt x="746936" y="600923"/>
                  </a:lnTo>
                  <a:cubicBezTo>
                    <a:pt x="723490" y="641115"/>
                    <a:pt x="693236" y="676925"/>
                    <a:pt x="657525" y="706755"/>
                  </a:cubicBezTo>
                  <a:lnTo>
                    <a:pt x="657512" y="706766"/>
                  </a:lnTo>
                  <a:cubicBezTo>
                    <a:pt x="621807" y="736590"/>
                    <a:pt x="581206" y="760004"/>
                    <a:pt x="537510" y="775970"/>
                  </a:cubicBezTo>
                  <a:lnTo>
                    <a:pt x="537510" y="775970"/>
                  </a:lnTo>
                  <a:cubicBezTo>
                    <a:pt x="493823" y="791933"/>
                    <a:pt x="447672" y="800100"/>
                    <a:pt x="401160" y="800100"/>
                  </a:cubicBezTo>
                  <a:lnTo>
                    <a:pt x="399540" y="800100"/>
                  </a:lnTo>
                  <a:cubicBezTo>
                    <a:pt x="353028" y="800100"/>
                    <a:pt x="306877" y="791933"/>
                    <a:pt x="263190" y="775970"/>
                  </a:cubicBezTo>
                  <a:lnTo>
                    <a:pt x="263190" y="775970"/>
                  </a:lnTo>
                  <a:cubicBezTo>
                    <a:pt x="219494" y="760004"/>
                    <a:pt x="178893" y="736590"/>
                    <a:pt x="143188" y="706766"/>
                  </a:cubicBezTo>
                  <a:lnTo>
                    <a:pt x="143175" y="706755"/>
                  </a:lnTo>
                  <a:cubicBezTo>
                    <a:pt x="107464" y="676925"/>
                    <a:pt x="77210" y="641115"/>
                    <a:pt x="53764" y="600923"/>
                  </a:cubicBezTo>
                  <a:lnTo>
                    <a:pt x="53640" y="600710"/>
                  </a:lnTo>
                  <a:cubicBezTo>
                    <a:pt x="30123" y="560395"/>
                    <a:pt x="14012" y="516197"/>
                    <a:pt x="6068" y="470206"/>
                  </a:cubicBezTo>
                  <a:lnTo>
                    <a:pt x="5909" y="469283"/>
                  </a:lnTo>
                  <a:cubicBezTo>
                    <a:pt x="-2005" y="423470"/>
                    <a:pt x="-1969" y="376636"/>
                    <a:pt x="6015" y="330835"/>
                  </a:cubicBezTo>
                  <a:lnTo>
                    <a:pt x="6015" y="330835"/>
                  </a:lnTo>
                  <a:cubicBezTo>
                    <a:pt x="13996" y="285049"/>
                    <a:pt x="29971" y="241024"/>
                    <a:pt x="53208" y="200773"/>
                  </a:cubicBezTo>
                  <a:lnTo>
                    <a:pt x="54038" y="199336"/>
                  </a:lnTo>
                  <a:cubicBezTo>
                    <a:pt x="77297" y="159047"/>
                    <a:pt x="107471" y="123169"/>
                    <a:pt x="143175" y="93345"/>
                  </a:cubicBezTo>
                  <a:lnTo>
                    <a:pt x="143188" y="93334"/>
                  </a:lnTo>
                  <a:cubicBezTo>
                    <a:pt x="178893" y="63510"/>
                    <a:pt x="219494" y="40096"/>
                    <a:pt x="263190" y="24130"/>
                  </a:cubicBezTo>
                  <a:lnTo>
                    <a:pt x="263190" y="24130"/>
                  </a:lnTo>
                  <a:cubicBezTo>
                    <a:pt x="306877" y="8167"/>
                    <a:pt x="353028" y="0"/>
                    <a:pt x="399540" y="0"/>
                  </a:cubicBezTo>
                  <a:lnTo>
                    <a:pt x="401160" y="0"/>
                  </a:lnTo>
                  <a:cubicBezTo>
                    <a:pt x="447672" y="0"/>
                    <a:pt x="493823" y="8167"/>
                    <a:pt x="537510" y="24130"/>
                  </a:cubicBezTo>
                  <a:close/>
                </a:path>
              </a:pathLst>
            </a:custGeom>
            <a:solidFill>
              <a:srgbClr val="B3D3D9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122142" y="115968"/>
              <a:ext cx="568517" cy="5683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4374867" y="5634615"/>
            <a:ext cx="1547862" cy="1526125"/>
            <a:chOff x="0" y="0"/>
            <a:chExt cx="812800" cy="80137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6050" y="0"/>
              <a:ext cx="800699" cy="800100"/>
            </a:xfrm>
            <a:custGeom>
              <a:avLst/>
              <a:gdLst/>
              <a:ahLst/>
              <a:cxnLst/>
              <a:rect r="r" b="b" t="t" l="l"/>
              <a:pathLst>
                <a:path h="800100" w="800699">
                  <a:moveTo>
                    <a:pt x="537510" y="24130"/>
                  </a:moveTo>
                  <a:lnTo>
                    <a:pt x="537510" y="24130"/>
                  </a:lnTo>
                  <a:cubicBezTo>
                    <a:pt x="581206" y="40096"/>
                    <a:pt x="621807" y="63510"/>
                    <a:pt x="657512" y="93334"/>
                  </a:cubicBezTo>
                  <a:lnTo>
                    <a:pt x="657525" y="93345"/>
                  </a:lnTo>
                  <a:cubicBezTo>
                    <a:pt x="693229" y="123169"/>
                    <a:pt x="723403" y="159047"/>
                    <a:pt x="746662" y="199336"/>
                  </a:cubicBezTo>
                  <a:lnTo>
                    <a:pt x="747492" y="200773"/>
                  </a:lnTo>
                  <a:cubicBezTo>
                    <a:pt x="770729" y="241024"/>
                    <a:pt x="786704" y="285049"/>
                    <a:pt x="794685" y="330835"/>
                  </a:cubicBezTo>
                  <a:lnTo>
                    <a:pt x="794685" y="330835"/>
                  </a:lnTo>
                  <a:cubicBezTo>
                    <a:pt x="802669" y="376636"/>
                    <a:pt x="802705" y="423470"/>
                    <a:pt x="794791" y="469283"/>
                  </a:cubicBezTo>
                  <a:lnTo>
                    <a:pt x="794632" y="470206"/>
                  </a:lnTo>
                  <a:cubicBezTo>
                    <a:pt x="786688" y="516197"/>
                    <a:pt x="770577" y="560395"/>
                    <a:pt x="747060" y="600710"/>
                  </a:cubicBezTo>
                  <a:lnTo>
                    <a:pt x="746936" y="600923"/>
                  </a:lnTo>
                  <a:cubicBezTo>
                    <a:pt x="723490" y="641115"/>
                    <a:pt x="693236" y="676925"/>
                    <a:pt x="657525" y="706755"/>
                  </a:cubicBezTo>
                  <a:lnTo>
                    <a:pt x="657512" y="706766"/>
                  </a:lnTo>
                  <a:cubicBezTo>
                    <a:pt x="621807" y="736590"/>
                    <a:pt x="581206" y="760004"/>
                    <a:pt x="537510" y="775970"/>
                  </a:cubicBezTo>
                  <a:lnTo>
                    <a:pt x="537510" y="775970"/>
                  </a:lnTo>
                  <a:cubicBezTo>
                    <a:pt x="493823" y="791933"/>
                    <a:pt x="447672" y="800100"/>
                    <a:pt x="401160" y="800100"/>
                  </a:cubicBezTo>
                  <a:lnTo>
                    <a:pt x="399540" y="800100"/>
                  </a:lnTo>
                  <a:cubicBezTo>
                    <a:pt x="353028" y="800100"/>
                    <a:pt x="306877" y="791933"/>
                    <a:pt x="263190" y="775970"/>
                  </a:cubicBezTo>
                  <a:lnTo>
                    <a:pt x="263190" y="775970"/>
                  </a:lnTo>
                  <a:cubicBezTo>
                    <a:pt x="219494" y="760004"/>
                    <a:pt x="178893" y="736590"/>
                    <a:pt x="143188" y="706766"/>
                  </a:cubicBezTo>
                  <a:lnTo>
                    <a:pt x="143175" y="706755"/>
                  </a:lnTo>
                  <a:cubicBezTo>
                    <a:pt x="107464" y="676925"/>
                    <a:pt x="77210" y="641115"/>
                    <a:pt x="53764" y="600923"/>
                  </a:cubicBezTo>
                  <a:lnTo>
                    <a:pt x="53640" y="600710"/>
                  </a:lnTo>
                  <a:cubicBezTo>
                    <a:pt x="30123" y="560395"/>
                    <a:pt x="14012" y="516197"/>
                    <a:pt x="6068" y="470206"/>
                  </a:cubicBezTo>
                  <a:lnTo>
                    <a:pt x="5909" y="469283"/>
                  </a:lnTo>
                  <a:cubicBezTo>
                    <a:pt x="-2005" y="423470"/>
                    <a:pt x="-1969" y="376636"/>
                    <a:pt x="6015" y="330835"/>
                  </a:cubicBezTo>
                  <a:lnTo>
                    <a:pt x="6015" y="330835"/>
                  </a:lnTo>
                  <a:cubicBezTo>
                    <a:pt x="13996" y="285049"/>
                    <a:pt x="29971" y="241024"/>
                    <a:pt x="53208" y="200773"/>
                  </a:cubicBezTo>
                  <a:lnTo>
                    <a:pt x="54038" y="199336"/>
                  </a:lnTo>
                  <a:cubicBezTo>
                    <a:pt x="77297" y="159047"/>
                    <a:pt x="107471" y="123169"/>
                    <a:pt x="143175" y="93345"/>
                  </a:cubicBezTo>
                  <a:lnTo>
                    <a:pt x="143188" y="93334"/>
                  </a:lnTo>
                  <a:cubicBezTo>
                    <a:pt x="178893" y="63510"/>
                    <a:pt x="219494" y="40096"/>
                    <a:pt x="263190" y="24130"/>
                  </a:cubicBezTo>
                  <a:lnTo>
                    <a:pt x="263190" y="24130"/>
                  </a:lnTo>
                  <a:cubicBezTo>
                    <a:pt x="306877" y="8167"/>
                    <a:pt x="353028" y="0"/>
                    <a:pt x="399540" y="0"/>
                  </a:cubicBezTo>
                  <a:lnTo>
                    <a:pt x="401160" y="0"/>
                  </a:lnTo>
                  <a:cubicBezTo>
                    <a:pt x="447672" y="0"/>
                    <a:pt x="493823" y="8167"/>
                    <a:pt x="537510" y="24130"/>
                  </a:cubicBezTo>
                  <a:close/>
                </a:path>
              </a:pathLst>
            </a:custGeom>
            <a:solidFill>
              <a:srgbClr val="004F5E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122142" y="115968"/>
              <a:ext cx="568517" cy="5683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2137250" y="5548054"/>
            <a:ext cx="1547862" cy="1526125"/>
            <a:chOff x="0" y="0"/>
            <a:chExt cx="812800" cy="80137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6050" y="0"/>
              <a:ext cx="800699" cy="800100"/>
            </a:xfrm>
            <a:custGeom>
              <a:avLst/>
              <a:gdLst/>
              <a:ahLst/>
              <a:cxnLst/>
              <a:rect r="r" b="b" t="t" l="l"/>
              <a:pathLst>
                <a:path h="800100" w="800699">
                  <a:moveTo>
                    <a:pt x="537510" y="24130"/>
                  </a:moveTo>
                  <a:lnTo>
                    <a:pt x="537510" y="24130"/>
                  </a:lnTo>
                  <a:cubicBezTo>
                    <a:pt x="581206" y="40096"/>
                    <a:pt x="621807" y="63510"/>
                    <a:pt x="657512" y="93334"/>
                  </a:cubicBezTo>
                  <a:lnTo>
                    <a:pt x="657525" y="93345"/>
                  </a:lnTo>
                  <a:cubicBezTo>
                    <a:pt x="693229" y="123169"/>
                    <a:pt x="723403" y="159047"/>
                    <a:pt x="746662" y="199336"/>
                  </a:cubicBezTo>
                  <a:lnTo>
                    <a:pt x="747492" y="200773"/>
                  </a:lnTo>
                  <a:cubicBezTo>
                    <a:pt x="770729" y="241024"/>
                    <a:pt x="786704" y="285049"/>
                    <a:pt x="794685" y="330835"/>
                  </a:cubicBezTo>
                  <a:lnTo>
                    <a:pt x="794685" y="330835"/>
                  </a:lnTo>
                  <a:cubicBezTo>
                    <a:pt x="802669" y="376636"/>
                    <a:pt x="802705" y="423470"/>
                    <a:pt x="794791" y="469283"/>
                  </a:cubicBezTo>
                  <a:lnTo>
                    <a:pt x="794632" y="470206"/>
                  </a:lnTo>
                  <a:cubicBezTo>
                    <a:pt x="786688" y="516197"/>
                    <a:pt x="770577" y="560395"/>
                    <a:pt x="747060" y="600710"/>
                  </a:cubicBezTo>
                  <a:lnTo>
                    <a:pt x="746936" y="600923"/>
                  </a:lnTo>
                  <a:cubicBezTo>
                    <a:pt x="723490" y="641115"/>
                    <a:pt x="693236" y="676925"/>
                    <a:pt x="657525" y="706755"/>
                  </a:cubicBezTo>
                  <a:lnTo>
                    <a:pt x="657512" y="706766"/>
                  </a:lnTo>
                  <a:cubicBezTo>
                    <a:pt x="621807" y="736590"/>
                    <a:pt x="581206" y="760004"/>
                    <a:pt x="537510" y="775970"/>
                  </a:cubicBezTo>
                  <a:lnTo>
                    <a:pt x="537510" y="775970"/>
                  </a:lnTo>
                  <a:cubicBezTo>
                    <a:pt x="493823" y="791933"/>
                    <a:pt x="447672" y="800100"/>
                    <a:pt x="401160" y="800100"/>
                  </a:cubicBezTo>
                  <a:lnTo>
                    <a:pt x="399540" y="800100"/>
                  </a:lnTo>
                  <a:cubicBezTo>
                    <a:pt x="353028" y="800100"/>
                    <a:pt x="306877" y="791933"/>
                    <a:pt x="263190" y="775970"/>
                  </a:cubicBezTo>
                  <a:lnTo>
                    <a:pt x="263190" y="775970"/>
                  </a:lnTo>
                  <a:cubicBezTo>
                    <a:pt x="219494" y="760004"/>
                    <a:pt x="178893" y="736590"/>
                    <a:pt x="143188" y="706766"/>
                  </a:cubicBezTo>
                  <a:lnTo>
                    <a:pt x="143175" y="706755"/>
                  </a:lnTo>
                  <a:cubicBezTo>
                    <a:pt x="107464" y="676925"/>
                    <a:pt x="77210" y="641115"/>
                    <a:pt x="53764" y="600923"/>
                  </a:cubicBezTo>
                  <a:lnTo>
                    <a:pt x="53640" y="600710"/>
                  </a:lnTo>
                  <a:cubicBezTo>
                    <a:pt x="30123" y="560395"/>
                    <a:pt x="14012" y="516197"/>
                    <a:pt x="6068" y="470206"/>
                  </a:cubicBezTo>
                  <a:lnTo>
                    <a:pt x="5909" y="469283"/>
                  </a:lnTo>
                  <a:cubicBezTo>
                    <a:pt x="-2005" y="423470"/>
                    <a:pt x="-1969" y="376636"/>
                    <a:pt x="6015" y="330835"/>
                  </a:cubicBezTo>
                  <a:lnTo>
                    <a:pt x="6015" y="330835"/>
                  </a:lnTo>
                  <a:cubicBezTo>
                    <a:pt x="13996" y="285049"/>
                    <a:pt x="29971" y="241024"/>
                    <a:pt x="53208" y="200773"/>
                  </a:cubicBezTo>
                  <a:lnTo>
                    <a:pt x="54038" y="199336"/>
                  </a:lnTo>
                  <a:cubicBezTo>
                    <a:pt x="77297" y="159047"/>
                    <a:pt x="107471" y="123169"/>
                    <a:pt x="143175" y="93345"/>
                  </a:cubicBezTo>
                  <a:lnTo>
                    <a:pt x="143188" y="93334"/>
                  </a:lnTo>
                  <a:cubicBezTo>
                    <a:pt x="178893" y="63510"/>
                    <a:pt x="219494" y="40096"/>
                    <a:pt x="263190" y="24130"/>
                  </a:cubicBezTo>
                  <a:lnTo>
                    <a:pt x="263190" y="24130"/>
                  </a:lnTo>
                  <a:cubicBezTo>
                    <a:pt x="306877" y="8167"/>
                    <a:pt x="353028" y="0"/>
                    <a:pt x="399540" y="0"/>
                  </a:cubicBezTo>
                  <a:lnTo>
                    <a:pt x="401160" y="0"/>
                  </a:lnTo>
                  <a:cubicBezTo>
                    <a:pt x="447672" y="0"/>
                    <a:pt x="493823" y="8167"/>
                    <a:pt x="537510" y="24130"/>
                  </a:cubicBezTo>
                  <a:close/>
                </a:path>
              </a:pathLst>
            </a:custGeom>
            <a:solidFill>
              <a:srgbClr val="004F5E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122142" y="115968"/>
              <a:ext cx="568517" cy="5683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8753172" y="3250386"/>
            <a:ext cx="823690" cy="748135"/>
          </a:xfrm>
          <a:custGeom>
            <a:avLst/>
            <a:gdLst/>
            <a:ahLst/>
            <a:cxnLst/>
            <a:rect r="r" b="b" t="t" l="l"/>
            <a:pathLst>
              <a:path h="748135" w="823690">
                <a:moveTo>
                  <a:pt x="0" y="0"/>
                </a:moveTo>
                <a:lnTo>
                  <a:pt x="823690" y="0"/>
                </a:lnTo>
                <a:lnTo>
                  <a:pt x="823690" y="748136"/>
                </a:lnTo>
                <a:lnTo>
                  <a:pt x="0" y="74813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14477012" y="6183457"/>
            <a:ext cx="1346175" cy="627054"/>
          </a:xfrm>
          <a:custGeom>
            <a:avLst/>
            <a:gdLst/>
            <a:ahLst/>
            <a:cxnLst/>
            <a:rect r="r" b="b" t="t" l="l"/>
            <a:pathLst>
              <a:path h="627054" w="1346175">
                <a:moveTo>
                  <a:pt x="0" y="0"/>
                </a:moveTo>
                <a:lnTo>
                  <a:pt x="1346175" y="0"/>
                </a:lnTo>
                <a:lnTo>
                  <a:pt x="1346175" y="627053"/>
                </a:lnTo>
                <a:lnTo>
                  <a:pt x="0" y="62705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2488890" y="5922517"/>
            <a:ext cx="802513" cy="659157"/>
          </a:xfrm>
          <a:custGeom>
            <a:avLst/>
            <a:gdLst/>
            <a:ahLst/>
            <a:cxnLst/>
            <a:rect r="r" b="b" t="t" l="l"/>
            <a:pathLst>
              <a:path h="659157" w="802513">
                <a:moveTo>
                  <a:pt x="0" y="0"/>
                </a:moveTo>
                <a:lnTo>
                  <a:pt x="802512" y="0"/>
                </a:lnTo>
                <a:lnTo>
                  <a:pt x="802512" y="659157"/>
                </a:lnTo>
                <a:lnTo>
                  <a:pt x="0" y="65915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6584009" y="8372433"/>
            <a:ext cx="5119982" cy="744725"/>
          </a:xfrm>
          <a:custGeom>
            <a:avLst/>
            <a:gdLst/>
            <a:ahLst/>
            <a:cxnLst/>
            <a:rect r="r" b="b" t="t" l="l"/>
            <a:pathLst>
              <a:path h="744725" w="5119982">
                <a:moveTo>
                  <a:pt x="0" y="0"/>
                </a:moveTo>
                <a:lnTo>
                  <a:pt x="5119982" y="0"/>
                </a:lnTo>
                <a:lnTo>
                  <a:pt x="5119982" y="744725"/>
                </a:lnTo>
                <a:lnTo>
                  <a:pt x="0" y="744725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861484" y="1242702"/>
            <a:ext cx="3400425" cy="3400425"/>
          </a:xfrm>
          <a:custGeom>
            <a:avLst/>
            <a:gdLst/>
            <a:ahLst/>
            <a:cxnLst/>
            <a:rect r="r" b="b" t="t" l="l"/>
            <a:pathLst>
              <a:path h="3400425" w="3400425">
                <a:moveTo>
                  <a:pt x="0" y="0"/>
                </a:moveTo>
                <a:lnTo>
                  <a:pt x="3400425" y="0"/>
                </a:lnTo>
                <a:lnTo>
                  <a:pt x="3400425" y="3400425"/>
                </a:lnTo>
                <a:lnTo>
                  <a:pt x="0" y="3400425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0">
            <a:off x="492053" y="7321830"/>
            <a:ext cx="5049793" cy="4516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957"/>
              </a:lnSpc>
            </a:pPr>
            <a:r>
              <a:rPr lang="en-US" b="true" sz="2198">
                <a:solidFill>
                  <a:srgbClr val="181A1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WebSocket — Real-Time Updates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735682" y="8049471"/>
            <a:ext cx="4562534" cy="13772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791"/>
              </a:lnSpc>
            </a:pPr>
            <a:r>
              <a:rPr lang="en-US" sz="1551">
                <a:solidFill>
                  <a:srgbClr val="181A1A"/>
                </a:solidFill>
                <a:latin typeface="Canva Sans"/>
                <a:ea typeface="Canva Sans"/>
                <a:cs typeface="Canva Sans"/>
                <a:sym typeface="Canva Sans"/>
              </a:rPr>
              <a:t>Persistent bidirectional WebSocket connections stream live charger status, dynamic pricing signals, and energy telemetry to clients with sub-100ms latency across the network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2623902" y="7322103"/>
            <a:ext cx="5049793" cy="4516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957"/>
              </a:lnSpc>
            </a:pPr>
            <a:r>
              <a:rPr lang="en-US" b="true" sz="2198">
                <a:solidFill>
                  <a:srgbClr val="181A1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Azure Service Bus — Messaging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2724124" y="8049471"/>
            <a:ext cx="4849348" cy="13772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791"/>
              </a:lnSpc>
            </a:pPr>
            <a:r>
              <a:rPr lang="en-US" sz="1551">
                <a:solidFill>
                  <a:srgbClr val="181A1A"/>
                </a:solidFill>
                <a:latin typeface="Canva Sans"/>
                <a:ea typeface="Canva Sans"/>
                <a:cs typeface="Canva Sans"/>
                <a:sym typeface="Canva Sans"/>
              </a:rPr>
              <a:t>Enterprise-grade async messaging via Azure Service Bus decouples microservices, guarantees message delivery, and orchestrates event-driven workflows across the EV charging platform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2781357" y="1784030"/>
            <a:ext cx="12692560" cy="800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318"/>
              </a:lnSpc>
            </a:pPr>
            <a:r>
              <a:rPr lang="en-US" b="true" sz="5265">
                <a:solidFill>
                  <a:srgbClr val="181A1A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API Architecture &amp; Integration Layer</a:t>
            </a:r>
          </a:p>
        </p:txBody>
      </p:sp>
      <p:sp>
        <p:nvSpPr>
          <p:cNvPr name="Freeform 30" id="30"/>
          <p:cNvSpPr/>
          <p:nvPr/>
        </p:nvSpPr>
        <p:spPr>
          <a:xfrm flipH="true" flipV="false" rot="0">
            <a:off x="13970092" y="1476907"/>
            <a:ext cx="3400425" cy="3400425"/>
          </a:xfrm>
          <a:custGeom>
            <a:avLst/>
            <a:gdLst/>
            <a:ahLst/>
            <a:cxnLst/>
            <a:rect r="r" b="b" t="t" l="l"/>
            <a:pathLst>
              <a:path h="3400425" w="3400425">
                <a:moveTo>
                  <a:pt x="3400425" y="0"/>
                </a:moveTo>
                <a:lnTo>
                  <a:pt x="0" y="0"/>
                </a:lnTo>
                <a:lnTo>
                  <a:pt x="0" y="3400425"/>
                </a:lnTo>
                <a:lnTo>
                  <a:pt x="3400425" y="3400425"/>
                </a:lnTo>
                <a:lnTo>
                  <a:pt x="3400425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F3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293804" y="11390259"/>
            <a:ext cx="5331875" cy="1067957"/>
          </a:xfrm>
          <a:custGeom>
            <a:avLst/>
            <a:gdLst/>
            <a:ahLst/>
            <a:cxnLst/>
            <a:rect r="r" b="b" t="t" l="l"/>
            <a:pathLst>
              <a:path h="1067957" w="5331875">
                <a:moveTo>
                  <a:pt x="0" y="0"/>
                </a:moveTo>
                <a:lnTo>
                  <a:pt x="5331875" y="0"/>
                </a:lnTo>
                <a:lnTo>
                  <a:pt x="5331875" y="1067957"/>
                </a:lnTo>
                <a:lnTo>
                  <a:pt x="0" y="106795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1379477" y="6172786"/>
            <a:ext cx="3092948" cy="0"/>
          </a:xfrm>
          <a:prstGeom prst="line">
            <a:avLst/>
          </a:prstGeom>
          <a:ln cap="rnd" w="19050">
            <a:solidFill>
              <a:srgbClr val="00BBDE">
                <a:alpha val="40000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-5400000">
            <a:off x="12749547" y="7898685"/>
            <a:ext cx="5331875" cy="1067957"/>
          </a:xfrm>
          <a:custGeom>
            <a:avLst/>
            <a:gdLst/>
            <a:ahLst/>
            <a:cxnLst/>
            <a:rect r="r" b="b" t="t" l="l"/>
            <a:pathLst>
              <a:path h="1067957" w="5331875">
                <a:moveTo>
                  <a:pt x="0" y="0"/>
                </a:moveTo>
                <a:lnTo>
                  <a:pt x="5331875" y="0"/>
                </a:lnTo>
                <a:lnTo>
                  <a:pt x="5331875" y="1067957"/>
                </a:lnTo>
                <a:lnTo>
                  <a:pt x="0" y="106795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5" id="5"/>
          <p:cNvSpPr/>
          <p:nvPr/>
        </p:nvSpPr>
        <p:spPr>
          <a:xfrm>
            <a:off x="13747994" y="3027846"/>
            <a:ext cx="3092948" cy="0"/>
          </a:xfrm>
          <a:prstGeom prst="line">
            <a:avLst/>
          </a:prstGeom>
          <a:ln cap="rnd" w="19050">
            <a:solidFill>
              <a:srgbClr val="00BBDE">
                <a:alpha val="40000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6" id="6"/>
          <p:cNvSpPr/>
          <p:nvPr/>
        </p:nvSpPr>
        <p:spPr>
          <a:xfrm flipH="false" flipV="false" rot="-5400000">
            <a:off x="6478062" y="9560020"/>
            <a:ext cx="5331875" cy="1067957"/>
          </a:xfrm>
          <a:custGeom>
            <a:avLst/>
            <a:gdLst/>
            <a:ahLst/>
            <a:cxnLst/>
            <a:rect r="r" b="b" t="t" l="l"/>
            <a:pathLst>
              <a:path h="1067957" w="5331875">
                <a:moveTo>
                  <a:pt x="0" y="0"/>
                </a:moveTo>
                <a:lnTo>
                  <a:pt x="5331876" y="0"/>
                </a:lnTo>
                <a:lnTo>
                  <a:pt x="5331876" y="1067957"/>
                </a:lnTo>
                <a:lnTo>
                  <a:pt x="0" y="106795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7" id="7"/>
          <p:cNvSpPr/>
          <p:nvPr/>
        </p:nvSpPr>
        <p:spPr>
          <a:xfrm>
            <a:off x="7597526" y="4370509"/>
            <a:ext cx="3092948" cy="0"/>
          </a:xfrm>
          <a:prstGeom prst="line">
            <a:avLst/>
          </a:prstGeom>
          <a:ln cap="rnd" w="19050">
            <a:solidFill>
              <a:srgbClr val="00BBDE">
                <a:alpha val="40000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8" id="8"/>
          <p:cNvSpPr/>
          <p:nvPr/>
        </p:nvSpPr>
        <p:spPr>
          <a:xfrm flipH="false" flipV="false" rot="-5400000">
            <a:off x="12749547" y="9874335"/>
            <a:ext cx="5331875" cy="1067957"/>
          </a:xfrm>
          <a:custGeom>
            <a:avLst/>
            <a:gdLst/>
            <a:ahLst/>
            <a:cxnLst/>
            <a:rect r="r" b="b" t="t" l="l"/>
            <a:pathLst>
              <a:path h="1067957" w="5331875">
                <a:moveTo>
                  <a:pt x="0" y="0"/>
                </a:moveTo>
                <a:lnTo>
                  <a:pt x="5331875" y="0"/>
                </a:lnTo>
                <a:lnTo>
                  <a:pt x="5331875" y="1067957"/>
                </a:lnTo>
                <a:lnTo>
                  <a:pt x="0" y="106795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2185810" y="7939897"/>
            <a:ext cx="1547862" cy="1526125"/>
            <a:chOff x="0" y="0"/>
            <a:chExt cx="812800" cy="80137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6050" y="0"/>
              <a:ext cx="800699" cy="800100"/>
            </a:xfrm>
            <a:custGeom>
              <a:avLst/>
              <a:gdLst/>
              <a:ahLst/>
              <a:cxnLst/>
              <a:rect r="r" b="b" t="t" l="l"/>
              <a:pathLst>
                <a:path h="800100" w="800699">
                  <a:moveTo>
                    <a:pt x="537510" y="24130"/>
                  </a:moveTo>
                  <a:lnTo>
                    <a:pt x="537510" y="24130"/>
                  </a:lnTo>
                  <a:cubicBezTo>
                    <a:pt x="581206" y="40096"/>
                    <a:pt x="621807" y="63510"/>
                    <a:pt x="657512" y="93334"/>
                  </a:cubicBezTo>
                  <a:lnTo>
                    <a:pt x="657525" y="93345"/>
                  </a:lnTo>
                  <a:cubicBezTo>
                    <a:pt x="693229" y="123169"/>
                    <a:pt x="723403" y="159047"/>
                    <a:pt x="746662" y="199336"/>
                  </a:cubicBezTo>
                  <a:lnTo>
                    <a:pt x="747492" y="200773"/>
                  </a:lnTo>
                  <a:cubicBezTo>
                    <a:pt x="770729" y="241024"/>
                    <a:pt x="786704" y="285049"/>
                    <a:pt x="794685" y="330835"/>
                  </a:cubicBezTo>
                  <a:lnTo>
                    <a:pt x="794685" y="330835"/>
                  </a:lnTo>
                  <a:cubicBezTo>
                    <a:pt x="802669" y="376636"/>
                    <a:pt x="802705" y="423470"/>
                    <a:pt x="794791" y="469283"/>
                  </a:cubicBezTo>
                  <a:lnTo>
                    <a:pt x="794632" y="470206"/>
                  </a:lnTo>
                  <a:cubicBezTo>
                    <a:pt x="786688" y="516197"/>
                    <a:pt x="770577" y="560395"/>
                    <a:pt x="747060" y="600710"/>
                  </a:cubicBezTo>
                  <a:lnTo>
                    <a:pt x="746936" y="600923"/>
                  </a:lnTo>
                  <a:cubicBezTo>
                    <a:pt x="723490" y="641115"/>
                    <a:pt x="693236" y="676925"/>
                    <a:pt x="657525" y="706755"/>
                  </a:cubicBezTo>
                  <a:lnTo>
                    <a:pt x="657512" y="706766"/>
                  </a:lnTo>
                  <a:cubicBezTo>
                    <a:pt x="621807" y="736590"/>
                    <a:pt x="581206" y="760004"/>
                    <a:pt x="537510" y="775970"/>
                  </a:cubicBezTo>
                  <a:lnTo>
                    <a:pt x="537510" y="775970"/>
                  </a:lnTo>
                  <a:cubicBezTo>
                    <a:pt x="493823" y="791933"/>
                    <a:pt x="447672" y="800100"/>
                    <a:pt x="401160" y="800100"/>
                  </a:cubicBezTo>
                  <a:lnTo>
                    <a:pt x="399540" y="800100"/>
                  </a:lnTo>
                  <a:cubicBezTo>
                    <a:pt x="353028" y="800100"/>
                    <a:pt x="306877" y="791933"/>
                    <a:pt x="263190" y="775970"/>
                  </a:cubicBezTo>
                  <a:lnTo>
                    <a:pt x="263190" y="775970"/>
                  </a:lnTo>
                  <a:cubicBezTo>
                    <a:pt x="219494" y="760004"/>
                    <a:pt x="178893" y="736590"/>
                    <a:pt x="143188" y="706766"/>
                  </a:cubicBezTo>
                  <a:lnTo>
                    <a:pt x="143175" y="706755"/>
                  </a:lnTo>
                  <a:cubicBezTo>
                    <a:pt x="107464" y="676925"/>
                    <a:pt x="77210" y="641115"/>
                    <a:pt x="53764" y="600923"/>
                  </a:cubicBezTo>
                  <a:lnTo>
                    <a:pt x="53640" y="600710"/>
                  </a:lnTo>
                  <a:cubicBezTo>
                    <a:pt x="30123" y="560395"/>
                    <a:pt x="14012" y="516197"/>
                    <a:pt x="6068" y="470206"/>
                  </a:cubicBezTo>
                  <a:lnTo>
                    <a:pt x="5909" y="469283"/>
                  </a:lnTo>
                  <a:cubicBezTo>
                    <a:pt x="-2005" y="423470"/>
                    <a:pt x="-1969" y="376636"/>
                    <a:pt x="6015" y="330835"/>
                  </a:cubicBezTo>
                  <a:lnTo>
                    <a:pt x="6015" y="330835"/>
                  </a:lnTo>
                  <a:cubicBezTo>
                    <a:pt x="13996" y="285049"/>
                    <a:pt x="29971" y="241024"/>
                    <a:pt x="53208" y="200773"/>
                  </a:cubicBezTo>
                  <a:lnTo>
                    <a:pt x="54038" y="199336"/>
                  </a:lnTo>
                  <a:cubicBezTo>
                    <a:pt x="77297" y="159047"/>
                    <a:pt x="107471" y="123169"/>
                    <a:pt x="143175" y="93345"/>
                  </a:cubicBezTo>
                  <a:lnTo>
                    <a:pt x="143188" y="93334"/>
                  </a:lnTo>
                  <a:cubicBezTo>
                    <a:pt x="178893" y="63510"/>
                    <a:pt x="219494" y="40096"/>
                    <a:pt x="263190" y="24130"/>
                  </a:cubicBezTo>
                  <a:lnTo>
                    <a:pt x="263190" y="24130"/>
                  </a:lnTo>
                  <a:cubicBezTo>
                    <a:pt x="306877" y="8167"/>
                    <a:pt x="353028" y="0"/>
                    <a:pt x="399540" y="0"/>
                  </a:cubicBezTo>
                  <a:lnTo>
                    <a:pt x="401160" y="0"/>
                  </a:lnTo>
                  <a:cubicBezTo>
                    <a:pt x="447672" y="0"/>
                    <a:pt x="493823" y="8167"/>
                    <a:pt x="537510" y="24130"/>
                  </a:cubicBezTo>
                  <a:close/>
                </a:path>
              </a:pathLst>
            </a:custGeom>
            <a:solidFill>
              <a:srgbClr val="004F5E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122142" y="115968"/>
              <a:ext cx="568517" cy="5683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2646387" y="8336338"/>
            <a:ext cx="627276" cy="865974"/>
          </a:xfrm>
          <a:custGeom>
            <a:avLst/>
            <a:gdLst/>
            <a:ahLst/>
            <a:cxnLst/>
            <a:rect r="r" b="b" t="t" l="l"/>
            <a:pathLst>
              <a:path h="865974" w="627276">
                <a:moveTo>
                  <a:pt x="0" y="0"/>
                </a:moveTo>
                <a:lnTo>
                  <a:pt x="627276" y="0"/>
                </a:lnTo>
                <a:lnTo>
                  <a:pt x="627276" y="865974"/>
                </a:lnTo>
                <a:lnTo>
                  <a:pt x="0" y="86597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8370069" y="6288257"/>
            <a:ext cx="1547862" cy="1526125"/>
            <a:chOff x="0" y="0"/>
            <a:chExt cx="812800" cy="80137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6050" y="0"/>
              <a:ext cx="800699" cy="800100"/>
            </a:xfrm>
            <a:custGeom>
              <a:avLst/>
              <a:gdLst/>
              <a:ahLst/>
              <a:cxnLst/>
              <a:rect r="r" b="b" t="t" l="l"/>
              <a:pathLst>
                <a:path h="800100" w="800699">
                  <a:moveTo>
                    <a:pt x="537510" y="24130"/>
                  </a:moveTo>
                  <a:lnTo>
                    <a:pt x="537510" y="24130"/>
                  </a:lnTo>
                  <a:cubicBezTo>
                    <a:pt x="581206" y="40096"/>
                    <a:pt x="621807" y="63510"/>
                    <a:pt x="657512" y="93334"/>
                  </a:cubicBezTo>
                  <a:lnTo>
                    <a:pt x="657525" y="93345"/>
                  </a:lnTo>
                  <a:cubicBezTo>
                    <a:pt x="693229" y="123169"/>
                    <a:pt x="723403" y="159047"/>
                    <a:pt x="746662" y="199336"/>
                  </a:cubicBezTo>
                  <a:lnTo>
                    <a:pt x="747492" y="200773"/>
                  </a:lnTo>
                  <a:cubicBezTo>
                    <a:pt x="770729" y="241024"/>
                    <a:pt x="786704" y="285049"/>
                    <a:pt x="794685" y="330835"/>
                  </a:cubicBezTo>
                  <a:lnTo>
                    <a:pt x="794685" y="330835"/>
                  </a:lnTo>
                  <a:cubicBezTo>
                    <a:pt x="802669" y="376636"/>
                    <a:pt x="802705" y="423470"/>
                    <a:pt x="794791" y="469283"/>
                  </a:cubicBezTo>
                  <a:lnTo>
                    <a:pt x="794632" y="470206"/>
                  </a:lnTo>
                  <a:cubicBezTo>
                    <a:pt x="786688" y="516197"/>
                    <a:pt x="770577" y="560395"/>
                    <a:pt x="747060" y="600710"/>
                  </a:cubicBezTo>
                  <a:lnTo>
                    <a:pt x="746936" y="600923"/>
                  </a:lnTo>
                  <a:cubicBezTo>
                    <a:pt x="723490" y="641115"/>
                    <a:pt x="693236" y="676925"/>
                    <a:pt x="657525" y="706755"/>
                  </a:cubicBezTo>
                  <a:lnTo>
                    <a:pt x="657512" y="706766"/>
                  </a:lnTo>
                  <a:cubicBezTo>
                    <a:pt x="621807" y="736590"/>
                    <a:pt x="581206" y="760004"/>
                    <a:pt x="537510" y="775970"/>
                  </a:cubicBezTo>
                  <a:lnTo>
                    <a:pt x="537510" y="775970"/>
                  </a:lnTo>
                  <a:cubicBezTo>
                    <a:pt x="493823" y="791933"/>
                    <a:pt x="447672" y="800100"/>
                    <a:pt x="401160" y="800100"/>
                  </a:cubicBezTo>
                  <a:lnTo>
                    <a:pt x="399540" y="800100"/>
                  </a:lnTo>
                  <a:cubicBezTo>
                    <a:pt x="353028" y="800100"/>
                    <a:pt x="306877" y="791933"/>
                    <a:pt x="263190" y="775970"/>
                  </a:cubicBezTo>
                  <a:lnTo>
                    <a:pt x="263190" y="775970"/>
                  </a:lnTo>
                  <a:cubicBezTo>
                    <a:pt x="219494" y="760004"/>
                    <a:pt x="178893" y="736590"/>
                    <a:pt x="143188" y="706766"/>
                  </a:cubicBezTo>
                  <a:lnTo>
                    <a:pt x="143175" y="706755"/>
                  </a:lnTo>
                  <a:cubicBezTo>
                    <a:pt x="107464" y="676925"/>
                    <a:pt x="77210" y="641115"/>
                    <a:pt x="53764" y="600923"/>
                  </a:cubicBezTo>
                  <a:lnTo>
                    <a:pt x="53640" y="600710"/>
                  </a:lnTo>
                  <a:cubicBezTo>
                    <a:pt x="30123" y="560395"/>
                    <a:pt x="14012" y="516197"/>
                    <a:pt x="6068" y="470206"/>
                  </a:cubicBezTo>
                  <a:lnTo>
                    <a:pt x="5909" y="469283"/>
                  </a:lnTo>
                  <a:cubicBezTo>
                    <a:pt x="-2005" y="423470"/>
                    <a:pt x="-1969" y="376636"/>
                    <a:pt x="6015" y="330835"/>
                  </a:cubicBezTo>
                  <a:lnTo>
                    <a:pt x="6015" y="330835"/>
                  </a:lnTo>
                  <a:cubicBezTo>
                    <a:pt x="13996" y="285049"/>
                    <a:pt x="29971" y="241024"/>
                    <a:pt x="53208" y="200773"/>
                  </a:cubicBezTo>
                  <a:lnTo>
                    <a:pt x="54038" y="199336"/>
                  </a:lnTo>
                  <a:cubicBezTo>
                    <a:pt x="77297" y="159047"/>
                    <a:pt x="107471" y="123169"/>
                    <a:pt x="143175" y="93345"/>
                  </a:cubicBezTo>
                  <a:lnTo>
                    <a:pt x="143188" y="93334"/>
                  </a:lnTo>
                  <a:cubicBezTo>
                    <a:pt x="178893" y="63510"/>
                    <a:pt x="219494" y="40096"/>
                    <a:pt x="263190" y="24130"/>
                  </a:cubicBezTo>
                  <a:lnTo>
                    <a:pt x="263190" y="24130"/>
                  </a:lnTo>
                  <a:cubicBezTo>
                    <a:pt x="306877" y="8167"/>
                    <a:pt x="353028" y="0"/>
                    <a:pt x="399540" y="0"/>
                  </a:cubicBezTo>
                  <a:lnTo>
                    <a:pt x="401160" y="0"/>
                  </a:lnTo>
                  <a:cubicBezTo>
                    <a:pt x="447672" y="0"/>
                    <a:pt x="493823" y="8167"/>
                    <a:pt x="537510" y="24130"/>
                  </a:cubicBezTo>
                  <a:close/>
                </a:path>
              </a:pathLst>
            </a:custGeom>
            <a:solidFill>
              <a:srgbClr val="B3D3D9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122142" y="115968"/>
              <a:ext cx="568517" cy="5683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</a:pP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8774176" y="6372511"/>
            <a:ext cx="832829" cy="1256184"/>
          </a:xfrm>
          <a:custGeom>
            <a:avLst/>
            <a:gdLst/>
            <a:ahLst/>
            <a:cxnLst/>
            <a:rect r="r" b="b" t="t" l="l"/>
            <a:pathLst>
              <a:path h="1256184" w="832829">
                <a:moveTo>
                  <a:pt x="0" y="0"/>
                </a:moveTo>
                <a:lnTo>
                  <a:pt x="832829" y="0"/>
                </a:lnTo>
                <a:lnTo>
                  <a:pt x="832829" y="1256184"/>
                </a:lnTo>
                <a:lnTo>
                  <a:pt x="0" y="125618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grpSp>
        <p:nvGrpSpPr>
          <p:cNvPr name="Group 17" id="17"/>
          <p:cNvGrpSpPr/>
          <p:nvPr/>
        </p:nvGrpSpPr>
        <p:grpSpPr>
          <a:xfrm rot="0">
            <a:off x="14651078" y="5003664"/>
            <a:ext cx="1547862" cy="1526125"/>
            <a:chOff x="0" y="0"/>
            <a:chExt cx="812800" cy="80137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6050" y="0"/>
              <a:ext cx="800699" cy="800100"/>
            </a:xfrm>
            <a:custGeom>
              <a:avLst/>
              <a:gdLst/>
              <a:ahLst/>
              <a:cxnLst/>
              <a:rect r="r" b="b" t="t" l="l"/>
              <a:pathLst>
                <a:path h="800100" w="800699">
                  <a:moveTo>
                    <a:pt x="537510" y="24130"/>
                  </a:moveTo>
                  <a:lnTo>
                    <a:pt x="537510" y="24130"/>
                  </a:lnTo>
                  <a:cubicBezTo>
                    <a:pt x="581206" y="40096"/>
                    <a:pt x="621807" y="63510"/>
                    <a:pt x="657512" y="93334"/>
                  </a:cubicBezTo>
                  <a:lnTo>
                    <a:pt x="657525" y="93345"/>
                  </a:lnTo>
                  <a:cubicBezTo>
                    <a:pt x="693229" y="123169"/>
                    <a:pt x="723403" y="159047"/>
                    <a:pt x="746662" y="199336"/>
                  </a:cubicBezTo>
                  <a:lnTo>
                    <a:pt x="747492" y="200773"/>
                  </a:lnTo>
                  <a:cubicBezTo>
                    <a:pt x="770729" y="241024"/>
                    <a:pt x="786704" y="285049"/>
                    <a:pt x="794685" y="330835"/>
                  </a:cubicBezTo>
                  <a:lnTo>
                    <a:pt x="794685" y="330835"/>
                  </a:lnTo>
                  <a:cubicBezTo>
                    <a:pt x="802669" y="376636"/>
                    <a:pt x="802705" y="423470"/>
                    <a:pt x="794791" y="469283"/>
                  </a:cubicBezTo>
                  <a:lnTo>
                    <a:pt x="794632" y="470206"/>
                  </a:lnTo>
                  <a:cubicBezTo>
                    <a:pt x="786688" y="516197"/>
                    <a:pt x="770577" y="560395"/>
                    <a:pt x="747060" y="600710"/>
                  </a:cubicBezTo>
                  <a:lnTo>
                    <a:pt x="746936" y="600923"/>
                  </a:lnTo>
                  <a:cubicBezTo>
                    <a:pt x="723490" y="641115"/>
                    <a:pt x="693236" y="676925"/>
                    <a:pt x="657525" y="706755"/>
                  </a:cubicBezTo>
                  <a:lnTo>
                    <a:pt x="657512" y="706766"/>
                  </a:lnTo>
                  <a:cubicBezTo>
                    <a:pt x="621807" y="736590"/>
                    <a:pt x="581206" y="760004"/>
                    <a:pt x="537510" y="775970"/>
                  </a:cubicBezTo>
                  <a:lnTo>
                    <a:pt x="537510" y="775970"/>
                  </a:lnTo>
                  <a:cubicBezTo>
                    <a:pt x="493823" y="791933"/>
                    <a:pt x="447672" y="800100"/>
                    <a:pt x="401160" y="800100"/>
                  </a:cubicBezTo>
                  <a:lnTo>
                    <a:pt x="399540" y="800100"/>
                  </a:lnTo>
                  <a:cubicBezTo>
                    <a:pt x="353028" y="800100"/>
                    <a:pt x="306877" y="791933"/>
                    <a:pt x="263190" y="775970"/>
                  </a:cubicBezTo>
                  <a:lnTo>
                    <a:pt x="263190" y="775970"/>
                  </a:lnTo>
                  <a:cubicBezTo>
                    <a:pt x="219494" y="760004"/>
                    <a:pt x="178893" y="736590"/>
                    <a:pt x="143188" y="706766"/>
                  </a:cubicBezTo>
                  <a:lnTo>
                    <a:pt x="143175" y="706755"/>
                  </a:lnTo>
                  <a:cubicBezTo>
                    <a:pt x="107464" y="676925"/>
                    <a:pt x="77210" y="641115"/>
                    <a:pt x="53764" y="600923"/>
                  </a:cubicBezTo>
                  <a:lnTo>
                    <a:pt x="53640" y="600710"/>
                  </a:lnTo>
                  <a:cubicBezTo>
                    <a:pt x="30123" y="560395"/>
                    <a:pt x="14012" y="516197"/>
                    <a:pt x="6068" y="470206"/>
                  </a:cubicBezTo>
                  <a:lnTo>
                    <a:pt x="5909" y="469283"/>
                  </a:lnTo>
                  <a:cubicBezTo>
                    <a:pt x="-2005" y="423470"/>
                    <a:pt x="-1969" y="376636"/>
                    <a:pt x="6015" y="330835"/>
                  </a:cubicBezTo>
                  <a:lnTo>
                    <a:pt x="6015" y="330835"/>
                  </a:lnTo>
                  <a:cubicBezTo>
                    <a:pt x="13996" y="285049"/>
                    <a:pt x="29971" y="241024"/>
                    <a:pt x="53208" y="200773"/>
                  </a:cubicBezTo>
                  <a:lnTo>
                    <a:pt x="54038" y="199336"/>
                  </a:lnTo>
                  <a:cubicBezTo>
                    <a:pt x="77297" y="159047"/>
                    <a:pt x="107471" y="123169"/>
                    <a:pt x="143175" y="93345"/>
                  </a:cubicBezTo>
                  <a:lnTo>
                    <a:pt x="143188" y="93334"/>
                  </a:lnTo>
                  <a:cubicBezTo>
                    <a:pt x="178893" y="63510"/>
                    <a:pt x="219494" y="40096"/>
                    <a:pt x="263190" y="24130"/>
                  </a:cubicBezTo>
                  <a:lnTo>
                    <a:pt x="263190" y="24130"/>
                  </a:lnTo>
                  <a:cubicBezTo>
                    <a:pt x="306877" y="8167"/>
                    <a:pt x="353028" y="0"/>
                    <a:pt x="399540" y="0"/>
                  </a:cubicBezTo>
                  <a:lnTo>
                    <a:pt x="401160" y="0"/>
                  </a:lnTo>
                  <a:cubicBezTo>
                    <a:pt x="447672" y="0"/>
                    <a:pt x="493823" y="8167"/>
                    <a:pt x="537510" y="24130"/>
                  </a:cubicBezTo>
                  <a:close/>
                </a:path>
              </a:pathLst>
            </a:custGeom>
            <a:solidFill>
              <a:srgbClr val="004F5E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122142" y="115968"/>
              <a:ext cx="568517" cy="5683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15191504" y="5418050"/>
            <a:ext cx="510089" cy="617775"/>
          </a:xfrm>
          <a:custGeom>
            <a:avLst/>
            <a:gdLst/>
            <a:ahLst/>
            <a:cxnLst/>
            <a:rect r="r" b="b" t="t" l="l"/>
            <a:pathLst>
              <a:path h="617775" w="510089">
                <a:moveTo>
                  <a:pt x="0" y="0"/>
                </a:moveTo>
                <a:lnTo>
                  <a:pt x="510089" y="0"/>
                </a:lnTo>
                <a:lnTo>
                  <a:pt x="510089" y="617775"/>
                </a:lnTo>
                <a:lnTo>
                  <a:pt x="0" y="61777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1028700" y="1116912"/>
            <a:ext cx="4286405" cy="15363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022"/>
              </a:lnSpc>
              <a:spcBef>
                <a:spcPct val="0"/>
              </a:spcBef>
            </a:pPr>
            <a:r>
              <a:rPr lang="en-US" b="true" sz="5475">
                <a:solidFill>
                  <a:srgbClr val="181A1A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Security</a:t>
            </a:r>
          </a:p>
          <a:p>
            <a:pPr algn="l" marL="0" indent="0" lvl="0">
              <a:lnSpc>
                <a:spcPts val="6022"/>
              </a:lnSpc>
              <a:spcBef>
                <a:spcPct val="0"/>
              </a:spcBef>
            </a:pPr>
            <a:r>
              <a:rPr lang="en-US" b="true" sz="5475">
                <a:solidFill>
                  <a:srgbClr val="181A1A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Framework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205372" y="6434303"/>
            <a:ext cx="3591243" cy="7894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162"/>
              </a:lnSpc>
            </a:pPr>
            <a:r>
              <a:rPr lang="en-US" sz="1544">
                <a:solidFill>
                  <a:srgbClr val="181A1A"/>
                </a:solidFill>
                <a:latin typeface="Canva Sans"/>
                <a:ea typeface="Canva Sans"/>
                <a:cs typeface="Canva Sans"/>
                <a:sym typeface="Canva Sans"/>
              </a:rPr>
              <a:t>Multi-factor authentication, role-based access control, and OAuth 2.0 token validation for all platform users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519723" y="5405142"/>
            <a:ext cx="2880037" cy="3241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610"/>
              </a:lnSpc>
              <a:spcBef>
                <a:spcPct val="0"/>
              </a:spcBef>
            </a:pPr>
            <a:r>
              <a:rPr lang="en-US" b="true" sz="1864">
                <a:solidFill>
                  <a:srgbClr val="181A1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Azure AD Authentication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3543083" y="3307371"/>
            <a:ext cx="3570351" cy="10561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162"/>
              </a:lnSpc>
            </a:pPr>
            <a:r>
              <a:rPr lang="en-US" sz="1544">
                <a:solidFill>
                  <a:srgbClr val="181A1A"/>
                </a:solidFill>
                <a:latin typeface="Canva Sans"/>
                <a:ea typeface="Canva Sans"/>
                <a:cs typeface="Canva Sans"/>
                <a:sym typeface="Canva Sans"/>
              </a:rPr>
              <a:t>Data privacy protocols, consent management, audit logging, and right-to-erasure enforcement across all regions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3427417" y="2340776"/>
            <a:ext cx="3801683" cy="3241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610"/>
              </a:lnSpc>
              <a:spcBef>
                <a:spcPct val="0"/>
              </a:spcBef>
            </a:pPr>
            <a:r>
              <a:rPr lang="en-US" b="true" sz="1864">
                <a:solidFill>
                  <a:srgbClr val="181A1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GDPR Compliance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7183450" y="4694359"/>
            <a:ext cx="3921100" cy="7894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162"/>
              </a:lnSpc>
            </a:pPr>
            <a:r>
              <a:rPr lang="en-US" sz="1544">
                <a:solidFill>
                  <a:srgbClr val="181A1A"/>
                </a:solidFill>
                <a:latin typeface="Canva Sans"/>
                <a:ea typeface="Canva Sans"/>
                <a:cs typeface="Canva Sans"/>
                <a:sym typeface="Canva Sans"/>
              </a:rPr>
              <a:t>AES-256 encryption for data at rest and TLS 1.3 for data in transit across all EV charging network nodes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7529244" y="3635913"/>
            <a:ext cx="3229512" cy="3241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610"/>
              </a:lnSpc>
              <a:spcBef>
                <a:spcPct val="0"/>
              </a:spcBef>
            </a:pPr>
            <a:r>
              <a:rPr lang="en-US" b="true" sz="1864">
                <a:solidFill>
                  <a:srgbClr val="181A1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End-to-End Encryption</a:t>
            </a:r>
          </a:p>
        </p:txBody>
      </p:sp>
      <p:sp>
        <p:nvSpPr>
          <p:cNvPr name="Freeform 28" id="28"/>
          <p:cNvSpPr/>
          <p:nvPr/>
        </p:nvSpPr>
        <p:spPr>
          <a:xfrm flipH="false" flipV="false" rot="0">
            <a:off x="4308388" y="8312388"/>
            <a:ext cx="3289138" cy="1153634"/>
          </a:xfrm>
          <a:custGeom>
            <a:avLst/>
            <a:gdLst/>
            <a:ahLst/>
            <a:cxnLst/>
            <a:rect r="r" b="b" t="t" l="l"/>
            <a:pathLst>
              <a:path h="1153634" w="3289138">
                <a:moveTo>
                  <a:pt x="0" y="0"/>
                </a:moveTo>
                <a:lnTo>
                  <a:pt x="3289138" y="0"/>
                </a:lnTo>
                <a:lnTo>
                  <a:pt x="3289138" y="1153634"/>
                </a:lnTo>
                <a:lnTo>
                  <a:pt x="0" y="115363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11454480" y="7340162"/>
            <a:ext cx="2293514" cy="804428"/>
          </a:xfrm>
          <a:custGeom>
            <a:avLst/>
            <a:gdLst/>
            <a:ahLst/>
            <a:cxnLst/>
            <a:rect r="r" b="b" t="t" l="l"/>
            <a:pathLst>
              <a:path h="804428" w="2293514">
                <a:moveTo>
                  <a:pt x="0" y="0"/>
                </a:moveTo>
                <a:lnTo>
                  <a:pt x="2293514" y="0"/>
                </a:lnTo>
                <a:lnTo>
                  <a:pt x="2293514" y="804428"/>
                </a:lnTo>
                <a:lnTo>
                  <a:pt x="0" y="80442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F3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14967144" y="1835732"/>
            <a:ext cx="3666147" cy="2931830"/>
          </a:xfrm>
          <a:custGeom>
            <a:avLst/>
            <a:gdLst/>
            <a:ahLst/>
            <a:cxnLst/>
            <a:rect r="r" b="b" t="t" l="l"/>
            <a:pathLst>
              <a:path h="2931830" w="3666147">
                <a:moveTo>
                  <a:pt x="3666147" y="0"/>
                </a:moveTo>
                <a:lnTo>
                  <a:pt x="0" y="0"/>
                </a:lnTo>
                <a:lnTo>
                  <a:pt x="0" y="2931830"/>
                </a:lnTo>
                <a:lnTo>
                  <a:pt x="3666147" y="2931830"/>
                </a:lnTo>
                <a:lnTo>
                  <a:pt x="366614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567250" y="4313437"/>
            <a:ext cx="3807903" cy="12366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12"/>
              </a:lnSpc>
            </a:pPr>
            <a:r>
              <a:rPr lang="en-US" sz="1395">
                <a:solidFill>
                  <a:srgbClr val="181A1A"/>
                </a:solidFill>
                <a:latin typeface="Canva Sans"/>
                <a:ea typeface="Canva Sans"/>
                <a:cs typeface="Canva Sans"/>
                <a:sym typeface="Canva Sans"/>
              </a:rPr>
              <a:t>ML model training, Azure IoT integration, backend API development, unit testing, and performance benchmarking</a:t>
            </a:r>
          </a:p>
          <a:p>
            <a:pPr algn="l" marL="0" indent="0" lvl="0">
              <a:lnSpc>
                <a:spcPts val="2512"/>
              </a:lnSpc>
            </a:pPr>
            <a:r>
              <a:rPr lang="en-US" sz="1395">
                <a:solidFill>
                  <a:srgbClr val="181A1A"/>
                </a:solidFill>
                <a:latin typeface="Canva Sans"/>
                <a:ea typeface="Canva Sans"/>
                <a:cs typeface="Canva Sans"/>
                <a:sym typeface="Canva Sans"/>
              </a:rPr>
              <a:t>Month 3–4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357474" y="6341659"/>
            <a:ext cx="3888832" cy="12366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12"/>
              </a:lnSpc>
            </a:pPr>
            <a:r>
              <a:rPr lang="en-US" sz="1395">
                <a:solidFill>
                  <a:srgbClr val="181A1A"/>
                </a:solidFill>
                <a:latin typeface="Canva Sans"/>
                <a:ea typeface="Canva Sans"/>
                <a:cs typeface="Canva Sans"/>
                <a:sym typeface="Canva Sans"/>
              </a:rPr>
              <a:t>Requirements analysis, literature review, Azure architecture design, dataset collection, and ML model selection</a:t>
            </a:r>
          </a:p>
          <a:p>
            <a:pPr algn="l" marL="0" indent="0" lvl="0">
              <a:lnSpc>
                <a:spcPts val="2512"/>
              </a:lnSpc>
            </a:pPr>
            <a:r>
              <a:rPr lang="en-US" sz="1395">
                <a:solidFill>
                  <a:srgbClr val="181A1A"/>
                </a:solidFill>
                <a:latin typeface="Canva Sans"/>
                <a:ea typeface="Canva Sans"/>
                <a:cs typeface="Canva Sans"/>
                <a:sym typeface="Canva Sans"/>
              </a:rPr>
              <a:t>Month 1–2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567251" y="3821947"/>
            <a:ext cx="5268279" cy="4306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777"/>
              </a:lnSpc>
              <a:spcBef>
                <a:spcPct val="0"/>
              </a:spcBef>
            </a:pPr>
            <a:r>
              <a:rPr lang="en-US" b="true" sz="2098">
                <a:solidFill>
                  <a:srgbClr val="181A1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Phase 2: Development &amp; Testing</a:t>
            </a:r>
          </a:p>
        </p:txBody>
      </p:sp>
      <p:sp>
        <p:nvSpPr>
          <p:cNvPr name="Freeform 6" id="6"/>
          <p:cNvSpPr/>
          <p:nvPr/>
        </p:nvSpPr>
        <p:spPr>
          <a:xfrm flipH="true" flipV="false" rot="0">
            <a:off x="9421940" y="4041336"/>
            <a:ext cx="3666147" cy="2931830"/>
          </a:xfrm>
          <a:custGeom>
            <a:avLst/>
            <a:gdLst/>
            <a:ahLst/>
            <a:cxnLst/>
            <a:rect r="r" b="b" t="t" l="l"/>
            <a:pathLst>
              <a:path h="2931830" w="3666147">
                <a:moveTo>
                  <a:pt x="3666147" y="0"/>
                </a:moveTo>
                <a:lnTo>
                  <a:pt x="0" y="0"/>
                </a:lnTo>
                <a:lnTo>
                  <a:pt x="0" y="2931830"/>
                </a:lnTo>
                <a:lnTo>
                  <a:pt x="3666147" y="2931830"/>
                </a:lnTo>
                <a:lnTo>
                  <a:pt x="366614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false" rot="0">
            <a:off x="4429147" y="6252727"/>
            <a:ext cx="3666147" cy="2931830"/>
          </a:xfrm>
          <a:custGeom>
            <a:avLst/>
            <a:gdLst/>
            <a:ahLst/>
            <a:cxnLst/>
            <a:rect r="r" b="b" t="t" l="l"/>
            <a:pathLst>
              <a:path h="2931830" w="3666147">
                <a:moveTo>
                  <a:pt x="3666147" y="0"/>
                </a:moveTo>
                <a:lnTo>
                  <a:pt x="0" y="0"/>
                </a:lnTo>
                <a:lnTo>
                  <a:pt x="0" y="2931830"/>
                </a:lnTo>
                <a:lnTo>
                  <a:pt x="3666147" y="2931830"/>
                </a:lnTo>
                <a:lnTo>
                  <a:pt x="366614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2665481" y="4041336"/>
            <a:ext cx="3625750" cy="726226"/>
          </a:xfrm>
          <a:custGeom>
            <a:avLst/>
            <a:gdLst/>
            <a:ahLst/>
            <a:cxnLst/>
            <a:rect r="r" b="b" t="t" l="l"/>
            <a:pathLst>
              <a:path h="726226" w="3625750">
                <a:moveTo>
                  <a:pt x="0" y="0"/>
                </a:moveTo>
                <a:lnTo>
                  <a:pt x="3625750" y="0"/>
                </a:lnTo>
                <a:lnTo>
                  <a:pt x="3625750" y="726226"/>
                </a:lnTo>
                <a:lnTo>
                  <a:pt x="0" y="72622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7092708" y="6252727"/>
            <a:ext cx="3625750" cy="726226"/>
          </a:xfrm>
          <a:custGeom>
            <a:avLst/>
            <a:gdLst/>
            <a:ahLst/>
            <a:cxnLst/>
            <a:rect r="r" b="b" t="t" l="l"/>
            <a:pathLst>
              <a:path h="726226" w="3625750">
                <a:moveTo>
                  <a:pt x="0" y="0"/>
                </a:moveTo>
                <a:lnTo>
                  <a:pt x="3625749" y="0"/>
                </a:lnTo>
                <a:lnTo>
                  <a:pt x="3625749" y="726226"/>
                </a:lnTo>
                <a:lnTo>
                  <a:pt x="0" y="72622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193086" y="8458332"/>
            <a:ext cx="3625750" cy="726226"/>
          </a:xfrm>
          <a:custGeom>
            <a:avLst/>
            <a:gdLst/>
            <a:ahLst/>
            <a:cxnLst/>
            <a:rect r="r" b="b" t="t" l="l"/>
            <a:pathLst>
              <a:path h="726226" w="3625750">
                <a:moveTo>
                  <a:pt x="0" y="0"/>
                </a:moveTo>
                <a:lnTo>
                  <a:pt x="3625750" y="0"/>
                </a:lnTo>
                <a:lnTo>
                  <a:pt x="3625750" y="726225"/>
                </a:lnTo>
                <a:lnTo>
                  <a:pt x="0" y="72622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-1526583" y="8458332"/>
            <a:ext cx="3625750" cy="726226"/>
          </a:xfrm>
          <a:custGeom>
            <a:avLst/>
            <a:gdLst/>
            <a:ahLst/>
            <a:cxnLst/>
            <a:rect r="r" b="b" t="t" l="l"/>
            <a:pathLst>
              <a:path h="726226" w="3625750">
                <a:moveTo>
                  <a:pt x="0" y="0"/>
                </a:moveTo>
                <a:lnTo>
                  <a:pt x="3625750" y="0"/>
                </a:lnTo>
                <a:lnTo>
                  <a:pt x="3625750" y="726225"/>
                </a:lnTo>
                <a:lnTo>
                  <a:pt x="0" y="72622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357474" y="4669414"/>
            <a:ext cx="948173" cy="948173"/>
          </a:xfrm>
          <a:custGeom>
            <a:avLst/>
            <a:gdLst/>
            <a:ahLst/>
            <a:cxnLst/>
            <a:rect r="r" b="b" t="t" l="l"/>
            <a:pathLst>
              <a:path h="948173" w="948173">
                <a:moveTo>
                  <a:pt x="0" y="0"/>
                </a:moveTo>
                <a:lnTo>
                  <a:pt x="948172" y="0"/>
                </a:lnTo>
                <a:lnTo>
                  <a:pt x="948172" y="948172"/>
                </a:lnTo>
                <a:lnTo>
                  <a:pt x="0" y="94817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6567250" y="2661123"/>
            <a:ext cx="948173" cy="948173"/>
          </a:xfrm>
          <a:custGeom>
            <a:avLst/>
            <a:gdLst/>
            <a:ahLst/>
            <a:cxnLst/>
            <a:rect r="r" b="b" t="t" l="l"/>
            <a:pathLst>
              <a:path h="948173" w="948173">
                <a:moveTo>
                  <a:pt x="0" y="0"/>
                </a:moveTo>
                <a:lnTo>
                  <a:pt x="948173" y="0"/>
                </a:lnTo>
                <a:lnTo>
                  <a:pt x="948173" y="948172"/>
                </a:lnTo>
                <a:lnTo>
                  <a:pt x="0" y="94817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1531939" y="630133"/>
            <a:ext cx="948173" cy="948173"/>
          </a:xfrm>
          <a:custGeom>
            <a:avLst/>
            <a:gdLst/>
            <a:ahLst/>
            <a:cxnLst/>
            <a:rect r="r" b="b" t="t" l="l"/>
            <a:pathLst>
              <a:path h="948173" w="948173">
                <a:moveTo>
                  <a:pt x="0" y="0"/>
                </a:moveTo>
                <a:lnTo>
                  <a:pt x="948172" y="0"/>
                </a:lnTo>
                <a:lnTo>
                  <a:pt x="948172" y="948173"/>
                </a:lnTo>
                <a:lnTo>
                  <a:pt x="0" y="94817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3225234" y="7784382"/>
            <a:ext cx="4739376" cy="1381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400"/>
              </a:lnSpc>
            </a:pPr>
            <a:r>
              <a:rPr lang="en-US" b="true" sz="4500">
                <a:solidFill>
                  <a:srgbClr val="181A1A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Implementation</a:t>
            </a:r>
          </a:p>
          <a:p>
            <a:pPr algn="l" marL="0" indent="0" lvl="0">
              <a:lnSpc>
                <a:spcPts val="5400"/>
              </a:lnSpc>
            </a:pPr>
            <a:r>
              <a:rPr lang="en-US" b="true" sz="4500">
                <a:solidFill>
                  <a:srgbClr val="181A1A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Timeline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1531937" y="2230043"/>
            <a:ext cx="3807903" cy="12366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12"/>
              </a:lnSpc>
            </a:pPr>
            <a:r>
              <a:rPr lang="en-US" sz="1395">
                <a:solidFill>
                  <a:srgbClr val="181A1A"/>
                </a:solidFill>
                <a:latin typeface="Canva Sans"/>
                <a:ea typeface="Canva Sans"/>
                <a:cs typeface="Canva Sans"/>
                <a:sym typeface="Canva Sans"/>
              </a:rPr>
              <a:t>Cloud deployment on Azure, real-time monitoring, model fine-tuning, user acceptance testing, and final evaluation</a:t>
            </a:r>
          </a:p>
          <a:p>
            <a:pPr algn="l" marL="0" indent="0" lvl="0">
              <a:lnSpc>
                <a:spcPts val="2512"/>
              </a:lnSpc>
            </a:pPr>
            <a:r>
              <a:rPr lang="en-US" sz="1395">
                <a:solidFill>
                  <a:srgbClr val="181A1A"/>
                </a:solidFill>
                <a:latin typeface="Canva Sans"/>
                <a:ea typeface="Canva Sans"/>
                <a:cs typeface="Canva Sans"/>
                <a:sym typeface="Canva Sans"/>
              </a:rPr>
              <a:t>Month 5–6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1531939" y="1738553"/>
            <a:ext cx="5268279" cy="4306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777"/>
              </a:lnSpc>
              <a:spcBef>
                <a:spcPct val="0"/>
              </a:spcBef>
            </a:pPr>
            <a:r>
              <a:rPr lang="en-US" b="true" sz="2098">
                <a:solidFill>
                  <a:srgbClr val="181A1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Phase 3: Deployment &amp; Optimization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357473" y="5853026"/>
            <a:ext cx="5268279" cy="4306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777"/>
              </a:lnSpc>
              <a:spcBef>
                <a:spcPct val="0"/>
              </a:spcBef>
            </a:pPr>
            <a:r>
              <a:rPr lang="en-US" b="true" sz="2098">
                <a:solidFill>
                  <a:srgbClr val="181A1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Phase 1: Research &amp; Design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1106298" y="1104219"/>
            <a:ext cx="4438904" cy="1556903"/>
          </a:xfrm>
          <a:custGeom>
            <a:avLst/>
            <a:gdLst/>
            <a:ahLst/>
            <a:cxnLst/>
            <a:rect r="r" b="b" t="t" l="l"/>
            <a:pathLst>
              <a:path h="1556903" w="4438904">
                <a:moveTo>
                  <a:pt x="0" y="0"/>
                </a:moveTo>
                <a:lnTo>
                  <a:pt x="4438904" y="0"/>
                </a:lnTo>
                <a:lnTo>
                  <a:pt x="4438904" y="1556904"/>
                </a:lnTo>
                <a:lnTo>
                  <a:pt x="0" y="155690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F3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5400000">
            <a:off x="3000052" y="6476715"/>
            <a:ext cx="4308443" cy="3445476"/>
          </a:xfrm>
          <a:custGeom>
            <a:avLst/>
            <a:gdLst/>
            <a:ahLst/>
            <a:cxnLst/>
            <a:rect r="r" b="b" t="t" l="l"/>
            <a:pathLst>
              <a:path h="3445476" w="4308443">
                <a:moveTo>
                  <a:pt x="4308443" y="3445476"/>
                </a:moveTo>
                <a:lnTo>
                  <a:pt x="0" y="3445476"/>
                </a:lnTo>
                <a:lnTo>
                  <a:pt x="0" y="0"/>
                </a:lnTo>
                <a:lnTo>
                  <a:pt x="4308443" y="0"/>
                </a:lnTo>
                <a:lnTo>
                  <a:pt x="4308443" y="344547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5400000">
            <a:off x="4297521" y="3688533"/>
            <a:ext cx="4298088" cy="860893"/>
          </a:xfrm>
          <a:custGeom>
            <a:avLst/>
            <a:gdLst/>
            <a:ahLst/>
            <a:cxnLst/>
            <a:rect r="r" b="b" t="t" l="l"/>
            <a:pathLst>
              <a:path h="860893" w="4298088">
                <a:moveTo>
                  <a:pt x="4298088" y="0"/>
                </a:moveTo>
                <a:lnTo>
                  <a:pt x="0" y="0"/>
                </a:lnTo>
                <a:lnTo>
                  <a:pt x="0" y="860893"/>
                </a:lnTo>
                <a:lnTo>
                  <a:pt x="4298088" y="860893"/>
                </a:lnTo>
                <a:lnTo>
                  <a:pt x="4298088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5400000">
            <a:off x="4297521" y="1562480"/>
            <a:ext cx="4298088" cy="860893"/>
          </a:xfrm>
          <a:custGeom>
            <a:avLst/>
            <a:gdLst/>
            <a:ahLst/>
            <a:cxnLst/>
            <a:rect r="r" b="b" t="t" l="l"/>
            <a:pathLst>
              <a:path h="860893" w="4298088">
                <a:moveTo>
                  <a:pt x="4298088" y="0"/>
                </a:moveTo>
                <a:lnTo>
                  <a:pt x="0" y="0"/>
                </a:lnTo>
                <a:lnTo>
                  <a:pt x="0" y="860893"/>
                </a:lnTo>
                <a:lnTo>
                  <a:pt x="4298088" y="860893"/>
                </a:lnTo>
                <a:lnTo>
                  <a:pt x="4298088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5400000">
            <a:off x="6561666" y="4835994"/>
            <a:ext cx="4298088" cy="860893"/>
          </a:xfrm>
          <a:custGeom>
            <a:avLst/>
            <a:gdLst/>
            <a:ahLst/>
            <a:cxnLst/>
            <a:rect r="r" b="b" t="t" l="l"/>
            <a:pathLst>
              <a:path h="860893" w="4298088">
                <a:moveTo>
                  <a:pt x="4298088" y="0"/>
                </a:moveTo>
                <a:lnTo>
                  <a:pt x="0" y="0"/>
                </a:lnTo>
                <a:lnTo>
                  <a:pt x="0" y="860893"/>
                </a:lnTo>
                <a:lnTo>
                  <a:pt x="4298088" y="860893"/>
                </a:lnTo>
                <a:lnTo>
                  <a:pt x="4298088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5400000">
            <a:off x="6561666" y="979253"/>
            <a:ext cx="4298088" cy="860893"/>
          </a:xfrm>
          <a:custGeom>
            <a:avLst/>
            <a:gdLst/>
            <a:ahLst/>
            <a:cxnLst/>
            <a:rect r="r" b="b" t="t" l="l"/>
            <a:pathLst>
              <a:path h="860893" w="4298088">
                <a:moveTo>
                  <a:pt x="4298088" y="0"/>
                </a:moveTo>
                <a:lnTo>
                  <a:pt x="0" y="0"/>
                </a:lnTo>
                <a:lnTo>
                  <a:pt x="0" y="860893"/>
                </a:lnTo>
                <a:lnTo>
                  <a:pt x="4298088" y="860893"/>
                </a:lnTo>
                <a:lnTo>
                  <a:pt x="4298088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true" rot="-10800000">
            <a:off x="9750756" y="849880"/>
            <a:ext cx="328749" cy="491490"/>
          </a:xfrm>
          <a:custGeom>
            <a:avLst/>
            <a:gdLst/>
            <a:ahLst/>
            <a:cxnLst/>
            <a:rect r="r" b="b" t="t" l="l"/>
            <a:pathLst>
              <a:path h="491490" w="328749">
                <a:moveTo>
                  <a:pt x="328749" y="491490"/>
                </a:moveTo>
                <a:lnTo>
                  <a:pt x="0" y="491490"/>
                </a:lnTo>
                <a:lnTo>
                  <a:pt x="0" y="0"/>
                </a:lnTo>
                <a:lnTo>
                  <a:pt x="328749" y="0"/>
                </a:lnTo>
                <a:lnTo>
                  <a:pt x="328749" y="49149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true" flipV="true" rot="-10800000">
            <a:off x="711686" y="1040380"/>
            <a:ext cx="328749" cy="491490"/>
          </a:xfrm>
          <a:custGeom>
            <a:avLst/>
            <a:gdLst/>
            <a:ahLst/>
            <a:cxnLst/>
            <a:rect r="r" b="b" t="t" l="l"/>
            <a:pathLst>
              <a:path h="491490" w="328749">
                <a:moveTo>
                  <a:pt x="328749" y="491490"/>
                </a:moveTo>
                <a:lnTo>
                  <a:pt x="0" y="491490"/>
                </a:lnTo>
                <a:lnTo>
                  <a:pt x="0" y="0"/>
                </a:lnTo>
                <a:lnTo>
                  <a:pt x="328749" y="0"/>
                </a:lnTo>
                <a:lnTo>
                  <a:pt x="328749" y="49149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true" flipV="true" rot="-10800000">
            <a:off x="711686" y="3957783"/>
            <a:ext cx="328749" cy="491490"/>
          </a:xfrm>
          <a:custGeom>
            <a:avLst/>
            <a:gdLst/>
            <a:ahLst/>
            <a:cxnLst/>
            <a:rect r="r" b="b" t="t" l="l"/>
            <a:pathLst>
              <a:path h="491490" w="328749">
                <a:moveTo>
                  <a:pt x="328749" y="491490"/>
                </a:moveTo>
                <a:lnTo>
                  <a:pt x="0" y="491490"/>
                </a:lnTo>
                <a:lnTo>
                  <a:pt x="0" y="0"/>
                </a:lnTo>
                <a:lnTo>
                  <a:pt x="328749" y="0"/>
                </a:lnTo>
                <a:lnTo>
                  <a:pt x="328749" y="49149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true" flipV="false" rot="5400000">
            <a:off x="6561666" y="7960169"/>
            <a:ext cx="4298088" cy="860893"/>
          </a:xfrm>
          <a:custGeom>
            <a:avLst/>
            <a:gdLst/>
            <a:ahLst/>
            <a:cxnLst/>
            <a:rect r="r" b="b" t="t" l="l"/>
            <a:pathLst>
              <a:path h="860893" w="4298088">
                <a:moveTo>
                  <a:pt x="4298088" y="0"/>
                </a:moveTo>
                <a:lnTo>
                  <a:pt x="0" y="0"/>
                </a:lnTo>
                <a:lnTo>
                  <a:pt x="0" y="860893"/>
                </a:lnTo>
                <a:lnTo>
                  <a:pt x="4298088" y="860893"/>
                </a:lnTo>
                <a:lnTo>
                  <a:pt x="4298088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3160850" y="1914202"/>
            <a:ext cx="4369401" cy="6935558"/>
          </a:xfrm>
          <a:custGeom>
            <a:avLst/>
            <a:gdLst/>
            <a:ahLst/>
            <a:cxnLst/>
            <a:rect r="r" b="b" t="t" l="l"/>
            <a:pathLst>
              <a:path h="6935558" w="4369401">
                <a:moveTo>
                  <a:pt x="0" y="0"/>
                </a:moveTo>
                <a:lnTo>
                  <a:pt x="4369402" y="0"/>
                </a:lnTo>
                <a:lnTo>
                  <a:pt x="4369402" y="6935558"/>
                </a:lnTo>
                <a:lnTo>
                  <a:pt x="0" y="693555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9417080" y="8849760"/>
            <a:ext cx="7487542" cy="666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276"/>
              </a:lnSpc>
            </a:pPr>
            <a:r>
              <a:rPr lang="en-US" b="true" sz="4396">
                <a:solidFill>
                  <a:srgbClr val="181A1A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Testing Methodology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393830" y="845118"/>
            <a:ext cx="4442524" cy="4516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57"/>
              </a:lnSpc>
            </a:pPr>
            <a:r>
              <a:rPr lang="en-US" b="true" sz="2198">
                <a:solidFill>
                  <a:srgbClr val="181A1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Performance Testing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393830" y="1446145"/>
            <a:ext cx="3688821" cy="15509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12"/>
              </a:lnSpc>
            </a:pPr>
            <a:r>
              <a:rPr lang="en-US" sz="1395">
                <a:solidFill>
                  <a:srgbClr val="181A1A"/>
                </a:solidFill>
                <a:latin typeface="Canva Sans"/>
                <a:ea typeface="Canva Sans"/>
                <a:cs typeface="Canva Sans"/>
                <a:sym typeface="Canva Sans"/>
              </a:rPr>
              <a:t>Scalability and load tests simulate thousands of concurrent EV charging sessions to validate system throughput, latency benchmarks, and cloud auto-scaling capabilities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331392" y="3995155"/>
            <a:ext cx="4065602" cy="4516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57"/>
              </a:lnSpc>
            </a:pPr>
            <a:r>
              <a:rPr lang="en-US" b="true" sz="2198">
                <a:solidFill>
                  <a:srgbClr val="181A1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Integration Testing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331392" y="1026093"/>
            <a:ext cx="4065602" cy="4516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57"/>
              </a:lnSpc>
            </a:pPr>
            <a:r>
              <a:rPr lang="en-US" b="true" sz="2198">
                <a:solidFill>
                  <a:srgbClr val="181A1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Unit Testing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331392" y="1593782"/>
            <a:ext cx="3688821" cy="15509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12"/>
              </a:lnSpc>
            </a:pPr>
            <a:r>
              <a:rPr lang="en-US" sz="1395">
                <a:solidFill>
                  <a:srgbClr val="181A1A"/>
                </a:solidFill>
                <a:latin typeface="Canva Sans"/>
                <a:ea typeface="Canva Sans"/>
                <a:cs typeface="Canva Sans"/>
                <a:sym typeface="Canva Sans"/>
              </a:rPr>
              <a:t>Rigorous unit tests validate each ML model component, ensuring prediction accuracy, data preprocessing pipelines, and model inference logic perform correctly under all conditions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331392" y="4576180"/>
            <a:ext cx="4065602" cy="12366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12"/>
              </a:lnSpc>
            </a:pPr>
            <a:r>
              <a:rPr lang="en-US" sz="1395">
                <a:solidFill>
                  <a:srgbClr val="181A1A"/>
                </a:solidFill>
                <a:latin typeface="Canva Sans"/>
                <a:ea typeface="Canva Sans"/>
                <a:cs typeface="Canva Sans"/>
                <a:sym typeface="Canva Sans"/>
              </a:rPr>
              <a:t>End-to-end API integration tests verify seamless communication between Azure ML services, IoT Hub, charging station controllers, and the optimization engine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-2559991" y="7827091"/>
            <a:ext cx="5119982" cy="744725"/>
          </a:xfrm>
          <a:custGeom>
            <a:avLst/>
            <a:gdLst/>
            <a:ahLst/>
            <a:cxnLst/>
            <a:rect r="r" b="b" t="t" l="l"/>
            <a:pathLst>
              <a:path h="744725" w="5119982">
                <a:moveTo>
                  <a:pt x="0" y="0"/>
                </a:moveTo>
                <a:lnTo>
                  <a:pt x="5119982" y="0"/>
                </a:lnTo>
                <a:lnTo>
                  <a:pt x="5119982" y="744725"/>
                </a:lnTo>
                <a:lnTo>
                  <a:pt x="0" y="744725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5400000">
            <a:off x="9824894" y="5313185"/>
            <a:ext cx="3172218" cy="461414"/>
          </a:xfrm>
          <a:custGeom>
            <a:avLst/>
            <a:gdLst/>
            <a:ahLst/>
            <a:cxnLst/>
            <a:rect r="r" b="b" t="t" l="l"/>
            <a:pathLst>
              <a:path h="461414" w="3172218">
                <a:moveTo>
                  <a:pt x="0" y="0"/>
                </a:moveTo>
                <a:lnTo>
                  <a:pt x="3172218" y="0"/>
                </a:lnTo>
                <a:lnTo>
                  <a:pt x="3172218" y="461413"/>
                </a:lnTo>
                <a:lnTo>
                  <a:pt x="0" y="461413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F3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1469353" y="5583549"/>
            <a:ext cx="3645109" cy="10566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135"/>
              </a:lnSpc>
            </a:pPr>
            <a:r>
              <a:rPr lang="en-US" sz="1525">
                <a:solidFill>
                  <a:srgbClr val="181A1A"/>
                </a:solidFill>
                <a:latin typeface="Canva Sans"/>
                <a:ea typeface="Canva Sans"/>
                <a:cs typeface="Canva Sans"/>
                <a:sym typeface="Canva Sans"/>
              </a:rPr>
              <a:t>42% improvement in demand forecasting accuracy using Azure ML time-series models and real-time IoT data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-4257933" y="8001483"/>
            <a:ext cx="13677745" cy="1196803"/>
          </a:xfrm>
          <a:custGeom>
            <a:avLst/>
            <a:gdLst/>
            <a:ahLst/>
            <a:cxnLst/>
            <a:rect r="r" b="b" t="t" l="l"/>
            <a:pathLst>
              <a:path h="1196803" w="13677745">
                <a:moveTo>
                  <a:pt x="0" y="0"/>
                </a:moveTo>
                <a:lnTo>
                  <a:pt x="13677745" y="0"/>
                </a:lnTo>
                <a:lnTo>
                  <a:pt x="13677745" y="1196803"/>
                </a:lnTo>
                <a:lnTo>
                  <a:pt x="0" y="119680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515126" y="8069870"/>
            <a:ext cx="18237038" cy="1162611"/>
          </a:xfrm>
          <a:custGeom>
            <a:avLst/>
            <a:gdLst/>
            <a:ahLst/>
            <a:cxnLst/>
            <a:rect r="r" b="b" t="t" l="l"/>
            <a:pathLst>
              <a:path h="1162611" w="18237038">
                <a:moveTo>
                  <a:pt x="0" y="0"/>
                </a:moveTo>
                <a:lnTo>
                  <a:pt x="18237038" y="0"/>
                </a:lnTo>
                <a:lnTo>
                  <a:pt x="18237038" y="1162612"/>
                </a:lnTo>
                <a:lnTo>
                  <a:pt x="0" y="116261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6703935" y="8069996"/>
            <a:ext cx="12870238" cy="1142234"/>
          </a:xfrm>
          <a:custGeom>
            <a:avLst/>
            <a:gdLst/>
            <a:ahLst/>
            <a:cxnLst/>
            <a:rect r="r" b="b" t="t" l="l"/>
            <a:pathLst>
              <a:path h="1142234" w="12870238">
                <a:moveTo>
                  <a:pt x="0" y="0"/>
                </a:moveTo>
                <a:lnTo>
                  <a:pt x="12870238" y="0"/>
                </a:lnTo>
                <a:lnTo>
                  <a:pt x="12870238" y="1142234"/>
                </a:lnTo>
                <a:lnTo>
                  <a:pt x="0" y="114223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5400000">
            <a:off x="8256585" y="1446591"/>
            <a:ext cx="16833188" cy="1241448"/>
          </a:xfrm>
          <a:custGeom>
            <a:avLst/>
            <a:gdLst/>
            <a:ahLst/>
            <a:cxnLst/>
            <a:rect r="r" b="b" t="t" l="l"/>
            <a:pathLst>
              <a:path h="1241448" w="16833188">
                <a:moveTo>
                  <a:pt x="0" y="0"/>
                </a:moveTo>
                <a:lnTo>
                  <a:pt x="16833188" y="0"/>
                </a:lnTo>
                <a:lnTo>
                  <a:pt x="16833188" y="1241447"/>
                </a:lnTo>
                <a:lnTo>
                  <a:pt x="0" y="124144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4280132" y="6459489"/>
            <a:ext cx="2434112" cy="2431069"/>
          </a:xfrm>
          <a:custGeom>
            <a:avLst/>
            <a:gdLst/>
            <a:ahLst/>
            <a:cxnLst/>
            <a:rect r="r" b="b" t="t" l="l"/>
            <a:pathLst>
              <a:path h="2431069" w="2434112">
                <a:moveTo>
                  <a:pt x="0" y="0"/>
                </a:moveTo>
                <a:lnTo>
                  <a:pt x="2434112" y="0"/>
                </a:lnTo>
                <a:lnTo>
                  <a:pt x="2434112" y="2431069"/>
                </a:lnTo>
                <a:lnTo>
                  <a:pt x="0" y="243106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3043630" y="7853919"/>
            <a:ext cx="1547862" cy="1526125"/>
            <a:chOff x="0" y="0"/>
            <a:chExt cx="812800" cy="80137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6050" y="0"/>
              <a:ext cx="800699" cy="800100"/>
            </a:xfrm>
            <a:custGeom>
              <a:avLst/>
              <a:gdLst/>
              <a:ahLst/>
              <a:cxnLst/>
              <a:rect r="r" b="b" t="t" l="l"/>
              <a:pathLst>
                <a:path h="800100" w="800699">
                  <a:moveTo>
                    <a:pt x="537510" y="24130"/>
                  </a:moveTo>
                  <a:lnTo>
                    <a:pt x="537510" y="24130"/>
                  </a:lnTo>
                  <a:cubicBezTo>
                    <a:pt x="581206" y="40096"/>
                    <a:pt x="621807" y="63510"/>
                    <a:pt x="657512" y="93334"/>
                  </a:cubicBezTo>
                  <a:lnTo>
                    <a:pt x="657525" y="93345"/>
                  </a:lnTo>
                  <a:cubicBezTo>
                    <a:pt x="693229" y="123169"/>
                    <a:pt x="723403" y="159047"/>
                    <a:pt x="746662" y="199336"/>
                  </a:cubicBezTo>
                  <a:lnTo>
                    <a:pt x="747492" y="200773"/>
                  </a:lnTo>
                  <a:cubicBezTo>
                    <a:pt x="770729" y="241024"/>
                    <a:pt x="786704" y="285049"/>
                    <a:pt x="794685" y="330835"/>
                  </a:cubicBezTo>
                  <a:lnTo>
                    <a:pt x="794685" y="330835"/>
                  </a:lnTo>
                  <a:cubicBezTo>
                    <a:pt x="802669" y="376636"/>
                    <a:pt x="802705" y="423470"/>
                    <a:pt x="794791" y="469283"/>
                  </a:cubicBezTo>
                  <a:lnTo>
                    <a:pt x="794632" y="470206"/>
                  </a:lnTo>
                  <a:cubicBezTo>
                    <a:pt x="786688" y="516197"/>
                    <a:pt x="770577" y="560395"/>
                    <a:pt x="747060" y="600710"/>
                  </a:cubicBezTo>
                  <a:lnTo>
                    <a:pt x="746936" y="600923"/>
                  </a:lnTo>
                  <a:cubicBezTo>
                    <a:pt x="723490" y="641115"/>
                    <a:pt x="693236" y="676925"/>
                    <a:pt x="657525" y="706755"/>
                  </a:cubicBezTo>
                  <a:lnTo>
                    <a:pt x="657512" y="706766"/>
                  </a:lnTo>
                  <a:cubicBezTo>
                    <a:pt x="621807" y="736590"/>
                    <a:pt x="581206" y="760004"/>
                    <a:pt x="537510" y="775970"/>
                  </a:cubicBezTo>
                  <a:lnTo>
                    <a:pt x="537510" y="775970"/>
                  </a:lnTo>
                  <a:cubicBezTo>
                    <a:pt x="493823" y="791933"/>
                    <a:pt x="447672" y="800100"/>
                    <a:pt x="401160" y="800100"/>
                  </a:cubicBezTo>
                  <a:lnTo>
                    <a:pt x="399540" y="800100"/>
                  </a:lnTo>
                  <a:cubicBezTo>
                    <a:pt x="353028" y="800100"/>
                    <a:pt x="306877" y="791933"/>
                    <a:pt x="263190" y="775970"/>
                  </a:cubicBezTo>
                  <a:lnTo>
                    <a:pt x="263190" y="775970"/>
                  </a:lnTo>
                  <a:cubicBezTo>
                    <a:pt x="219494" y="760004"/>
                    <a:pt x="178893" y="736590"/>
                    <a:pt x="143188" y="706766"/>
                  </a:cubicBezTo>
                  <a:lnTo>
                    <a:pt x="143175" y="706755"/>
                  </a:lnTo>
                  <a:cubicBezTo>
                    <a:pt x="107464" y="676925"/>
                    <a:pt x="77210" y="641115"/>
                    <a:pt x="53764" y="600923"/>
                  </a:cubicBezTo>
                  <a:lnTo>
                    <a:pt x="53640" y="600710"/>
                  </a:lnTo>
                  <a:cubicBezTo>
                    <a:pt x="30123" y="560395"/>
                    <a:pt x="14012" y="516197"/>
                    <a:pt x="6068" y="470206"/>
                  </a:cubicBezTo>
                  <a:lnTo>
                    <a:pt x="5909" y="469283"/>
                  </a:lnTo>
                  <a:cubicBezTo>
                    <a:pt x="-2005" y="423470"/>
                    <a:pt x="-1969" y="376636"/>
                    <a:pt x="6015" y="330835"/>
                  </a:cubicBezTo>
                  <a:lnTo>
                    <a:pt x="6015" y="330835"/>
                  </a:lnTo>
                  <a:cubicBezTo>
                    <a:pt x="13996" y="285049"/>
                    <a:pt x="29971" y="241024"/>
                    <a:pt x="53208" y="200773"/>
                  </a:cubicBezTo>
                  <a:lnTo>
                    <a:pt x="54038" y="199336"/>
                  </a:lnTo>
                  <a:cubicBezTo>
                    <a:pt x="77297" y="159047"/>
                    <a:pt x="107471" y="123169"/>
                    <a:pt x="143175" y="93345"/>
                  </a:cubicBezTo>
                  <a:lnTo>
                    <a:pt x="143188" y="93334"/>
                  </a:lnTo>
                  <a:cubicBezTo>
                    <a:pt x="178893" y="63510"/>
                    <a:pt x="219494" y="40096"/>
                    <a:pt x="263190" y="24130"/>
                  </a:cubicBezTo>
                  <a:lnTo>
                    <a:pt x="263190" y="24130"/>
                  </a:lnTo>
                  <a:cubicBezTo>
                    <a:pt x="306877" y="8167"/>
                    <a:pt x="353028" y="0"/>
                    <a:pt x="399540" y="0"/>
                  </a:cubicBezTo>
                  <a:lnTo>
                    <a:pt x="401160" y="0"/>
                  </a:lnTo>
                  <a:cubicBezTo>
                    <a:pt x="447672" y="0"/>
                    <a:pt x="493823" y="8167"/>
                    <a:pt x="537510" y="24130"/>
                  </a:cubicBezTo>
                  <a:close/>
                </a:path>
              </a:pathLst>
            </a:custGeom>
            <a:solidFill>
              <a:srgbClr val="004F5E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122142" y="115968"/>
              <a:ext cx="568517" cy="5683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7783869" y="7853919"/>
            <a:ext cx="1547862" cy="1526125"/>
            <a:chOff x="0" y="0"/>
            <a:chExt cx="812800" cy="80137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6050" y="0"/>
              <a:ext cx="800699" cy="800100"/>
            </a:xfrm>
            <a:custGeom>
              <a:avLst/>
              <a:gdLst/>
              <a:ahLst/>
              <a:cxnLst/>
              <a:rect r="r" b="b" t="t" l="l"/>
              <a:pathLst>
                <a:path h="800100" w="800699">
                  <a:moveTo>
                    <a:pt x="537510" y="24130"/>
                  </a:moveTo>
                  <a:lnTo>
                    <a:pt x="537510" y="24130"/>
                  </a:lnTo>
                  <a:cubicBezTo>
                    <a:pt x="581206" y="40096"/>
                    <a:pt x="621807" y="63510"/>
                    <a:pt x="657512" y="93334"/>
                  </a:cubicBezTo>
                  <a:lnTo>
                    <a:pt x="657525" y="93345"/>
                  </a:lnTo>
                  <a:cubicBezTo>
                    <a:pt x="693229" y="123169"/>
                    <a:pt x="723403" y="159047"/>
                    <a:pt x="746662" y="199336"/>
                  </a:cubicBezTo>
                  <a:lnTo>
                    <a:pt x="747492" y="200773"/>
                  </a:lnTo>
                  <a:cubicBezTo>
                    <a:pt x="770729" y="241024"/>
                    <a:pt x="786704" y="285049"/>
                    <a:pt x="794685" y="330835"/>
                  </a:cubicBezTo>
                  <a:lnTo>
                    <a:pt x="794685" y="330835"/>
                  </a:lnTo>
                  <a:cubicBezTo>
                    <a:pt x="802669" y="376636"/>
                    <a:pt x="802705" y="423470"/>
                    <a:pt x="794791" y="469283"/>
                  </a:cubicBezTo>
                  <a:lnTo>
                    <a:pt x="794632" y="470206"/>
                  </a:lnTo>
                  <a:cubicBezTo>
                    <a:pt x="786688" y="516197"/>
                    <a:pt x="770577" y="560395"/>
                    <a:pt x="747060" y="600710"/>
                  </a:cubicBezTo>
                  <a:lnTo>
                    <a:pt x="746936" y="600923"/>
                  </a:lnTo>
                  <a:cubicBezTo>
                    <a:pt x="723490" y="641115"/>
                    <a:pt x="693236" y="676925"/>
                    <a:pt x="657525" y="706755"/>
                  </a:cubicBezTo>
                  <a:lnTo>
                    <a:pt x="657512" y="706766"/>
                  </a:lnTo>
                  <a:cubicBezTo>
                    <a:pt x="621807" y="736590"/>
                    <a:pt x="581206" y="760004"/>
                    <a:pt x="537510" y="775970"/>
                  </a:cubicBezTo>
                  <a:lnTo>
                    <a:pt x="537510" y="775970"/>
                  </a:lnTo>
                  <a:cubicBezTo>
                    <a:pt x="493823" y="791933"/>
                    <a:pt x="447672" y="800100"/>
                    <a:pt x="401160" y="800100"/>
                  </a:cubicBezTo>
                  <a:lnTo>
                    <a:pt x="399540" y="800100"/>
                  </a:lnTo>
                  <a:cubicBezTo>
                    <a:pt x="353028" y="800100"/>
                    <a:pt x="306877" y="791933"/>
                    <a:pt x="263190" y="775970"/>
                  </a:cubicBezTo>
                  <a:lnTo>
                    <a:pt x="263190" y="775970"/>
                  </a:lnTo>
                  <a:cubicBezTo>
                    <a:pt x="219494" y="760004"/>
                    <a:pt x="178893" y="736590"/>
                    <a:pt x="143188" y="706766"/>
                  </a:cubicBezTo>
                  <a:lnTo>
                    <a:pt x="143175" y="706755"/>
                  </a:lnTo>
                  <a:cubicBezTo>
                    <a:pt x="107464" y="676925"/>
                    <a:pt x="77210" y="641115"/>
                    <a:pt x="53764" y="600923"/>
                  </a:cubicBezTo>
                  <a:lnTo>
                    <a:pt x="53640" y="600710"/>
                  </a:lnTo>
                  <a:cubicBezTo>
                    <a:pt x="30123" y="560395"/>
                    <a:pt x="14012" y="516197"/>
                    <a:pt x="6068" y="470206"/>
                  </a:cubicBezTo>
                  <a:lnTo>
                    <a:pt x="5909" y="469283"/>
                  </a:lnTo>
                  <a:cubicBezTo>
                    <a:pt x="-2005" y="423470"/>
                    <a:pt x="-1969" y="376636"/>
                    <a:pt x="6015" y="330835"/>
                  </a:cubicBezTo>
                  <a:lnTo>
                    <a:pt x="6015" y="330835"/>
                  </a:lnTo>
                  <a:cubicBezTo>
                    <a:pt x="13996" y="285049"/>
                    <a:pt x="29971" y="241024"/>
                    <a:pt x="53208" y="200773"/>
                  </a:cubicBezTo>
                  <a:lnTo>
                    <a:pt x="54038" y="199336"/>
                  </a:lnTo>
                  <a:cubicBezTo>
                    <a:pt x="77297" y="159047"/>
                    <a:pt x="107471" y="123169"/>
                    <a:pt x="143175" y="93345"/>
                  </a:cubicBezTo>
                  <a:lnTo>
                    <a:pt x="143188" y="93334"/>
                  </a:lnTo>
                  <a:cubicBezTo>
                    <a:pt x="178893" y="63510"/>
                    <a:pt x="219494" y="40096"/>
                    <a:pt x="263190" y="24130"/>
                  </a:cubicBezTo>
                  <a:lnTo>
                    <a:pt x="263190" y="24130"/>
                  </a:lnTo>
                  <a:cubicBezTo>
                    <a:pt x="306877" y="8167"/>
                    <a:pt x="353028" y="0"/>
                    <a:pt x="399540" y="0"/>
                  </a:cubicBezTo>
                  <a:lnTo>
                    <a:pt x="401160" y="0"/>
                  </a:lnTo>
                  <a:cubicBezTo>
                    <a:pt x="447672" y="0"/>
                    <a:pt x="493823" y="8167"/>
                    <a:pt x="537510" y="24130"/>
                  </a:cubicBezTo>
                  <a:close/>
                </a:path>
              </a:pathLst>
            </a:custGeom>
            <a:solidFill>
              <a:srgbClr val="B3D3D9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122142" y="115968"/>
              <a:ext cx="568517" cy="5683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2525353" y="7853919"/>
            <a:ext cx="1547862" cy="1526125"/>
            <a:chOff x="0" y="0"/>
            <a:chExt cx="812800" cy="80137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6050" y="0"/>
              <a:ext cx="800699" cy="800100"/>
            </a:xfrm>
            <a:custGeom>
              <a:avLst/>
              <a:gdLst/>
              <a:ahLst/>
              <a:cxnLst/>
              <a:rect r="r" b="b" t="t" l="l"/>
              <a:pathLst>
                <a:path h="800100" w="800699">
                  <a:moveTo>
                    <a:pt x="537510" y="24130"/>
                  </a:moveTo>
                  <a:lnTo>
                    <a:pt x="537510" y="24130"/>
                  </a:lnTo>
                  <a:cubicBezTo>
                    <a:pt x="581206" y="40096"/>
                    <a:pt x="621807" y="63510"/>
                    <a:pt x="657512" y="93334"/>
                  </a:cubicBezTo>
                  <a:lnTo>
                    <a:pt x="657525" y="93345"/>
                  </a:lnTo>
                  <a:cubicBezTo>
                    <a:pt x="693229" y="123169"/>
                    <a:pt x="723403" y="159047"/>
                    <a:pt x="746662" y="199336"/>
                  </a:cubicBezTo>
                  <a:lnTo>
                    <a:pt x="747492" y="200773"/>
                  </a:lnTo>
                  <a:cubicBezTo>
                    <a:pt x="770729" y="241024"/>
                    <a:pt x="786704" y="285049"/>
                    <a:pt x="794685" y="330835"/>
                  </a:cubicBezTo>
                  <a:lnTo>
                    <a:pt x="794685" y="330835"/>
                  </a:lnTo>
                  <a:cubicBezTo>
                    <a:pt x="802669" y="376636"/>
                    <a:pt x="802705" y="423470"/>
                    <a:pt x="794791" y="469283"/>
                  </a:cubicBezTo>
                  <a:lnTo>
                    <a:pt x="794632" y="470206"/>
                  </a:lnTo>
                  <a:cubicBezTo>
                    <a:pt x="786688" y="516197"/>
                    <a:pt x="770577" y="560395"/>
                    <a:pt x="747060" y="600710"/>
                  </a:cubicBezTo>
                  <a:lnTo>
                    <a:pt x="746936" y="600923"/>
                  </a:lnTo>
                  <a:cubicBezTo>
                    <a:pt x="723490" y="641115"/>
                    <a:pt x="693236" y="676925"/>
                    <a:pt x="657525" y="706755"/>
                  </a:cubicBezTo>
                  <a:lnTo>
                    <a:pt x="657512" y="706766"/>
                  </a:lnTo>
                  <a:cubicBezTo>
                    <a:pt x="621807" y="736590"/>
                    <a:pt x="581206" y="760004"/>
                    <a:pt x="537510" y="775970"/>
                  </a:cubicBezTo>
                  <a:lnTo>
                    <a:pt x="537510" y="775970"/>
                  </a:lnTo>
                  <a:cubicBezTo>
                    <a:pt x="493823" y="791933"/>
                    <a:pt x="447672" y="800100"/>
                    <a:pt x="401160" y="800100"/>
                  </a:cubicBezTo>
                  <a:lnTo>
                    <a:pt x="399540" y="800100"/>
                  </a:lnTo>
                  <a:cubicBezTo>
                    <a:pt x="353028" y="800100"/>
                    <a:pt x="306877" y="791933"/>
                    <a:pt x="263190" y="775970"/>
                  </a:cubicBezTo>
                  <a:lnTo>
                    <a:pt x="263190" y="775970"/>
                  </a:lnTo>
                  <a:cubicBezTo>
                    <a:pt x="219494" y="760004"/>
                    <a:pt x="178893" y="736590"/>
                    <a:pt x="143188" y="706766"/>
                  </a:cubicBezTo>
                  <a:lnTo>
                    <a:pt x="143175" y="706755"/>
                  </a:lnTo>
                  <a:cubicBezTo>
                    <a:pt x="107464" y="676925"/>
                    <a:pt x="77210" y="641115"/>
                    <a:pt x="53764" y="600923"/>
                  </a:cubicBezTo>
                  <a:lnTo>
                    <a:pt x="53640" y="600710"/>
                  </a:lnTo>
                  <a:cubicBezTo>
                    <a:pt x="30123" y="560395"/>
                    <a:pt x="14012" y="516197"/>
                    <a:pt x="6068" y="470206"/>
                  </a:cubicBezTo>
                  <a:lnTo>
                    <a:pt x="5909" y="469283"/>
                  </a:lnTo>
                  <a:cubicBezTo>
                    <a:pt x="-2005" y="423470"/>
                    <a:pt x="-1969" y="376636"/>
                    <a:pt x="6015" y="330835"/>
                  </a:cubicBezTo>
                  <a:lnTo>
                    <a:pt x="6015" y="330835"/>
                  </a:lnTo>
                  <a:cubicBezTo>
                    <a:pt x="13996" y="285049"/>
                    <a:pt x="29971" y="241024"/>
                    <a:pt x="53208" y="200773"/>
                  </a:cubicBezTo>
                  <a:lnTo>
                    <a:pt x="54038" y="199336"/>
                  </a:lnTo>
                  <a:cubicBezTo>
                    <a:pt x="77297" y="159047"/>
                    <a:pt x="107471" y="123169"/>
                    <a:pt x="143175" y="93345"/>
                  </a:cubicBezTo>
                  <a:lnTo>
                    <a:pt x="143188" y="93334"/>
                  </a:lnTo>
                  <a:cubicBezTo>
                    <a:pt x="178893" y="63510"/>
                    <a:pt x="219494" y="40096"/>
                    <a:pt x="263190" y="24130"/>
                  </a:cubicBezTo>
                  <a:lnTo>
                    <a:pt x="263190" y="24130"/>
                  </a:lnTo>
                  <a:cubicBezTo>
                    <a:pt x="306877" y="8167"/>
                    <a:pt x="353028" y="0"/>
                    <a:pt x="399540" y="0"/>
                  </a:cubicBezTo>
                  <a:lnTo>
                    <a:pt x="401160" y="0"/>
                  </a:lnTo>
                  <a:cubicBezTo>
                    <a:pt x="447672" y="0"/>
                    <a:pt x="493823" y="8167"/>
                    <a:pt x="537510" y="24130"/>
                  </a:cubicBezTo>
                  <a:close/>
                </a:path>
              </a:pathLst>
            </a:custGeom>
            <a:solidFill>
              <a:srgbClr val="004F5E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122142" y="115968"/>
              <a:ext cx="568517" cy="5683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5909768" y="2382098"/>
            <a:ext cx="1547862" cy="1526125"/>
            <a:chOff x="0" y="0"/>
            <a:chExt cx="812800" cy="80137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6050" y="0"/>
              <a:ext cx="800699" cy="800100"/>
            </a:xfrm>
            <a:custGeom>
              <a:avLst/>
              <a:gdLst/>
              <a:ahLst/>
              <a:cxnLst/>
              <a:rect r="r" b="b" t="t" l="l"/>
              <a:pathLst>
                <a:path h="800100" w="800699">
                  <a:moveTo>
                    <a:pt x="537510" y="24130"/>
                  </a:moveTo>
                  <a:lnTo>
                    <a:pt x="537510" y="24130"/>
                  </a:lnTo>
                  <a:cubicBezTo>
                    <a:pt x="581206" y="40096"/>
                    <a:pt x="621807" y="63510"/>
                    <a:pt x="657512" y="93334"/>
                  </a:cubicBezTo>
                  <a:lnTo>
                    <a:pt x="657525" y="93345"/>
                  </a:lnTo>
                  <a:cubicBezTo>
                    <a:pt x="693229" y="123169"/>
                    <a:pt x="723403" y="159047"/>
                    <a:pt x="746662" y="199336"/>
                  </a:cubicBezTo>
                  <a:lnTo>
                    <a:pt x="747492" y="200773"/>
                  </a:lnTo>
                  <a:cubicBezTo>
                    <a:pt x="770729" y="241024"/>
                    <a:pt x="786704" y="285049"/>
                    <a:pt x="794685" y="330835"/>
                  </a:cubicBezTo>
                  <a:lnTo>
                    <a:pt x="794685" y="330835"/>
                  </a:lnTo>
                  <a:cubicBezTo>
                    <a:pt x="802669" y="376636"/>
                    <a:pt x="802705" y="423470"/>
                    <a:pt x="794791" y="469283"/>
                  </a:cubicBezTo>
                  <a:lnTo>
                    <a:pt x="794632" y="470206"/>
                  </a:lnTo>
                  <a:cubicBezTo>
                    <a:pt x="786688" y="516197"/>
                    <a:pt x="770577" y="560395"/>
                    <a:pt x="747060" y="600710"/>
                  </a:cubicBezTo>
                  <a:lnTo>
                    <a:pt x="746936" y="600923"/>
                  </a:lnTo>
                  <a:cubicBezTo>
                    <a:pt x="723490" y="641115"/>
                    <a:pt x="693236" y="676925"/>
                    <a:pt x="657525" y="706755"/>
                  </a:cubicBezTo>
                  <a:lnTo>
                    <a:pt x="657512" y="706766"/>
                  </a:lnTo>
                  <a:cubicBezTo>
                    <a:pt x="621807" y="736590"/>
                    <a:pt x="581206" y="760004"/>
                    <a:pt x="537510" y="775970"/>
                  </a:cubicBezTo>
                  <a:lnTo>
                    <a:pt x="537510" y="775970"/>
                  </a:lnTo>
                  <a:cubicBezTo>
                    <a:pt x="493823" y="791933"/>
                    <a:pt x="447672" y="800100"/>
                    <a:pt x="401160" y="800100"/>
                  </a:cubicBezTo>
                  <a:lnTo>
                    <a:pt x="399540" y="800100"/>
                  </a:lnTo>
                  <a:cubicBezTo>
                    <a:pt x="353028" y="800100"/>
                    <a:pt x="306877" y="791933"/>
                    <a:pt x="263190" y="775970"/>
                  </a:cubicBezTo>
                  <a:lnTo>
                    <a:pt x="263190" y="775970"/>
                  </a:lnTo>
                  <a:cubicBezTo>
                    <a:pt x="219494" y="760004"/>
                    <a:pt x="178893" y="736590"/>
                    <a:pt x="143188" y="706766"/>
                  </a:cubicBezTo>
                  <a:lnTo>
                    <a:pt x="143175" y="706755"/>
                  </a:lnTo>
                  <a:cubicBezTo>
                    <a:pt x="107464" y="676925"/>
                    <a:pt x="77210" y="641115"/>
                    <a:pt x="53764" y="600923"/>
                  </a:cubicBezTo>
                  <a:lnTo>
                    <a:pt x="53640" y="600710"/>
                  </a:lnTo>
                  <a:cubicBezTo>
                    <a:pt x="30123" y="560395"/>
                    <a:pt x="14012" y="516197"/>
                    <a:pt x="6068" y="470206"/>
                  </a:cubicBezTo>
                  <a:lnTo>
                    <a:pt x="5909" y="469283"/>
                  </a:lnTo>
                  <a:cubicBezTo>
                    <a:pt x="-2005" y="423470"/>
                    <a:pt x="-1969" y="376636"/>
                    <a:pt x="6015" y="330835"/>
                  </a:cubicBezTo>
                  <a:lnTo>
                    <a:pt x="6015" y="330835"/>
                  </a:lnTo>
                  <a:cubicBezTo>
                    <a:pt x="13996" y="285049"/>
                    <a:pt x="29971" y="241024"/>
                    <a:pt x="53208" y="200773"/>
                  </a:cubicBezTo>
                  <a:lnTo>
                    <a:pt x="54038" y="199336"/>
                  </a:lnTo>
                  <a:cubicBezTo>
                    <a:pt x="77297" y="159047"/>
                    <a:pt x="107471" y="123169"/>
                    <a:pt x="143175" y="93345"/>
                  </a:cubicBezTo>
                  <a:lnTo>
                    <a:pt x="143188" y="93334"/>
                  </a:lnTo>
                  <a:cubicBezTo>
                    <a:pt x="178893" y="63510"/>
                    <a:pt x="219494" y="40096"/>
                    <a:pt x="263190" y="24130"/>
                  </a:cubicBezTo>
                  <a:lnTo>
                    <a:pt x="263190" y="24130"/>
                  </a:lnTo>
                  <a:cubicBezTo>
                    <a:pt x="306877" y="8167"/>
                    <a:pt x="353028" y="0"/>
                    <a:pt x="399540" y="0"/>
                  </a:cubicBezTo>
                  <a:lnTo>
                    <a:pt x="401160" y="0"/>
                  </a:lnTo>
                  <a:cubicBezTo>
                    <a:pt x="447672" y="0"/>
                    <a:pt x="493823" y="8167"/>
                    <a:pt x="537510" y="24130"/>
                  </a:cubicBezTo>
                  <a:close/>
                </a:path>
              </a:pathLst>
            </a:custGeom>
            <a:solidFill>
              <a:srgbClr val="B3D3D9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122142" y="115968"/>
              <a:ext cx="568517" cy="5683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12888256" y="8251091"/>
            <a:ext cx="843362" cy="780073"/>
          </a:xfrm>
          <a:custGeom>
            <a:avLst/>
            <a:gdLst/>
            <a:ahLst/>
            <a:cxnLst/>
            <a:rect r="r" b="b" t="t" l="l"/>
            <a:pathLst>
              <a:path h="780073" w="843362">
                <a:moveTo>
                  <a:pt x="0" y="0"/>
                </a:moveTo>
                <a:lnTo>
                  <a:pt x="843361" y="0"/>
                </a:lnTo>
                <a:lnTo>
                  <a:pt x="843361" y="780073"/>
                </a:lnTo>
                <a:lnTo>
                  <a:pt x="0" y="78007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8245375" y="8283109"/>
            <a:ext cx="602479" cy="607450"/>
          </a:xfrm>
          <a:custGeom>
            <a:avLst/>
            <a:gdLst/>
            <a:ahLst/>
            <a:cxnLst/>
            <a:rect r="r" b="b" t="t" l="l"/>
            <a:pathLst>
              <a:path h="607450" w="602479">
                <a:moveTo>
                  <a:pt x="0" y="0"/>
                </a:moveTo>
                <a:lnTo>
                  <a:pt x="602479" y="0"/>
                </a:lnTo>
                <a:lnTo>
                  <a:pt x="602479" y="607449"/>
                </a:lnTo>
                <a:lnTo>
                  <a:pt x="0" y="60744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3413459" y="8054834"/>
            <a:ext cx="735822" cy="1228728"/>
          </a:xfrm>
          <a:custGeom>
            <a:avLst/>
            <a:gdLst/>
            <a:ahLst/>
            <a:cxnLst/>
            <a:rect r="r" b="b" t="t" l="l"/>
            <a:pathLst>
              <a:path h="1228728" w="735822">
                <a:moveTo>
                  <a:pt x="0" y="0"/>
                </a:moveTo>
                <a:lnTo>
                  <a:pt x="735822" y="0"/>
                </a:lnTo>
                <a:lnTo>
                  <a:pt x="735822" y="1228728"/>
                </a:lnTo>
                <a:lnTo>
                  <a:pt x="0" y="122872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15497188" y="2468413"/>
            <a:ext cx="2003247" cy="1471851"/>
          </a:xfrm>
          <a:custGeom>
            <a:avLst/>
            <a:gdLst/>
            <a:ahLst/>
            <a:cxnLst/>
            <a:rect r="r" b="b" t="t" l="l"/>
            <a:pathLst>
              <a:path h="1471851" w="2003247">
                <a:moveTo>
                  <a:pt x="0" y="0"/>
                </a:moveTo>
                <a:lnTo>
                  <a:pt x="2003247" y="0"/>
                </a:lnTo>
                <a:lnTo>
                  <a:pt x="2003247" y="1471851"/>
                </a:lnTo>
                <a:lnTo>
                  <a:pt x="0" y="1471851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6972917" y="-66165"/>
            <a:ext cx="3716267" cy="4450619"/>
          </a:xfrm>
          <a:custGeom>
            <a:avLst/>
            <a:gdLst/>
            <a:ahLst/>
            <a:cxnLst/>
            <a:rect r="r" b="b" t="t" l="l"/>
            <a:pathLst>
              <a:path h="4450619" w="3716267">
                <a:moveTo>
                  <a:pt x="0" y="0"/>
                </a:moveTo>
                <a:lnTo>
                  <a:pt x="3716267" y="0"/>
                </a:lnTo>
                <a:lnTo>
                  <a:pt x="3716267" y="4450619"/>
                </a:lnTo>
                <a:lnTo>
                  <a:pt x="0" y="445061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0">
            <a:off x="6771077" y="6329628"/>
            <a:ext cx="3553422" cy="10566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135"/>
              </a:lnSpc>
            </a:pPr>
            <a:r>
              <a:rPr lang="en-US" sz="1525">
                <a:solidFill>
                  <a:srgbClr val="181A1A"/>
                </a:solidFill>
                <a:latin typeface="Canva Sans"/>
                <a:ea typeface="Canva Sans"/>
                <a:cs typeface="Canva Sans"/>
                <a:sym typeface="Canva Sans"/>
              </a:rPr>
              <a:t>28% reduction in average user wait times through intelligent queue management and predictive slot allocation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6930043" y="5770304"/>
            <a:ext cx="3233142" cy="3558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61"/>
              </a:lnSpc>
              <a:spcBef>
                <a:spcPct val="0"/>
              </a:spcBef>
            </a:pPr>
            <a:r>
              <a:rPr lang="en-US" b="true" sz="2115">
                <a:solidFill>
                  <a:srgbClr val="181A1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Wait Time Reduction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028700" y="1825600"/>
            <a:ext cx="8025966" cy="7207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500"/>
              </a:lnSpc>
              <a:spcBef>
                <a:spcPct val="0"/>
              </a:spcBef>
            </a:pPr>
            <a:r>
              <a:rPr lang="en-US" b="true" sz="5000">
                <a:solidFill>
                  <a:srgbClr val="181A1A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Results Dashboard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2008899" y="6329628"/>
            <a:ext cx="3617323" cy="10566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135"/>
              </a:lnSpc>
            </a:pPr>
            <a:r>
              <a:rPr lang="en-US" sz="1525">
                <a:solidFill>
                  <a:srgbClr val="181A1A"/>
                </a:solidFill>
                <a:latin typeface="Canva Sans"/>
                <a:ea typeface="Canva Sans"/>
                <a:cs typeface="Canva Sans"/>
                <a:sym typeface="Canva Sans"/>
              </a:rPr>
              <a:t>Overall platform efficiency score improved from 61% to 89% baseline, validated across 120+ charging stations in pilot deployment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1638798" y="3291678"/>
            <a:ext cx="3397463" cy="10566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135"/>
              </a:lnSpc>
            </a:pPr>
            <a:r>
              <a:rPr lang="en-US" sz="1525">
                <a:solidFill>
                  <a:srgbClr val="181A1A"/>
                </a:solidFill>
                <a:latin typeface="Canva Sans"/>
                <a:ea typeface="Canva Sans"/>
                <a:cs typeface="Canva Sans"/>
                <a:sym typeface="Canva Sans"/>
              </a:rPr>
              <a:t>+35% improvement in charging station utilization across the entire network after ML optimization deployment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2349216" y="5459432"/>
            <a:ext cx="3013179" cy="3558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61"/>
              </a:lnSpc>
              <a:spcBef>
                <a:spcPct val="0"/>
              </a:spcBef>
            </a:pPr>
            <a:r>
              <a:rPr lang="en-US" b="true" sz="2115">
                <a:solidFill>
                  <a:srgbClr val="181A1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Network Efficiency KPI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1755889" y="2421482"/>
            <a:ext cx="3163281" cy="3558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61"/>
              </a:lnSpc>
              <a:spcBef>
                <a:spcPct val="0"/>
              </a:spcBef>
            </a:pPr>
            <a:r>
              <a:rPr lang="en-US" b="true" sz="2115">
                <a:solidFill>
                  <a:srgbClr val="181A1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Station Utilization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1883078" y="4853131"/>
            <a:ext cx="2817660" cy="3558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61"/>
              </a:lnSpc>
              <a:spcBef>
                <a:spcPct val="0"/>
              </a:spcBef>
            </a:pPr>
            <a:r>
              <a:rPr lang="en-US" b="true" sz="2115">
                <a:solidFill>
                  <a:srgbClr val="181A1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Demand Prediction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F3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359378" y="6037240"/>
            <a:ext cx="3310111" cy="663004"/>
          </a:xfrm>
          <a:custGeom>
            <a:avLst/>
            <a:gdLst/>
            <a:ahLst/>
            <a:cxnLst/>
            <a:rect r="r" b="b" t="t" l="l"/>
            <a:pathLst>
              <a:path h="663004" w="3310111">
                <a:moveTo>
                  <a:pt x="0" y="0"/>
                </a:moveTo>
                <a:lnTo>
                  <a:pt x="3310111" y="0"/>
                </a:lnTo>
                <a:lnTo>
                  <a:pt x="3310111" y="663005"/>
                </a:lnTo>
                <a:lnTo>
                  <a:pt x="0" y="66300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400000">
            <a:off x="7507822" y="8477389"/>
            <a:ext cx="3318213" cy="664627"/>
          </a:xfrm>
          <a:custGeom>
            <a:avLst/>
            <a:gdLst/>
            <a:ahLst/>
            <a:cxnLst/>
            <a:rect r="r" b="b" t="t" l="l"/>
            <a:pathLst>
              <a:path h="664627" w="3318213">
                <a:moveTo>
                  <a:pt x="0" y="0"/>
                </a:moveTo>
                <a:lnTo>
                  <a:pt x="3318213" y="0"/>
                </a:lnTo>
                <a:lnTo>
                  <a:pt x="3318213" y="664628"/>
                </a:lnTo>
                <a:lnTo>
                  <a:pt x="0" y="6646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5400000">
            <a:off x="749792" y="4129851"/>
            <a:ext cx="3282943" cy="657563"/>
          </a:xfrm>
          <a:custGeom>
            <a:avLst/>
            <a:gdLst/>
            <a:ahLst/>
            <a:cxnLst/>
            <a:rect r="r" b="b" t="t" l="l"/>
            <a:pathLst>
              <a:path h="657563" w="3282943">
                <a:moveTo>
                  <a:pt x="0" y="0"/>
                </a:moveTo>
                <a:lnTo>
                  <a:pt x="3282942" y="0"/>
                </a:lnTo>
                <a:lnTo>
                  <a:pt x="3282942" y="657563"/>
                </a:lnTo>
                <a:lnTo>
                  <a:pt x="0" y="65756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2062482" y="914400"/>
            <a:ext cx="2670195" cy="2670195"/>
          </a:xfrm>
          <a:custGeom>
            <a:avLst/>
            <a:gdLst/>
            <a:ahLst/>
            <a:cxnLst/>
            <a:rect r="r" b="b" t="t" l="l"/>
            <a:pathLst>
              <a:path h="2670195" w="2670195">
                <a:moveTo>
                  <a:pt x="0" y="0"/>
                </a:moveTo>
                <a:lnTo>
                  <a:pt x="2670195" y="0"/>
                </a:lnTo>
                <a:lnTo>
                  <a:pt x="2670195" y="2670195"/>
                </a:lnTo>
                <a:lnTo>
                  <a:pt x="0" y="267019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true" rot="0">
            <a:off x="3200709" y="-1079278"/>
            <a:ext cx="2670195" cy="2670195"/>
          </a:xfrm>
          <a:custGeom>
            <a:avLst/>
            <a:gdLst/>
            <a:ahLst/>
            <a:cxnLst/>
            <a:rect r="r" b="b" t="t" l="l"/>
            <a:pathLst>
              <a:path h="2670195" w="2670195">
                <a:moveTo>
                  <a:pt x="2670195" y="2670194"/>
                </a:moveTo>
                <a:lnTo>
                  <a:pt x="0" y="2670194"/>
                </a:lnTo>
                <a:lnTo>
                  <a:pt x="0" y="0"/>
                </a:lnTo>
                <a:lnTo>
                  <a:pt x="2670195" y="0"/>
                </a:lnTo>
                <a:lnTo>
                  <a:pt x="2670195" y="2670194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3661434" y="8090535"/>
            <a:ext cx="3904685" cy="9386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76"/>
              </a:lnSpc>
            </a:pPr>
            <a:r>
              <a:rPr lang="en-US" sz="1431">
                <a:solidFill>
                  <a:srgbClr val="181A1A"/>
                </a:solidFill>
                <a:latin typeface="Canva Sans"/>
                <a:ea typeface="Canva Sans"/>
                <a:cs typeface="Canva Sans"/>
                <a:sym typeface="Canva Sans"/>
              </a:rPr>
              <a:t>Azure-hosted microservices maintain enterprise-grade availability with automated failover and zero-downtime deployments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661434" y="7547763"/>
            <a:ext cx="4418940" cy="4516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57"/>
              </a:lnSpc>
              <a:spcBef>
                <a:spcPct val="0"/>
              </a:spcBef>
            </a:pPr>
            <a:r>
              <a:rPr lang="en-US" b="true" sz="2198">
                <a:solidFill>
                  <a:srgbClr val="181A1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99.9% System Uptime</a:t>
            </a:r>
          </a:p>
        </p:txBody>
      </p:sp>
      <p:sp>
        <p:nvSpPr>
          <p:cNvPr name="Freeform 9" id="9"/>
          <p:cNvSpPr/>
          <p:nvPr/>
        </p:nvSpPr>
        <p:spPr>
          <a:xfrm flipH="false" flipV="true" rot="0">
            <a:off x="2062482" y="4030050"/>
            <a:ext cx="2670195" cy="2670195"/>
          </a:xfrm>
          <a:custGeom>
            <a:avLst/>
            <a:gdLst/>
            <a:ahLst/>
            <a:cxnLst/>
            <a:rect r="r" b="b" t="t" l="l"/>
            <a:pathLst>
              <a:path h="2670195" w="2670195">
                <a:moveTo>
                  <a:pt x="0" y="2670195"/>
                </a:moveTo>
                <a:lnTo>
                  <a:pt x="2670195" y="2670195"/>
                </a:lnTo>
                <a:lnTo>
                  <a:pt x="2670195" y="0"/>
                </a:lnTo>
                <a:lnTo>
                  <a:pt x="0" y="0"/>
                </a:lnTo>
                <a:lnTo>
                  <a:pt x="0" y="2670195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true" flipV="false" rot="0">
            <a:off x="6838573" y="6037240"/>
            <a:ext cx="2660670" cy="2660670"/>
          </a:xfrm>
          <a:custGeom>
            <a:avLst/>
            <a:gdLst/>
            <a:ahLst/>
            <a:cxnLst/>
            <a:rect r="r" b="b" t="t" l="l"/>
            <a:pathLst>
              <a:path h="2660670" w="2660670">
                <a:moveTo>
                  <a:pt x="2660670" y="0"/>
                </a:moveTo>
                <a:lnTo>
                  <a:pt x="0" y="0"/>
                </a:lnTo>
                <a:lnTo>
                  <a:pt x="0" y="2660670"/>
                </a:lnTo>
                <a:lnTo>
                  <a:pt x="2660670" y="2660670"/>
                </a:lnTo>
                <a:lnTo>
                  <a:pt x="266067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3661434" y="1829752"/>
            <a:ext cx="526023" cy="391170"/>
          </a:xfrm>
          <a:custGeom>
            <a:avLst/>
            <a:gdLst/>
            <a:ahLst/>
            <a:cxnLst/>
            <a:rect r="r" b="b" t="t" l="l"/>
            <a:pathLst>
              <a:path h="391170" w="526023">
                <a:moveTo>
                  <a:pt x="0" y="0"/>
                </a:moveTo>
                <a:lnTo>
                  <a:pt x="526023" y="0"/>
                </a:lnTo>
                <a:lnTo>
                  <a:pt x="526023" y="391170"/>
                </a:lnTo>
                <a:lnTo>
                  <a:pt x="0" y="39117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3661434" y="6976405"/>
            <a:ext cx="526023" cy="391170"/>
          </a:xfrm>
          <a:custGeom>
            <a:avLst/>
            <a:gdLst/>
            <a:ahLst/>
            <a:cxnLst/>
            <a:rect r="r" b="b" t="t" l="l"/>
            <a:pathLst>
              <a:path h="391170" w="526023">
                <a:moveTo>
                  <a:pt x="0" y="0"/>
                </a:moveTo>
                <a:lnTo>
                  <a:pt x="526023" y="0"/>
                </a:lnTo>
                <a:lnTo>
                  <a:pt x="526023" y="391170"/>
                </a:lnTo>
                <a:lnTo>
                  <a:pt x="0" y="39117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0525287" y="6955011"/>
            <a:ext cx="526023" cy="391170"/>
          </a:xfrm>
          <a:custGeom>
            <a:avLst/>
            <a:gdLst/>
            <a:ahLst/>
            <a:cxnLst/>
            <a:rect r="r" b="b" t="t" l="l"/>
            <a:pathLst>
              <a:path h="391170" w="526023">
                <a:moveTo>
                  <a:pt x="0" y="0"/>
                </a:moveTo>
                <a:lnTo>
                  <a:pt x="526023" y="0"/>
                </a:lnTo>
                <a:lnTo>
                  <a:pt x="526023" y="391170"/>
                </a:lnTo>
                <a:lnTo>
                  <a:pt x="0" y="39117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0525287" y="8090535"/>
            <a:ext cx="4392536" cy="9386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76"/>
              </a:lnSpc>
            </a:pPr>
            <a:r>
              <a:rPr lang="en-US" sz="1431">
                <a:solidFill>
                  <a:srgbClr val="181A1A"/>
                </a:solidFill>
                <a:latin typeface="Canva Sans"/>
                <a:ea typeface="Canva Sans"/>
                <a:cs typeface="Canva Sans"/>
                <a:sym typeface="Canva Sans"/>
              </a:rPr>
              <a:t>Real-time demand forecasting and slot optimization inference completed under 200ms using Azure ML endpoints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204954" y="1848825"/>
            <a:ext cx="5316382" cy="1457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727"/>
              </a:lnSpc>
            </a:pPr>
            <a:r>
              <a:rPr lang="en-US" b="true" sz="4773">
                <a:solidFill>
                  <a:srgbClr val="181A1A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Performance</a:t>
            </a:r>
          </a:p>
          <a:p>
            <a:pPr algn="l" marL="0" indent="0" lvl="0">
              <a:lnSpc>
                <a:spcPts val="5727"/>
              </a:lnSpc>
            </a:pPr>
            <a:r>
              <a:rPr lang="en-US" b="true" sz="4773">
                <a:solidFill>
                  <a:srgbClr val="181A1A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Analysis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498884" y="7588721"/>
            <a:ext cx="4418940" cy="4516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57"/>
              </a:lnSpc>
              <a:spcBef>
                <a:spcPct val="0"/>
              </a:spcBef>
            </a:pPr>
            <a:r>
              <a:rPr lang="en-US" b="true" sz="2198">
                <a:solidFill>
                  <a:srgbClr val="181A1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ML Prediction Latency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3661434" y="3007661"/>
            <a:ext cx="3721352" cy="9386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76"/>
              </a:lnSpc>
            </a:pPr>
            <a:r>
              <a:rPr lang="en-US" sz="1431">
                <a:solidFill>
                  <a:srgbClr val="181A1A"/>
                </a:solidFill>
                <a:latin typeface="Canva Sans"/>
                <a:ea typeface="Canva Sans"/>
                <a:cs typeface="Canva Sans"/>
                <a:sym typeface="Canva Sans"/>
              </a:rPr>
              <a:t>REST APIs deliver average response times of 180ms under peak load, ensuring seamless real-time EV station data access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3661434" y="2392372"/>
            <a:ext cx="4418940" cy="4516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57"/>
              </a:lnSpc>
              <a:spcBef>
                <a:spcPct val="0"/>
              </a:spcBef>
            </a:pPr>
            <a:r>
              <a:rPr lang="en-US" b="true" sz="2198">
                <a:solidFill>
                  <a:srgbClr val="181A1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Sub-Second API Response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7208608" y="1966739"/>
            <a:ext cx="4651970" cy="3395938"/>
          </a:xfrm>
          <a:custGeom>
            <a:avLst/>
            <a:gdLst/>
            <a:ahLst/>
            <a:cxnLst/>
            <a:rect r="r" b="b" t="t" l="l"/>
            <a:pathLst>
              <a:path h="3395938" w="4651970">
                <a:moveTo>
                  <a:pt x="0" y="0"/>
                </a:moveTo>
                <a:lnTo>
                  <a:pt x="4651971" y="0"/>
                </a:lnTo>
                <a:lnTo>
                  <a:pt x="4651971" y="3395939"/>
                </a:lnTo>
                <a:lnTo>
                  <a:pt x="0" y="339593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3104577" y="3517551"/>
            <a:ext cx="2069864" cy="3780573"/>
          </a:xfrm>
          <a:custGeom>
            <a:avLst/>
            <a:gdLst/>
            <a:ahLst/>
            <a:cxnLst/>
            <a:rect r="r" b="b" t="t" l="l"/>
            <a:pathLst>
              <a:path h="3780573" w="2069864">
                <a:moveTo>
                  <a:pt x="0" y="0"/>
                </a:moveTo>
                <a:lnTo>
                  <a:pt x="2069864" y="0"/>
                </a:lnTo>
                <a:lnTo>
                  <a:pt x="2069864" y="3780573"/>
                </a:lnTo>
                <a:lnTo>
                  <a:pt x="0" y="378057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F3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5495123" y="4398483"/>
            <a:ext cx="4835744" cy="4835744"/>
          </a:xfrm>
          <a:custGeom>
            <a:avLst/>
            <a:gdLst/>
            <a:ahLst/>
            <a:cxnLst/>
            <a:rect r="r" b="b" t="t" l="l"/>
            <a:pathLst>
              <a:path h="4835744" w="4835744">
                <a:moveTo>
                  <a:pt x="4835744" y="4835744"/>
                </a:moveTo>
                <a:lnTo>
                  <a:pt x="0" y="4835744"/>
                </a:lnTo>
                <a:lnTo>
                  <a:pt x="0" y="0"/>
                </a:lnTo>
                <a:lnTo>
                  <a:pt x="4835744" y="0"/>
                </a:lnTo>
                <a:lnTo>
                  <a:pt x="4835744" y="4835744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400000">
            <a:off x="6689043" y="2222032"/>
            <a:ext cx="6068205" cy="1215442"/>
          </a:xfrm>
          <a:custGeom>
            <a:avLst/>
            <a:gdLst/>
            <a:ahLst/>
            <a:cxnLst/>
            <a:rect r="r" b="b" t="t" l="l"/>
            <a:pathLst>
              <a:path h="1215442" w="6068205">
                <a:moveTo>
                  <a:pt x="0" y="0"/>
                </a:moveTo>
                <a:lnTo>
                  <a:pt x="6068206" y="0"/>
                </a:lnTo>
                <a:lnTo>
                  <a:pt x="6068206" y="1215442"/>
                </a:lnTo>
                <a:lnTo>
                  <a:pt x="0" y="121544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515933" y="8014984"/>
            <a:ext cx="6039630" cy="1209718"/>
          </a:xfrm>
          <a:custGeom>
            <a:avLst/>
            <a:gdLst/>
            <a:ahLst/>
            <a:cxnLst/>
            <a:rect r="r" b="b" t="t" l="l"/>
            <a:pathLst>
              <a:path h="1209718" w="6039630">
                <a:moveTo>
                  <a:pt x="0" y="0"/>
                </a:moveTo>
                <a:lnTo>
                  <a:pt x="6039631" y="0"/>
                </a:lnTo>
                <a:lnTo>
                  <a:pt x="6039631" y="1209718"/>
                </a:lnTo>
                <a:lnTo>
                  <a:pt x="0" y="120971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679622" y="3099567"/>
            <a:ext cx="4826594" cy="2171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755"/>
              </a:lnSpc>
            </a:pPr>
            <a:r>
              <a:rPr lang="en-US" b="true" sz="4796">
                <a:solidFill>
                  <a:srgbClr val="181A1A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Business</a:t>
            </a:r>
          </a:p>
          <a:p>
            <a:pPr algn="l" marL="0" indent="0" lvl="0">
              <a:lnSpc>
                <a:spcPts val="5755"/>
              </a:lnSpc>
            </a:pPr>
            <a:r>
              <a:rPr lang="en-US" b="true" sz="4796">
                <a:solidFill>
                  <a:srgbClr val="181A1A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Impact &amp;</a:t>
            </a:r>
          </a:p>
          <a:p>
            <a:pPr algn="l" marL="0" indent="0" lvl="0">
              <a:lnSpc>
                <a:spcPts val="5755"/>
              </a:lnSpc>
            </a:pPr>
            <a:r>
              <a:rPr lang="en-US" b="true" sz="4796">
                <a:solidFill>
                  <a:srgbClr val="181A1A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Value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2235824" y="3385332"/>
            <a:ext cx="5023476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18"/>
              </a:lnSpc>
            </a:pPr>
            <a:r>
              <a:rPr lang="en-US" b="true" sz="2098">
                <a:solidFill>
                  <a:srgbClr val="181A1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Enhanced User Experience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235824" y="4033032"/>
            <a:ext cx="5452528" cy="9223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12"/>
              </a:lnSpc>
            </a:pPr>
            <a:r>
              <a:rPr lang="en-US" sz="1395">
                <a:solidFill>
                  <a:srgbClr val="181A1A"/>
                </a:solidFill>
                <a:latin typeface="Canva Sans"/>
                <a:ea typeface="Canva Sans"/>
                <a:cs typeface="Canva Sans"/>
                <a:sym typeface="Canva Sans"/>
              </a:rPr>
              <a:t>Real-time slot availability, dynamic pricing, and smart booking reduce average wait times by 60%, delivering seamless EV charging journeys for end users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235824" y="1398375"/>
            <a:ext cx="4410790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18"/>
              </a:lnSpc>
            </a:pPr>
            <a:r>
              <a:rPr lang="en-US" b="true" sz="2098">
                <a:solidFill>
                  <a:srgbClr val="181A1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Reduced Operational Costs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235824" y="2041313"/>
            <a:ext cx="5452528" cy="9223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12"/>
              </a:lnSpc>
            </a:pPr>
            <a:r>
              <a:rPr lang="en-US" sz="1395">
                <a:solidFill>
                  <a:srgbClr val="181A1A"/>
                </a:solidFill>
                <a:latin typeface="Canva Sans"/>
                <a:ea typeface="Canva Sans"/>
                <a:cs typeface="Canva Sans"/>
                <a:sym typeface="Canva Sans"/>
              </a:rPr>
              <a:t>AI-driven load balancing and predictive maintenance cut infrastructure overhead by up to 35%, minimizing downtime and energy wastage across the charging network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235824" y="5572020"/>
            <a:ext cx="4410790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18"/>
              </a:lnSpc>
            </a:pPr>
            <a:r>
              <a:rPr lang="en-US" b="true" sz="2098">
                <a:solidFill>
                  <a:srgbClr val="181A1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Sustainable Energy Utilization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235824" y="7596783"/>
            <a:ext cx="4410790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18"/>
              </a:lnSpc>
            </a:pPr>
            <a:r>
              <a:rPr lang="en-US" b="true" sz="2098">
                <a:solidFill>
                  <a:srgbClr val="181A1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Scalable Cloud Infrastructure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235824" y="6219720"/>
            <a:ext cx="5452528" cy="9223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12"/>
              </a:lnSpc>
            </a:pPr>
            <a:r>
              <a:rPr lang="en-US" sz="1395">
                <a:solidFill>
                  <a:srgbClr val="181A1A"/>
                </a:solidFill>
                <a:latin typeface="Canva Sans"/>
                <a:ea typeface="Canva Sans"/>
                <a:cs typeface="Canva Sans"/>
                <a:sym typeface="Canva Sans"/>
              </a:rPr>
              <a:t>Renewable energy integration and demand forecasting optimize grid consumption, reducing carbon footprint by 40% and aligning with green energy mandates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235824" y="8244483"/>
            <a:ext cx="5452528" cy="9223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12"/>
              </a:lnSpc>
            </a:pPr>
            <a:r>
              <a:rPr lang="en-US" sz="1395">
                <a:solidFill>
                  <a:srgbClr val="181A1A"/>
                </a:solidFill>
                <a:latin typeface="Canva Sans"/>
                <a:ea typeface="Canva Sans"/>
                <a:cs typeface="Canva Sans"/>
                <a:sym typeface="Canva Sans"/>
              </a:rPr>
              <a:t>Azure-hosted microservices architecture supports 10x network expansion with zero downtime, enabling rapid deployment of new charging stations nationwide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10902597" y="1274802"/>
            <a:ext cx="694821" cy="694821"/>
          </a:xfrm>
          <a:custGeom>
            <a:avLst/>
            <a:gdLst/>
            <a:ahLst/>
            <a:cxnLst/>
            <a:rect r="r" b="b" t="t" l="l"/>
            <a:pathLst>
              <a:path h="694821" w="694821">
                <a:moveTo>
                  <a:pt x="0" y="0"/>
                </a:moveTo>
                <a:lnTo>
                  <a:pt x="694821" y="0"/>
                </a:lnTo>
                <a:lnTo>
                  <a:pt x="694821" y="694821"/>
                </a:lnTo>
                <a:lnTo>
                  <a:pt x="0" y="69482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0902597" y="3294803"/>
            <a:ext cx="694821" cy="694821"/>
          </a:xfrm>
          <a:custGeom>
            <a:avLst/>
            <a:gdLst/>
            <a:ahLst/>
            <a:cxnLst/>
            <a:rect r="r" b="b" t="t" l="l"/>
            <a:pathLst>
              <a:path h="694821" w="694821">
                <a:moveTo>
                  <a:pt x="0" y="0"/>
                </a:moveTo>
                <a:lnTo>
                  <a:pt x="694821" y="0"/>
                </a:lnTo>
                <a:lnTo>
                  <a:pt x="694821" y="694821"/>
                </a:lnTo>
                <a:lnTo>
                  <a:pt x="0" y="69482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0902597" y="5448447"/>
            <a:ext cx="694821" cy="694821"/>
          </a:xfrm>
          <a:custGeom>
            <a:avLst/>
            <a:gdLst/>
            <a:ahLst/>
            <a:cxnLst/>
            <a:rect r="r" b="b" t="t" l="l"/>
            <a:pathLst>
              <a:path h="694821" w="694821">
                <a:moveTo>
                  <a:pt x="0" y="0"/>
                </a:moveTo>
                <a:lnTo>
                  <a:pt x="694821" y="0"/>
                </a:lnTo>
                <a:lnTo>
                  <a:pt x="694821" y="694821"/>
                </a:lnTo>
                <a:lnTo>
                  <a:pt x="0" y="69482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0902597" y="7473210"/>
            <a:ext cx="694821" cy="694821"/>
          </a:xfrm>
          <a:custGeom>
            <a:avLst/>
            <a:gdLst/>
            <a:ahLst/>
            <a:cxnLst/>
            <a:rect r="r" b="b" t="t" l="l"/>
            <a:pathLst>
              <a:path h="694821" w="694821">
                <a:moveTo>
                  <a:pt x="0" y="0"/>
                </a:moveTo>
                <a:lnTo>
                  <a:pt x="694821" y="0"/>
                </a:lnTo>
                <a:lnTo>
                  <a:pt x="694821" y="694821"/>
                </a:lnTo>
                <a:lnTo>
                  <a:pt x="0" y="69482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-1935021" y="-528203"/>
            <a:ext cx="4438904" cy="1556903"/>
          </a:xfrm>
          <a:custGeom>
            <a:avLst/>
            <a:gdLst/>
            <a:ahLst/>
            <a:cxnLst/>
            <a:rect r="r" b="b" t="t" l="l"/>
            <a:pathLst>
              <a:path h="1556903" w="4438904">
                <a:moveTo>
                  <a:pt x="0" y="0"/>
                </a:moveTo>
                <a:lnTo>
                  <a:pt x="4438903" y="0"/>
                </a:lnTo>
                <a:lnTo>
                  <a:pt x="4438903" y="1556903"/>
                </a:lnTo>
                <a:lnTo>
                  <a:pt x="0" y="155690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4337332" y="6143268"/>
            <a:ext cx="4438904" cy="1556903"/>
          </a:xfrm>
          <a:custGeom>
            <a:avLst/>
            <a:gdLst/>
            <a:ahLst/>
            <a:cxnLst/>
            <a:rect r="r" b="b" t="t" l="l"/>
            <a:pathLst>
              <a:path h="1556903" w="4438904">
                <a:moveTo>
                  <a:pt x="0" y="0"/>
                </a:moveTo>
                <a:lnTo>
                  <a:pt x="4438904" y="0"/>
                </a:lnTo>
                <a:lnTo>
                  <a:pt x="4438904" y="1556903"/>
                </a:lnTo>
                <a:lnTo>
                  <a:pt x="0" y="155690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F3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037583" y="4437300"/>
            <a:ext cx="5922420" cy="5922420"/>
          </a:xfrm>
          <a:custGeom>
            <a:avLst/>
            <a:gdLst/>
            <a:ahLst/>
            <a:cxnLst/>
            <a:rect r="r" b="b" t="t" l="l"/>
            <a:pathLst>
              <a:path h="5922420" w="5922420">
                <a:moveTo>
                  <a:pt x="0" y="0"/>
                </a:moveTo>
                <a:lnTo>
                  <a:pt x="5922420" y="0"/>
                </a:lnTo>
                <a:lnTo>
                  <a:pt x="5922420" y="5922420"/>
                </a:lnTo>
                <a:lnTo>
                  <a:pt x="0" y="592242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1712478" y="0"/>
            <a:ext cx="5922420" cy="5922420"/>
          </a:xfrm>
          <a:custGeom>
            <a:avLst/>
            <a:gdLst/>
            <a:ahLst/>
            <a:cxnLst/>
            <a:rect r="r" b="b" t="t" l="l"/>
            <a:pathLst>
              <a:path h="5922420" w="5922420">
                <a:moveTo>
                  <a:pt x="5922420" y="5922420"/>
                </a:moveTo>
                <a:lnTo>
                  <a:pt x="0" y="5922420"/>
                </a:lnTo>
                <a:lnTo>
                  <a:pt x="0" y="0"/>
                </a:lnTo>
                <a:lnTo>
                  <a:pt x="5922420" y="0"/>
                </a:lnTo>
                <a:lnTo>
                  <a:pt x="5922420" y="592242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876717" y="4437300"/>
            <a:ext cx="7414601" cy="1485120"/>
          </a:xfrm>
          <a:custGeom>
            <a:avLst/>
            <a:gdLst/>
            <a:ahLst/>
            <a:cxnLst/>
            <a:rect r="r" b="b" t="t" l="l"/>
            <a:pathLst>
              <a:path h="1485120" w="7414601">
                <a:moveTo>
                  <a:pt x="0" y="0"/>
                </a:moveTo>
                <a:lnTo>
                  <a:pt x="7414600" y="0"/>
                </a:lnTo>
                <a:lnTo>
                  <a:pt x="7414600" y="1485120"/>
                </a:lnTo>
                <a:lnTo>
                  <a:pt x="0" y="148512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5400000">
            <a:off x="8942179" y="3657524"/>
            <a:ext cx="403643" cy="603458"/>
          </a:xfrm>
          <a:custGeom>
            <a:avLst/>
            <a:gdLst/>
            <a:ahLst/>
            <a:cxnLst/>
            <a:rect r="r" b="b" t="t" l="l"/>
            <a:pathLst>
              <a:path h="603458" w="403643">
                <a:moveTo>
                  <a:pt x="403642" y="603459"/>
                </a:moveTo>
                <a:lnTo>
                  <a:pt x="0" y="603459"/>
                </a:lnTo>
                <a:lnTo>
                  <a:pt x="0" y="0"/>
                </a:lnTo>
                <a:lnTo>
                  <a:pt x="403642" y="0"/>
                </a:lnTo>
                <a:lnTo>
                  <a:pt x="403642" y="603459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true" rot="5400000">
            <a:off x="13561229" y="3609899"/>
            <a:ext cx="403643" cy="603458"/>
          </a:xfrm>
          <a:custGeom>
            <a:avLst/>
            <a:gdLst/>
            <a:ahLst/>
            <a:cxnLst/>
            <a:rect r="r" b="b" t="t" l="l"/>
            <a:pathLst>
              <a:path h="603458" w="403643">
                <a:moveTo>
                  <a:pt x="403643" y="603459"/>
                </a:moveTo>
                <a:lnTo>
                  <a:pt x="0" y="603459"/>
                </a:lnTo>
                <a:lnTo>
                  <a:pt x="0" y="0"/>
                </a:lnTo>
                <a:lnTo>
                  <a:pt x="403643" y="0"/>
                </a:lnTo>
                <a:lnTo>
                  <a:pt x="403643" y="603459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5400000">
            <a:off x="8942179" y="6191619"/>
            <a:ext cx="403643" cy="603458"/>
          </a:xfrm>
          <a:custGeom>
            <a:avLst/>
            <a:gdLst/>
            <a:ahLst/>
            <a:cxnLst/>
            <a:rect r="r" b="b" t="t" l="l"/>
            <a:pathLst>
              <a:path h="603458" w="403643">
                <a:moveTo>
                  <a:pt x="0" y="0"/>
                </a:moveTo>
                <a:lnTo>
                  <a:pt x="403642" y="0"/>
                </a:lnTo>
                <a:lnTo>
                  <a:pt x="403642" y="603458"/>
                </a:lnTo>
                <a:lnTo>
                  <a:pt x="0" y="60345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483062" y="2405256"/>
            <a:ext cx="4258332" cy="7503668"/>
          </a:xfrm>
          <a:custGeom>
            <a:avLst/>
            <a:gdLst/>
            <a:ahLst/>
            <a:cxnLst/>
            <a:rect r="r" b="b" t="t" l="l"/>
            <a:pathLst>
              <a:path h="7503668" w="4258332">
                <a:moveTo>
                  <a:pt x="0" y="0"/>
                </a:moveTo>
                <a:lnTo>
                  <a:pt x="4258332" y="0"/>
                </a:lnTo>
                <a:lnTo>
                  <a:pt x="4258332" y="7503669"/>
                </a:lnTo>
                <a:lnTo>
                  <a:pt x="0" y="750366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3775645" y="7197080"/>
            <a:ext cx="2619671" cy="1493213"/>
          </a:xfrm>
          <a:custGeom>
            <a:avLst/>
            <a:gdLst/>
            <a:ahLst/>
            <a:cxnLst/>
            <a:rect r="r" b="b" t="t" l="l"/>
            <a:pathLst>
              <a:path h="1493213" w="2619671">
                <a:moveTo>
                  <a:pt x="0" y="0"/>
                </a:moveTo>
                <a:lnTo>
                  <a:pt x="2619672" y="0"/>
                </a:lnTo>
                <a:lnTo>
                  <a:pt x="2619672" y="1493213"/>
                </a:lnTo>
                <a:lnTo>
                  <a:pt x="0" y="149321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7467903" y="7095219"/>
            <a:ext cx="3352194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478"/>
              </a:lnSpc>
            </a:pPr>
            <a:r>
              <a:rPr lang="en-US" b="true" sz="2065">
                <a:solidFill>
                  <a:srgbClr val="181A1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Real-Time Optimization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467903" y="7715805"/>
            <a:ext cx="3492100" cy="15509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12"/>
              </a:lnSpc>
            </a:pPr>
            <a:r>
              <a:rPr lang="en-US" sz="1395">
                <a:solidFill>
                  <a:srgbClr val="181A1A"/>
                </a:solidFill>
                <a:latin typeface="Canva Sans"/>
                <a:ea typeface="Canva Sans"/>
                <a:cs typeface="Canva Sans"/>
                <a:sym typeface="Canva Sans"/>
              </a:rPr>
              <a:t>Sub-second real-time grid optimization across all charging nodes, reducing peak-hour energy costs by 31% and increasing station throughput by 40% through intelligent scheduling algorithms.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26871" y="1019175"/>
            <a:ext cx="5097370" cy="1247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916"/>
              </a:lnSpc>
            </a:pPr>
            <a:r>
              <a:rPr lang="en-US" b="true" sz="4097">
                <a:solidFill>
                  <a:srgbClr val="181A1A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Competitive</a:t>
            </a:r>
          </a:p>
          <a:p>
            <a:pPr algn="l" marL="0" indent="0" lvl="0">
              <a:lnSpc>
                <a:spcPts val="4916"/>
              </a:lnSpc>
            </a:pPr>
            <a:r>
              <a:rPr lang="en-US" b="true" sz="4097">
                <a:solidFill>
                  <a:srgbClr val="181A1A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Advantages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876717" y="779652"/>
            <a:ext cx="4083287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478"/>
              </a:lnSpc>
            </a:pPr>
            <a:r>
              <a:rPr lang="en-US" b="true" sz="2065">
                <a:solidFill>
                  <a:srgbClr val="181A1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Azure-Native Architecture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876717" y="1325861"/>
            <a:ext cx="3632006" cy="15509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12"/>
              </a:lnSpc>
            </a:pPr>
            <a:r>
              <a:rPr lang="en-US" sz="1395">
                <a:solidFill>
                  <a:srgbClr val="181A1A"/>
                </a:solidFill>
                <a:latin typeface="Canva Sans"/>
                <a:ea typeface="Canva Sans"/>
                <a:cs typeface="Canva Sans"/>
                <a:sym typeface="Canva Sans"/>
              </a:rPr>
              <a:t>Built entirely on Microsoft Azure, leveraging cloud-native services like Azure IoT Hub, Azure ML, and Cosmos DB for unmatched scalability, reliability, and enterprise-grade security at every layer.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029938" y="767851"/>
            <a:ext cx="3285710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478"/>
              </a:lnSpc>
            </a:pPr>
            <a:r>
              <a:rPr lang="en-US" b="true" sz="2065">
                <a:solidFill>
                  <a:srgbClr val="181A1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Advanced ML Predictions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029938" y="1325861"/>
            <a:ext cx="3841083" cy="15509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12"/>
              </a:lnSpc>
            </a:pPr>
            <a:r>
              <a:rPr lang="en-US" sz="1395">
                <a:solidFill>
                  <a:srgbClr val="181A1A"/>
                </a:solidFill>
                <a:latin typeface="Canva Sans"/>
                <a:ea typeface="Canva Sans"/>
                <a:cs typeface="Canva Sans"/>
                <a:sym typeface="Canva Sans"/>
              </a:rPr>
              <a:t>Proprietary machine learning models deliver 94.7% accurate EV demand forecasting, dynamic load balancing, and predictive maintenance — outperforming conventional rule-based systems by 3x.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F3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5400000">
            <a:off x="6017211" y="5791601"/>
            <a:ext cx="4308443" cy="3445476"/>
          </a:xfrm>
          <a:custGeom>
            <a:avLst/>
            <a:gdLst/>
            <a:ahLst/>
            <a:cxnLst/>
            <a:rect r="r" b="b" t="t" l="l"/>
            <a:pathLst>
              <a:path h="3445476" w="4308443">
                <a:moveTo>
                  <a:pt x="0" y="3445476"/>
                </a:moveTo>
                <a:lnTo>
                  <a:pt x="4308443" y="3445476"/>
                </a:lnTo>
                <a:lnTo>
                  <a:pt x="4308443" y="0"/>
                </a:lnTo>
                <a:lnTo>
                  <a:pt x="0" y="0"/>
                </a:lnTo>
                <a:lnTo>
                  <a:pt x="0" y="344547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5400000">
            <a:off x="4730097" y="2857176"/>
            <a:ext cx="4298088" cy="860893"/>
          </a:xfrm>
          <a:custGeom>
            <a:avLst/>
            <a:gdLst/>
            <a:ahLst/>
            <a:cxnLst/>
            <a:rect r="r" b="b" t="t" l="l"/>
            <a:pathLst>
              <a:path h="860893" w="4298088">
                <a:moveTo>
                  <a:pt x="0" y="0"/>
                </a:moveTo>
                <a:lnTo>
                  <a:pt x="4298088" y="0"/>
                </a:lnTo>
                <a:lnTo>
                  <a:pt x="4298088" y="860893"/>
                </a:lnTo>
                <a:lnTo>
                  <a:pt x="0" y="86089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5400000">
            <a:off x="4730097" y="654574"/>
            <a:ext cx="4298088" cy="860893"/>
          </a:xfrm>
          <a:custGeom>
            <a:avLst/>
            <a:gdLst/>
            <a:ahLst/>
            <a:cxnLst/>
            <a:rect r="r" b="b" t="t" l="l"/>
            <a:pathLst>
              <a:path h="860893" w="4298088">
                <a:moveTo>
                  <a:pt x="0" y="0"/>
                </a:moveTo>
                <a:lnTo>
                  <a:pt x="4298088" y="0"/>
                </a:lnTo>
                <a:lnTo>
                  <a:pt x="4298088" y="860893"/>
                </a:lnTo>
                <a:lnTo>
                  <a:pt x="0" y="86089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5400000">
            <a:off x="7314680" y="10322930"/>
            <a:ext cx="4298088" cy="860893"/>
          </a:xfrm>
          <a:custGeom>
            <a:avLst/>
            <a:gdLst/>
            <a:ahLst/>
            <a:cxnLst/>
            <a:rect r="r" b="b" t="t" l="l"/>
            <a:pathLst>
              <a:path h="860893" w="4298088">
                <a:moveTo>
                  <a:pt x="0" y="0"/>
                </a:moveTo>
                <a:lnTo>
                  <a:pt x="4298088" y="0"/>
                </a:lnTo>
                <a:lnTo>
                  <a:pt x="4298088" y="860893"/>
                </a:lnTo>
                <a:lnTo>
                  <a:pt x="0" y="86089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6911629" y="861016"/>
            <a:ext cx="882471" cy="874749"/>
          </a:xfrm>
          <a:custGeom>
            <a:avLst/>
            <a:gdLst/>
            <a:ahLst/>
            <a:cxnLst/>
            <a:rect r="r" b="b" t="t" l="l"/>
            <a:pathLst>
              <a:path h="874749" w="882471">
                <a:moveTo>
                  <a:pt x="0" y="0"/>
                </a:moveTo>
                <a:lnTo>
                  <a:pt x="882471" y="0"/>
                </a:lnTo>
                <a:lnTo>
                  <a:pt x="882471" y="874749"/>
                </a:lnTo>
                <a:lnTo>
                  <a:pt x="0" y="87474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6893353" y="2878485"/>
            <a:ext cx="831232" cy="843891"/>
          </a:xfrm>
          <a:custGeom>
            <a:avLst/>
            <a:gdLst/>
            <a:ahLst/>
            <a:cxnLst/>
            <a:rect r="r" b="b" t="t" l="l"/>
            <a:pathLst>
              <a:path h="843891" w="831232">
                <a:moveTo>
                  <a:pt x="0" y="0"/>
                </a:moveTo>
                <a:lnTo>
                  <a:pt x="831233" y="0"/>
                </a:lnTo>
                <a:lnTo>
                  <a:pt x="831233" y="843891"/>
                </a:lnTo>
                <a:lnTo>
                  <a:pt x="0" y="84389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6838375" y="4692737"/>
            <a:ext cx="1101836" cy="1171572"/>
          </a:xfrm>
          <a:custGeom>
            <a:avLst/>
            <a:gdLst/>
            <a:ahLst/>
            <a:cxnLst/>
            <a:rect r="r" b="b" t="t" l="l"/>
            <a:pathLst>
              <a:path h="1171572" w="1101836">
                <a:moveTo>
                  <a:pt x="0" y="0"/>
                </a:moveTo>
                <a:lnTo>
                  <a:pt x="1101835" y="0"/>
                </a:lnTo>
                <a:lnTo>
                  <a:pt x="1101835" y="1171573"/>
                </a:lnTo>
                <a:lnTo>
                  <a:pt x="0" y="117157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9415736" y="7251557"/>
            <a:ext cx="957654" cy="951192"/>
          </a:xfrm>
          <a:custGeom>
            <a:avLst/>
            <a:gdLst/>
            <a:ahLst/>
            <a:cxnLst/>
            <a:rect r="r" b="b" t="t" l="l"/>
            <a:pathLst>
              <a:path h="951192" w="957654">
                <a:moveTo>
                  <a:pt x="0" y="0"/>
                </a:moveTo>
                <a:lnTo>
                  <a:pt x="957654" y="0"/>
                </a:lnTo>
                <a:lnTo>
                  <a:pt x="957654" y="951193"/>
                </a:lnTo>
                <a:lnTo>
                  <a:pt x="0" y="95119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972619" y="2823197"/>
            <a:ext cx="4880807" cy="7611395"/>
          </a:xfrm>
          <a:custGeom>
            <a:avLst/>
            <a:gdLst/>
            <a:ahLst/>
            <a:cxnLst/>
            <a:rect r="r" b="b" t="t" l="l"/>
            <a:pathLst>
              <a:path h="7611395" w="4880807">
                <a:moveTo>
                  <a:pt x="0" y="0"/>
                </a:moveTo>
                <a:lnTo>
                  <a:pt x="4880806" y="0"/>
                </a:lnTo>
                <a:lnTo>
                  <a:pt x="4880806" y="7611394"/>
                </a:lnTo>
                <a:lnTo>
                  <a:pt x="0" y="7611394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8396438" y="5242616"/>
            <a:ext cx="5562404" cy="9223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12"/>
              </a:lnSpc>
            </a:pPr>
            <a:r>
              <a:rPr lang="en-US" sz="1395">
                <a:solidFill>
                  <a:srgbClr val="181A1A"/>
                </a:solidFill>
                <a:latin typeface="Canva Sans"/>
                <a:ea typeface="Canva Sans"/>
                <a:cs typeface="Canva Sans"/>
                <a:sym typeface="Canva Sans"/>
              </a:rPr>
              <a:t>Dynamically align EV charging loads with solar and wind energy availability to maximize green energy utilization and minimize carbon footprint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396438" y="4713026"/>
            <a:ext cx="4916676" cy="4516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57"/>
              </a:lnSpc>
              <a:spcBef>
                <a:spcPct val="0"/>
              </a:spcBef>
            </a:pPr>
            <a:r>
              <a:rPr lang="en-US" b="true" sz="2198">
                <a:solidFill>
                  <a:srgbClr val="181A1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Renewable Energy Optimization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28700" y="1315403"/>
            <a:ext cx="4104197" cy="1352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392"/>
              </a:lnSpc>
            </a:pPr>
            <a:r>
              <a:rPr lang="en-US" b="true" sz="4493">
                <a:solidFill>
                  <a:srgbClr val="181A1A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Future</a:t>
            </a:r>
          </a:p>
          <a:p>
            <a:pPr algn="l" marL="0" indent="0" lvl="0">
              <a:lnSpc>
                <a:spcPts val="5392"/>
              </a:lnSpc>
            </a:pPr>
            <a:r>
              <a:rPr lang="en-US" b="true" sz="4493">
                <a:solidFill>
                  <a:srgbClr val="181A1A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Roadmap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396438" y="3237658"/>
            <a:ext cx="5879084" cy="9223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12"/>
              </a:lnSpc>
            </a:pPr>
            <a:r>
              <a:rPr lang="en-US" sz="1395">
                <a:solidFill>
                  <a:srgbClr val="181A1A"/>
                </a:solidFill>
                <a:latin typeface="Canva Sans"/>
                <a:ea typeface="Canva Sans"/>
                <a:cs typeface="Canva Sans"/>
                <a:sym typeface="Canva Sans"/>
              </a:rPr>
              <a:t>Seamlessly integrate with self-driving EV fleets to enable automated charging scheduling, routing, and station reservation without human intervention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873826" y="7640340"/>
            <a:ext cx="5298731" cy="9223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12"/>
              </a:lnSpc>
            </a:pPr>
            <a:r>
              <a:rPr lang="en-US" sz="1395">
                <a:solidFill>
                  <a:srgbClr val="181A1A"/>
                </a:solidFill>
                <a:latin typeface="Canva Sans"/>
                <a:ea typeface="Canva Sans"/>
                <a:cs typeface="Canva Sans"/>
                <a:sym typeface="Canva Sans"/>
              </a:rPr>
              <a:t>Scale the Azure-powered platform across global regions with localized compliance, multi-currency billing, and region-specific ML model training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8453086" y="1229678"/>
            <a:ext cx="5822437" cy="9223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12"/>
              </a:lnSpc>
            </a:pPr>
            <a:r>
              <a:rPr lang="en-US" sz="1395">
                <a:solidFill>
                  <a:srgbClr val="181A1A"/>
                </a:solidFill>
                <a:latin typeface="Canva Sans"/>
                <a:ea typeface="Canva Sans"/>
                <a:cs typeface="Canva Sans"/>
                <a:sym typeface="Canva Sans"/>
              </a:rPr>
              <a:t>Enable bidirectional energy flow between EVs and the grid, allowing vehicles to serve as distributed energy storage assets during peak demand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8453086" y="700088"/>
            <a:ext cx="4916676" cy="4516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57"/>
              </a:lnSpc>
              <a:spcBef>
                <a:spcPct val="0"/>
              </a:spcBef>
            </a:pPr>
            <a:r>
              <a:rPr lang="en-US" b="true" sz="2198">
                <a:solidFill>
                  <a:srgbClr val="181A1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V2G Integration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8396438" y="2705045"/>
            <a:ext cx="4916676" cy="4516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57"/>
              </a:lnSpc>
              <a:spcBef>
                <a:spcPct val="0"/>
              </a:spcBef>
            </a:pPr>
            <a:r>
              <a:rPr lang="en-US" b="true" sz="2198">
                <a:solidFill>
                  <a:srgbClr val="181A1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Autonomous Vehicle Support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873825" y="7080333"/>
            <a:ext cx="4916676" cy="4516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57"/>
              </a:lnSpc>
              <a:spcBef>
                <a:spcPct val="0"/>
              </a:spcBef>
            </a:pPr>
            <a:r>
              <a:rPr lang="en-US" b="true" sz="2198">
                <a:solidFill>
                  <a:srgbClr val="181A1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Multi-Region Deployment</a:t>
            </a:r>
          </a:p>
        </p:txBody>
      </p:sp>
      <p:sp>
        <p:nvSpPr>
          <p:cNvPr name="Freeform 20" id="20"/>
          <p:cNvSpPr/>
          <p:nvPr/>
        </p:nvSpPr>
        <p:spPr>
          <a:xfrm flipH="false" flipV="false" rot="-5400000">
            <a:off x="13903363" y="2172182"/>
            <a:ext cx="4416598" cy="2517461"/>
          </a:xfrm>
          <a:custGeom>
            <a:avLst/>
            <a:gdLst/>
            <a:ahLst/>
            <a:cxnLst/>
            <a:rect r="r" b="b" t="t" l="l"/>
            <a:pathLst>
              <a:path h="2517461" w="4416598">
                <a:moveTo>
                  <a:pt x="0" y="0"/>
                </a:moveTo>
                <a:lnTo>
                  <a:pt x="4416598" y="0"/>
                </a:lnTo>
                <a:lnTo>
                  <a:pt x="4416598" y="2517461"/>
                </a:lnTo>
                <a:lnTo>
                  <a:pt x="0" y="2517461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F3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874688" y="3308030"/>
            <a:ext cx="2670195" cy="2670195"/>
          </a:xfrm>
          <a:custGeom>
            <a:avLst/>
            <a:gdLst/>
            <a:ahLst/>
            <a:cxnLst/>
            <a:rect r="r" b="b" t="t" l="l"/>
            <a:pathLst>
              <a:path h="2670195" w="2670195">
                <a:moveTo>
                  <a:pt x="0" y="0"/>
                </a:moveTo>
                <a:lnTo>
                  <a:pt x="2670195" y="0"/>
                </a:lnTo>
                <a:lnTo>
                  <a:pt x="2670195" y="2670194"/>
                </a:lnTo>
                <a:lnTo>
                  <a:pt x="0" y="26701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619104" y="4796592"/>
            <a:ext cx="5049793" cy="4516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957"/>
              </a:lnSpc>
            </a:pPr>
            <a:r>
              <a:rPr lang="en-US" b="true" sz="2198">
                <a:solidFill>
                  <a:srgbClr val="181A1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ML Model Optimization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7089999" y="5548890"/>
            <a:ext cx="4075274" cy="13772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791"/>
              </a:lnSpc>
            </a:pPr>
            <a:r>
              <a:rPr lang="en-US" sz="1551">
                <a:solidFill>
                  <a:srgbClr val="181A1A"/>
                </a:solidFill>
                <a:latin typeface="Canva Sans"/>
                <a:ea typeface="Canva Sans"/>
                <a:cs typeface="Canva Sans"/>
                <a:sym typeface="Canva Sans"/>
              </a:rPr>
              <a:t>Feature engineering and hyperparameter tuning with Azure ML improved prediction accuracy by 34%, reducing training cycles through AutoML pipelines</a:t>
            </a:r>
          </a:p>
        </p:txBody>
      </p:sp>
      <p:sp>
        <p:nvSpPr>
          <p:cNvPr name="Freeform 5" id="5"/>
          <p:cNvSpPr/>
          <p:nvPr/>
        </p:nvSpPr>
        <p:spPr>
          <a:xfrm flipH="true" flipV="true" rot="0">
            <a:off x="2871651" y="4059377"/>
            <a:ext cx="2670195" cy="2670195"/>
          </a:xfrm>
          <a:custGeom>
            <a:avLst/>
            <a:gdLst/>
            <a:ahLst/>
            <a:cxnLst/>
            <a:rect r="r" b="b" t="t" l="l"/>
            <a:pathLst>
              <a:path h="2670195" w="2670195">
                <a:moveTo>
                  <a:pt x="2670194" y="2670195"/>
                </a:moveTo>
                <a:lnTo>
                  <a:pt x="0" y="2670195"/>
                </a:lnTo>
                <a:lnTo>
                  <a:pt x="0" y="0"/>
                </a:lnTo>
                <a:lnTo>
                  <a:pt x="2670194" y="0"/>
                </a:lnTo>
                <a:lnTo>
                  <a:pt x="2670194" y="2670195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10690297" y="3308030"/>
            <a:ext cx="2670195" cy="2670195"/>
          </a:xfrm>
          <a:custGeom>
            <a:avLst/>
            <a:gdLst/>
            <a:ahLst/>
            <a:cxnLst/>
            <a:rect r="r" b="b" t="t" l="l"/>
            <a:pathLst>
              <a:path h="2670195" w="2670195">
                <a:moveTo>
                  <a:pt x="2670195" y="0"/>
                </a:moveTo>
                <a:lnTo>
                  <a:pt x="0" y="0"/>
                </a:lnTo>
                <a:lnTo>
                  <a:pt x="0" y="2670194"/>
                </a:lnTo>
                <a:lnTo>
                  <a:pt x="2670195" y="2670194"/>
                </a:lnTo>
                <a:lnTo>
                  <a:pt x="2670195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true" rot="0">
            <a:off x="12689274" y="4059377"/>
            <a:ext cx="2670195" cy="2670195"/>
          </a:xfrm>
          <a:custGeom>
            <a:avLst/>
            <a:gdLst/>
            <a:ahLst/>
            <a:cxnLst/>
            <a:rect r="r" b="b" t="t" l="l"/>
            <a:pathLst>
              <a:path h="2670195" w="2670195">
                <a:moveTo>
                  <a:pt x="0" y="2670195"/>
                </a:moveTo>
                <a:lnTo>
                  <a:pt x="2670194" y="2670195"/>
                </a:lnTo>
                <a:lnTo>
                  <a:pt x="2670194" y="0"/>
                </a:lnTo>
                <a:lnTo>
                  <a:pt x="0" y="0"/>
                </a:lnTo>
                <a:lnTo>
                  <a:pt x="0" y="2670195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7489745" y="3308030"/>
            <a:ext cx="3290053" cy="658987"/>
          </a:xfrm>
          <a:custGeom>
            <a:avLst/>
            <a:gdLst/>
            <a:ahLst/>
            <a:cxnLst/>
            <a:rect r="r" b="b" t="t" l="l"/>
            <a:pathLst>
              <a:path h="658987" w="3290053">
                <a:moveTo>
                  <a:pt x="0" y="0"/>
                </a:moveTo>
                <a:lnTo>
                  <a:pt x="3290053" y="0"/>
                </a:lnTo>
                <a:lnTo>
                  <a:pt x="3290053" y="658986"/>
                </a:lnTo>
                <a:lnTo>
                  <a:pt x="0" y="65898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5269968" y="6070585"/>
            <a:ext cx="3290053" cy="658987"/>
          </a:xfrm>
          <a:custGeom>
            <a:avLst/>
            <a:gdLst/>
            <a:ahLst/>
            <a:cxnLst/>
            <a:rect r="r" b="b" t="t" l="l"/>
            <a:pathLst>
              <a:path h="658987" w="3290053">
                <a:moveTo>
                  <a:pt x="0" y="0"/>
                </a:moveTo>
                <a:lnTo>
                  <a:pt x="3290053" y="0"/>
                </a:lnTo>
                <a:lnTo>
                  <a:pt x="3290053" y="658987"/>
                </a:lnTo>
                <a:lnTo>
                  <a:pt x="0" y="65898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-378871" y="6070585"/>
            <a:ext cx="3290053" cy="658987"/>
          </a:xfrm>
          <a:custGeom>
            <a:avLst/>
            <a:gdLst/>
            <a:ahLst/>
            <a:cxnLst/>
            <a:rect r="r" b="b" t="t" l="l"/>
            <a:pathLst>
              <a:path h="658987" w="3290053">
                <a:moveTo>
                  <a:pt x="0" y="0"/>
                </a:moveTo>
                <a:lnTo>
                  <a:pt x="3290053" y="0"/>
                </a:lnTo>
                <a:lnTo>
                  <a:pt x="3290053" y="658987"/>
                </a:lnTo>
                <a:lnTo>
                  <a:pt x="0" y="65898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8370069" y="2874460"/>
            <a:ext cx="1547862" cy="1526125"/>
            <a:chOff x="0" y="0"/>
            <a:chExt cx="812800" cy="80137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6050" y="0"/>
              <a:ext cx="800699" cy="800100"/>
            </a:xfrm>
            <a:custGeom>
              <a:avLst/>
              <a:gdLst/>
              <a:ahLst/>
              <a:cxnLst/>
              <a:rect r="r" b="b" t="t" l="l"/>
              <a:pathLst>
                <a:path h="800100" w="800699">
                  <a:moveTo>
                    <a:pt x="537510" y="24130"/>
                  </a:moveTo>
                  <a:lnTo>
                    <a:pt x="537510" y="24130"/>
                  </a:lnTo>
                  <a:cubicBezTo>
                    <a:pt x="581206" y="40096"/>
                    <a:pt x="621807" y="63510"/>
                    <a:pt x="657512" y="93334"/>
                  </a:cubicBezTo>
                  <a:lnTo>
                    <a:pt x="657525" y="93345"/>
                  </a:lnTo>
                  <a:cubicBezTo>
                    <a:pt x="693229" y="123169"/>
                    <a:pt x="723403" y="159047"/>
                    <a:pt x="746662" y="199336"/>
                  </a:cubicBezTo>
                  <a:lnTo>
                    <a:pt x="747492" y="200773"/>
                  </a:lnTo>
                  <a:cubicBezTo>
                    <a:pt x="770729" y="241024"/>
                    <a:pt x="786704" y="285049"/>
                    <a:pt x="794685" y="330835"/>
                  </a:cubicBezTo>
                  <a:lnTo>
                    <a:pt x="794685" y="330835"/>
                  </a:lnTo>
                  <a:cubicBezTo>
                    <a:pt x="802669" y="376636"/>
                    <a:pt x="802705" y="423470"/>
                    <a:pt x="794791" y="469283"/>
                  </a:cubicBezTo>
                  <a:lnTo>
                    <a:pt x="794632" y="470206"/>
                  </a:lnTo>
                  <a:cubicBezTo>
                    <a:pt x="786688" y="516197"/>
                    <a:pt x="770577" y="560395"/>
                    <a:pt x="747060" y="600710"/>
                  </a:cubicBezTo>
                  <a:lnTo>
                    <a:pt x="746936" y="600923"/>
                  </a:lnTo>
                  <a:cubicBezTo>
                    <a:pt x="723490" y="641115"/>
                    <a:pt x="693236" y="676925"/>
                    <a:pt x="657525" y="706755"/>
                  </a:cubicBezTo>
                  <a:lnTo>
                    <a:pt x="657512" y="706766"/>
                  </a:lnTo>
                  <a:cubicBezTo>
                    <a:pt x="621807" y="736590"/>
                    <a:pt x="581206" y="760004"/>
                    <a:pt x="537510" y="775970"/>
                  </a:cubicBezTo>
                  <a:lnTo>
                    <a:pt x="537510" y="775970"/>
                  </a:lnTo>
                  <a:cubicBezTo>
                    <a:pt x="493823" y="791933"/>
                    <a:pt x="447672" y="800100"/>
                    <a:pt x="401160" y="800100"/>
                  </a:cubicBezTo>
                  <a:lnTo>
                    <a:pt x="399540" y="800100"/>
                  </a:lnTo>
                  <a:cubicBezTo>
                    <a:pt x="353028" y="800100"/>
                    <a:pt x="306877" y="791933"/>
                    <a:pt x="263190" y="775970"/>
                  </a:cubicBezTo>
                  <a:lnTo>
                    <a:pt x="263190" y="775970"/>
                  </a:lnTo>
                  <a:cubicBezTo>
                    <a:pt x="219494" y="760004"/>
                    <a:pt x="178893" y="736590"/>
                    <a:pt x="143188" y="706766"/>
                  </a:cubicBezTo>
                  <a:lnTo>
                    <a:pt x="143175" y="706755"/>
                  </a:lnTo>
                  <a:cubicBezTo>
                    <a:pt x="107464" y="676925"/>
                    <a:pt x="77210" y="641115"/>
                    <a:pt x="53764" y="600923"/>
                  </a:cubicBezTo>
                  <a:lnTo>
                    <a:pt x="53640" y="600710"/>
                  </a:lnTo>
                  <a:cubicBezTo>
                    <a:pt x="30123" y="560395"/>
                    <a:pt x="14012" y="516197"/>
                    <a:pt x="6068" y="470206"/>
                  </a:cubicBezTo>
                  <a:lnTo>
                    <a:pt x="5909" y="469283"/>
                  </a:lnTo>
                  <a:cubicBezTo>
                    <a:pt x="-2005" y="423470"/>
                    <a:pt x="-1969" y="376636"/>
                    <a:pt x="6015" y="330835"/>
                  </a:cubicBezTo>
                  <a:lnTo>
                    <a:pt x="6015" y="330835"/>
                  </a:lnTo>
                  <a:cubicBezTo>
                    <a:pt x="13996" y="285049"/>
                    <a:pt x="29971" y="241024"/>
                    <a:pt x="53208" y="200773"/>
                  </a:cubicBezTo>
                  <a:lnTo>
                    <a:pt x="54038" y="199336"/>
                  </a:lnTo>
                  <a:cubicBezTo>
                    <a:pt x="77297" y="159047"/>
                    <a:pt x="107471" y="123169"/>
                    <a:pt x="143175" y="93345"/>
                  </a:cubicBezTo>
                  <a:lnTo>
                    <a:pt x="143188" y="93334"/>
                  </a:lnTo>
                  <a:cubicBezTo>
                    <a:pt x="178893" y="63510"/>
                    <a:pt x="219494" y="40096"/>
                    <a:pt x="263190" y="24130"/>
                  </a:cubicBezTo>
                  <a:lnTo>
                    <a:pt x="263190" y="24130"/>
                  </a:lnTo>
                  <a:cubicBezTo>
                    <a:pt x="306877" y="8167"/>
                    <a:pt x="353028" y="0"/>
                    <a:pt x="399540" y="0"/>
                  </a:cubicBezTo>
                  <a:lnTo>
                    <a:pt x="401160" y="0"/>
                  </a:lnTo>
                  <a:cubicBezTo>
                    <a:pt x="447672" y="0"/>
                    <a:pt x="493823" y="8167"/>
                    <a:pt x="537510" y="24130"/>
                  </a:cubicBezTo>
                  <a:close/>
                </a:path>
              </a:pathLst>
            </a:custGeom>
            <a:solidFill>
              <a:srgbClr val="B3D3D9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122142" y="115968"/>
              <a:ext cx="568517" cy="5683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4374867" y="5634615"/>
            <a:ext cx="1547862" cy="1526125"/>
            <a:chOff x="0" y="0"/>
            <a:chExt cx="812800" cy="80137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6050" y="0"/>
              <a:ext cx="800699" cy="800100"/>
            </a:xfrm>
            <a:custGeom>
              <a:avLst/>
              <a:gdLst/>
              <a:ahLst/>
              <a:cxnLst/>
              <a:rect r="r" b="b" t="t" l="l"/>
              <a:pathLst>
                <a:path h="800100" w="800699">
                  <a:moveTo>
                    <a:pt x="537510" y="24130"/>
                  </a:moveTo>
                  <a:lnTo>
                    <a:pt x="537510" y="24130"/>
                  </a:lnTo>
                  <a:cubicBezTo>
                    <a:pt x="581206" y="40096"/>
                    <a:pt x="621807" y="63510"/>
                    <a:pt x="657512" y="93334"/>
                  </a:cubicBezTo>
                  <a:lnTo>
                    <a:pt x="657525" y="93345"/>
                  </a:lnTo>
                  <a:cubicBezTo>
                    <a:pt x="693229" y="123169"/>
                    <a:pt x="723403" y="159047"/>
                    <a:pt x="746662" y="199336"/>
                  </a:cubicBezTo>
                  <a:lnTo>
                    <a:pt x="747492" y="200773"/>
                  </a:lnTo>
                  <a:cubicBezTo>
                    <a:pt x="770729" y="241024"/>
                    <a:pt x="786704" y="285049"/>
                    <a:pt x="794685" y="330835"/>
                  </a:cubicBezTo>
                  <a:lnTo>
                    <a:pt x="794685" y="330835"/>
                  </a:lnTo>
                  <a:cubicBezTo>
                    <a:pt x="802669" y="376636"/>
                    <a:pt x="802705" y="423470"/>
                    <a:pt x="794791" y="469283"/>
                  </a:cubicBezTo>
                  <a:lnTo>
                    <a:pt x="794632" y="470206"/>
                  </a:lnTo>
                  <a:cubicBezTo>
                    <a:pt x="786688" y="516197"/>
                    <a:pt x="770577" y="560395"/>
                    <a:pt x="747060" y="600710"/>
                  </a:cubicBezTo>
                  <a:lnTo>
                    <a:pt x="746936" y="600923"/>
                  </a:lnTo>
                  <a:cubicBezTo>
                    <a:pt x="723490" y="641115"/>
                    <a:pt x="693236" y="676925"/>
                    <a:pt x="657525" y="706755"/>
                  </a:cubicBezTo>
                  <a:lnTo>
                    <a:pt x="657512" y="706766"/>
                  </a:lnTo>
                  <a:cubicBezTo>
                    <a:pt x="621807" y="736590"/>
                    <a:pt x="581206" y="760004"/>
                    <a:pt x="537510" y="775970"/>
                  </a:cubicBezTo>
                  <a:lnTo>
                    <a:pt x="537510" y="775970"/>
                  </a:lnTo>
                  <a:cubicBezTo>
                    <a:pt x="493823" y="791933"/>
                    <a:pt x="447672" y="800100"/>
                    <a:pt x="401160" y="800100"/>
                  </a:cubicBezTo>
                  <a:lnTo>
                    <a:pt x="399540" y="800100"/>
                  </a:lnTo>
                  <a:cubicBezTo>
                    <a:pt x="353028" y="800100"/>
                    <a:pt x="306877" y="791933"/>
                    <a:pt x="263190" y="775970"/>
                  </a:cubicBezTo>
                  <a:lnTo>
                    <a:pt x="263190" y="775970"/>
                  </a:lnTo>
                  <a:cubicBezTo>
                    <a:pt x="219494" y="760004"/>
                    <a:pt x="178893" y="736590"/>
                    <a:pt x="143188" y="706766"/>
                  </a:cubicBezTo>
                  <a:lnTo>
                    <a:pt x="143175" y="706755"/>
                  </a:lnTo>
                  <a:cubicBezTo>
                    <a:pt x="107464" y="676925"/>
                    <a:pt x="77210" y="641115"/>
                    <a:pt x="53764" y="600923"/>
                  </a:cubicBezTo>
                  <a:lnTo>
                    <a:pt x="53640" y="600710"/>
                  </a:lnTo>
                  <a:cubicBezTo>
                    <a:pt x="30123" y="560395"/>
                    <a:pt x="14012" y="516197"/>
                    <a:pt x="6068" y="470206"/>
                  </a:cubicBezTo>
                  <a:lnTo>
                    <a:pt x="5909" y="469283"/>
                  </a:lnTo>
                  <a:cubicBezTo>
                    <a:pt x="-2005" y="423470"/>
                    <a:pt x="-1969" y="376636"/>
                    <a:pt x="6015" y="330835"/>
                  </a:cubicBezTo>
                  <a:lnTo>
                    <a:pt x="6015" y="330835"/>
                  </a:lnTo>
                  <a:cubicBezTo>
                    <a:pt x="13996" y="285049"/>
                    <a:pt x="29971" y="241024"/>
                    <a:pt x="53208" y="200773"/>
                  </a:cubicBezTo>
                  <a:lnTo>
                    <a:pt x="54038" y="199336"/>
                  </a:lnTo>
                  <a:cubicBezTo>
                    <a:pt x="77297" y="159047"/>
                    <a:pt x="107471" y="123169"/>
                    <a:pt x="143175" y="93345"/>
                  </a:cubicBezTo>
                  <a:lnTo>
                    <a:pt x="143188" y="93334"/>
                  </a:lnTo>
                  <a:cubicBezTo>
                    <a:pt x="178893" y="63510"/>
                    <a:pt x="219494" y="40096"/>
                    <a:pt x="263190" y="24130"/>
                  </a:cubicBezTo>
                  <a:lnTo>
                    <a:pt x="263190" y="24130"/>
                  </a:lnTo>
                  <a:cubicBezTo>
                    <a:pt x="306877" y="8167"/>
                    <a:pt x="353028" y="0"/>
                    <a:pt x="399540" y="0"/>
                  </a:cubicBezTo>
                  <a:lnTo>
                    <a:pt x="401160" y="0"/>
                  </a:lnTo>
                  <a:cubicBezTo>
                    <a:pt x="447672" y="0"/>
                    <a:pt x="493823" y="8167"/>
                    <a:pt x="537510" y="24130"/>
                  </a:cubicBezTo>
                  <a:close/>
                </a:path>
              </a:pathLst>
            </a:custGeom>
            <a:solidFill>
              <a:srgbClr val="004F5E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122142" y="115968"/>
              <a:ext cx="568517" cy="5683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2137250" y="5548054"/>
            <a:ext cx="1547862" cy="1526125"/>
            <a:chOff x="0" y="0"/>
            <a:chExt cx="812800" cy="80137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6050" y="0"/>
              <a:ext cx="800699" cy="800100"/>
            </a:xfrm>
            <a:custGeom>
              <a:avLst/>
              <a:gdLst/>
              <a:ahLst/>
              <a:cxnLst/>
              <a:rect r="r" b="b" t="t" l="l"/>
              <a:pathLst>
                <a:path h="800100" w="800699">
                  <a:moveTo>
                    <a:pt x="537510" y="24130"/>
                  </a:moveTo>
                  <a:lnTo>
                    <a:pt x="537510" y="24130"/>
                  </a:lnTo>
                  <a:cubicBezTo>
                    <a:pt x="581206" y="40096"/>
                    <a:pt x="621807" y="63510"/>
                    <a:pt x="657512" y="93334"/>
                  </a:cubicBezTo>
                  <a:lnTo>
                    <a:pt x="657525" y="93345"/>
                  </a:lnTo>
                  <a:cubicBezTo>
                    <a:pt x="693229" y="123169"/>
                    <a:pt x="723403" y="159047"/>
                    <a:pt x="746662" y="199336"/>
                  </a:cubicBezTo>
                  <a:lnTo>
                    <a:pt x="747492" y="200773"/>
                  </a:lnTo>
                  <a:cubicBezTo>
                    <a:pt x="770729" y="241024"/>
                    <a:pt x="786704" y="285049"/>
                    <a:pt x="794685" y="330835"/>
                  </a:cubicBezTo>
                  <a:lnTo>
                    <a:pt x="794685" y="330835"/>
                  </a:lnTo>
                  <a:cubicBezTo>
                    <a:pt x="802669" y="376636"/>
                    <a:pt x="802705" y="423470"/>
                    <a:pt x="794791" y="469283"/>
                  </a:cubicBezTo>
                  <a:lnTo>
                    <a:pt x="794632" y="470206"/>
                  </a:lnTo>
                  <a:cubicBezTo>
                    <a:pt x="786688" y="516197"/>
                    <a:pt x="770577" y="560395"/>
                    <a:pt x="747060" y="600710"/>
                  </a:cubicBezTo>
                  <a:lnTo>
                    <a:pt x="746936" y="600923"/>
                  </a:lnTo>
                  <a:cubicBezTo>
                    <a:pt x="723490" y="641115"/>
                    <a:pt x="693236" y="676925"/>
                    <a:pt x="657525" y="706755"/>
                  </a:cubicBezTo>
                  <a:lnTo>
                    <a:pt x="657512" y="706766"/>
                  </a:lnTo>
                  <a:cubicBezTo>
                    <a:pt x="621807" y="736590"/>
                    <a:pt x="581206" y="760004"/>
                    <a:pt x="537510" y="775970"/>
                  </a:cubicBezTo>
                  <a:lnTo>
                    <a:pt x="537510" y="775970"/>
                  </a:lnTo>
                  <a:cubicBezTo>
                    <a:pt x="493823" y="791933"/>
                    <a:pt x="447672" y="800100"/>
                    <a:pt x="401160" y="800100"/>
                  </a:cubicBezTo>
                  <a:lnTo>
                    <a:pt x="399540" y="800100"/>
                  </a:lnTo>
                  <a:cubicBezTo>
                    <a:pt x="353028" y="800100"/>
                    <a:pt x="306877" y="791933"/>
                    <a:pt x="263190" y="775970"/>
                  </a:cubicBezTo>
                  <a:lnTo>
                    <a:pt x="263190" y="775970"/>
                  </a:lnTo>
                  <a:cubicBezTo>
                    <a:pt x="219494" y="760004"/>
                    <a:pt x="178893" y="736590"/>
                    <a:pt x="143188" y="706766"/>
                  </a:cubicBezTo>
                  <a:lnTo>
                    <a:pt x="143175" y="706755"/>
                  </a:lnTo>
                  <a:cubicBezTo>
                    <a:pt x="107464" y="676925"/>
                    <a:pt x="77210" y="641115"/>
                    <a:pt x="53764" y="600923"/>
                  </a:cubicBezTo>
                  <a:lnTo>
                    <a:pt x="53640" y="600710"/>
                  </a:lnTo>
                  <a:cubicBezTo>
                    <a:pt x="30123" y="560395"/>
                    <a:pt x="14012" y="516197"/>
                    <a:pt x="6068" y="470206"/>
                  </a:cubicBezTo>
                  <a:lnTo>
                    <a:pt x="5909" y="469283"/>
                  </a:lnTo>
                  <a:cubicBezTo>
                    <a:pt x="-2005" y="423470"/>
                    <a:pt x="-1969" y="376636"/>
                    <a:pt x="6015" y="330835"/>
                  </a:cubicBezTo>
                  <a:lnTo>
                    <a:pt x="6015" y="330835"/>
                  </a:lnTo>
                  <a:cubicBezTo>
                    <a:pt x="13996" y="285049"/>
                    <a:pt x="29971" y="241024"/>
                    <a:pt x="53208" y="200773"/>
                  </a:cubicBezTo>
                  <a:lnTo>
                    <a:pt x="54038" y="199336"/>
                  </a:lnTo>
                  <a:cubicBezTo>
                    <a:pt x="77297" y="159047"/>
                    <a:pt x="107471" y="123169"/>
                    <a:pt x="143175" y="93345"/>
                  </a:cubicBezTo>
                  <a:lnTo>
                    <a:pt x="143188" y="93334"/>
                  </a:lnTo>
                  <a:cubicBezTo>
                    <a:pt x="178893" y="63510"/>
                    <a:pt x="219494" y="40096"/>
                    <a:pt x="263190" y="24130"/>
                  </a:cubicBezTo>
                  <a:lnTo>
                    <a:pt x="263190" y="24130"/>
                  </a:lnTo>
                  <a:cubicBezTo>
                    <a:pt x="306877" y="8167"/>
                    <a:pt x="353028" y="0"/>
                    <a:pt x="399540" y="0"/>
                  </a:cubicBezTo>
                  <a:lnTo>
                    <a:pt x="401160" y="0"/>
                  </a:lnTo>
                  <a:cubicBezTo>
                    <a:pt x="447672" y="0"/>
                    <a:pt x="493823" y="8167"/>
                    <a:pt x="537510" y="24130"/>
                  </a:cubicBezTo>
                  <a:close/>
                </a:path>
              </a:pathLst>
            </a:custGeom>
            <a:solidFill>
              <a:srgbClr val="004F5E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122142" y="115968"/>
              <a:ext cx="568517" cy="5683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8745554" y="3232117"/>
            <a:ext cx="839469" cy="804819"/>
          </a:xfrm>
          <a:custGeom>
            <a:avLst/>
            <a:gdLst/>
            <a:ahLst/>
            <a:cxnLst/>
            <a:rect r="r" b="b" t="t" l="l"/>
            <a:pathLst>
              <a:path h="804819" w="839469">
                <a:moveTo>
                  <a:pt x="0" y="0"/>
                </a:moveTo>
                <a:lnTo>
                  <a:pt x="839469" y="0"/>
                </a:lnTo>
                <a:lnTo>
                  <a:pt x="839469" y="804819"/>
                </a:lnTo>
                <a:lnTo>
                  <a:pt x="0" y="80481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14652206" y="6103426"/>
            <a:ext cx="994340" cy="781267"/>
          </a:xfrm>
          <a:custGeom>
            <a:avLst/>
            <a:gdLst/>
            <a:ahLst/>
            <a:cxnLst/>
            <a:rect r="r" b="b" t="t" l="l"/>
            <a:pathLst>
              <a:path h="781267" w="994340">
                <a:moveTo>
                  <a:pt x="0" y="0"/>
                </a:moveTo>
                <a:lnTo>
                  <a:pt x="994339" y="0"/>
                </a:lnTo>
                <a:lnTo>
                  <a:pt x="994339" y="781267"/>
                </a:lnTo>
                <a:lnTo>
                  <a:pt x="0" y="78126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2549419" y="5923935"/>
            <a:ext cx="684851" cy="799623"/>
          </a:xfrm>
          <a:custGeom>
            <a:avLst/>
            <a:gdLst/>
            <a:ahLst/>
            <a:cxnLst/>
            <a:rect r="r" b="b" t="t" l="l"/>
            <a:pathLst>
              <a:path h="799623" w="684851">
                <a:moveTo>
                  <a:pt x="0" y="0"/>
                </a:moveTo>
                <a:lnTo>
                  <a:pt x="684851" y="0"/>
                </a:lnTo>
                <a:lnTo>
                  <a:pt x="684851" y="799623"/>
                </a:lnTo>
                <a:lnTo>
                  <a:pt x="0" y="79962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6584009" y="8372433"/>
            <a:ext cx="5119982" cy="744725"/>
          </a:xfrm>
          <a:custGeom>
            <a:avLst/>
            <a:gdLst/>
            <a:ahLst/>
            <a:cxnLst/>
            <a:rect r="r" b="b" t="t" l="l"/>
            <a:pathLst>
              <a:path h="744725" w="5119982">
                <a:moveTo>
                  <a:pt x="0" y="0"/>
                </a:moveTo>
                <a:lnTo>
                  <a:pt x="5119982" y="0"/>
                </a:lnTo>
                <a:lnTo>
                  <a:pt x="5119982" y="744725"/>
                </a:lnTo>
                <a:lnTo>
                  <a:pt x="0" y="744725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861484" y="1242702"/>
            <a:ext cx="3400425" cy="3400425"/>
          </a:xfrm>
          <a:custGeom>
            <a:avLst/>
            <a:gdLst/>
            <a:ahLst/>
            <a:cxnLst/>
            <a:rect r="r" b="b" t="t" l="l"/>
            <a:pathLst>
              <a:path h="3400425" w="3400425">
                <a:moveTo>
                  <a:pt x="0" y="0"/>
                </a:moveTo>
                <a:lnTo>
                  <a:pt x="3400425" y="0"/>
                </a:lnTo>
                <a:lnTo>
                  <a:pt x="3400425" y="3400425"/>
                </a:lnTo>
                <a:lnTo>
                  <a:pt x="0" y="3400425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0">
            <a:off x="492053" y="7321830"/>
            <a:ext cx="5049793" cy="4516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957"/>
              </a:lnSpc>
            </a:pPr>
            <a:r>
              <a:rPr lang="en-US" b="true" sz="2198">
                <a:solidFill>
                  <a:srgbClr val="181A1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Cloud Architecture Best Practices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735682" y="8049471"/>
            <a:ext cx="4562534" cy="13772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791"/>
              </a:lnSpc>
            </a:pPr>
            <a:r>
              <a:rPr lang="en-US" sz="1551">
                <a:solidFill>
                  <a:srgbClr val="181A1A"/>
                </a:solidFill>
                <a:latin typeface="Canva Sans"/>
                <a:ea typeface="Canva Sans"/>
                <a:cs typeface="Canva Sans"/>
                <a:sym typeface="Canva Sans"/>
              </a:rPr>
              <a:t>Microservices on Azure Kubernetes Service with event-driven design enabled 99.9% uptime and seamless horizontal scaling across charging nodes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2623902" y="7322103"/>
            <a:ext cx="5049793" cy="4516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957"/>
              </a:lnSpc>
            </a:pPr>
            <a:r>
              <a:rPr lang="en-US" b="true" sz="2198">
                <a:solidFill>
                  <a:srgbClr val="181A1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Real-World Deployment Challenges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2724124" y="8049471"/>
            <a:ext cx="4849348" cy="10248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791"/>
              </a:lnSpc>
            </a:pPr>
            <a:r>
              <a:rPr lang="en-US" sz="1551">
                <a:solidFill>
                  <a:srgbClr val="181A1A"/>
                </a:solidFill>
                <a:latin typeface="Canva Sans"/>
                <a:ea typeface="Canva Sans"/>
                <a:cs typeface="Canva Sans"/>
                <a:sym typeface="Canva Sans"/>
              </a:rPr>
              <a:t>Handling IoT data inconsistencies, network latency, and hardware variability required robust fault-tolerant pipelines and adaptive retry mechanisms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2781357" y="1784030"/>
            <a:ext cx="12692560" cy="809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418"/>
              </a:lnSpc>
            </a:pPr>
            <a:r>
              <a:rPr lang="en-US" b="true" sz="5349">
                <a:solidFill>
                  <a:srgbClr val="181A1A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Key Learnings &amp; Insights</a:t>
            </a:r>
          </a:p>
        </p:txBody>
      </p:sp>
      <p:sp>
        <p:nvSpPr>
          <p:cNvPr name="Freeform 30" id="30"/>
          <p:cNvSpPr/>
          <p:nvPr/>
        </p:nvSpPr>
        <p:spPr>
          <a:xfrm flipH="true" flipV="false" rot="0">
            <a:off x="13970092" y="1476907"/>
            <a:ext cx="3400425" cy="3400425"/>
          </a:xfrm>
          <a:custGeom>
            <a:avLst/>
            <a:gdLst/>
            <a:ahLst/>
            <a:cxnLst/>
            <a:rect r="r" b="b" t="t" l="l"/>
            <a:pathLst>
              <a:path h="3400425" w="3400425">
                <a:moveTo>
                  <a:pt x="3400425" y="0"/>
                </a:moveTo>
                <a:lnTo>
                  <a:pt x="0" y="0"/>
                </a:lnTo>
                <a:lnTo>
                  <a:pt x="0" y="3400425"/>
                </a:lnTo>
                <a:lnTo>
                  <a:pt x="3400425" y="3400425"/>
                </a:lnTo>
                <a:lnTo>
                  <a:pt x="3400425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F3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7755794">
            <a:off x="11356680" y="313044"/>
            <a:ext cx="6068205" cy="1215442"/>
          </a:xfrm>
          <a:custGeom>
            <a:avLst/>
            <a:gdLst/>
            <a:ahLst/>
            <a:cxnLst/>
            <a:rect r="r" b="b" t="t" l="l"/>
            <a:pathLst>
              <a:path h="1215442" w="6068205">
                <a:moveTo>
                  <a:pt x="0" y="0"/>
                </a:moveTo>
                <a:lnTo>
                  <a:pt x="6068205" y="0"/>
                </a:lnTo>
                <a:lnTo>
                  <a:pt x="6068205" y="1215442"/>
                </a:lnTo>
                <a:lnTo>
                  <a:pt x="0" y="12154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7755794">
            <a:off x="14695760" y="4397946"/>
            <a:ext cx="6068205" cy="1215442"/>
          </a:xfrm>
          <a:custGeom>
            <a:avLst/>
            <a:gdLst/>
            <a:ahLst/>
            <a:cxnLst/>
            <a:rect r="r" b="b" t="t" l="l"/>
            <a:pathLst>
              <a:path h="1215442" w="6068205">
                <a:moveTo>
                  <a:pt x="0" y="0"/>
                </a:moveTo>
                <a:lnTo>
                  <a:pt x="6068205" y="0"/>
                </a:lnTo>
                <a:lnTo>
                  <a:pt x="6068205" y="1215441"/>
                </a:lnTo>
                <a:lnTo>
                  <a:pt x="0" y="121544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8025810" y="2977161"/>
            <a:ext cx="356157" cy="225365"/>
          </a:xfrm>
          <a:custGeom>
            <a:avLst/>
            <a:gdLst/>
            <a:ahLst/>
            <a:cxnLst/>
            <a:rect r="r" b="b" t="t" l="l"/>
            <a:pathLst>
              <a:path h="225365" w="356157">
                <a:moveTo>
                  <a:pt x="0" y="0"/>
                </a:moveTo>
                <a:lnTo>
                  <a:pt x="356157" y="0"/>
                </a:lnTo>
                <a:lnTo>
                  <a:pt x="356157" y="225364"/>
                </a:lnTo>
                <a:lnTo>
                  <a:pt x="0" y="22536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7755794">
            <a:off x="-2099114" y="4008710"/>
            <a:ext cx="6068205" cy="1215442"/>
          </a:xfrm>
          <a:custGeom>
            <a:avLst/>
            <a:gdLst/>
            <a:ahLst/>
            <a:cxnLst/>
            <a:rect r="r" b="b" t="t" l="l"/>
            <a:pathLst>
              <a:path h="1215442" w="6068205">
                <a:moveTo>
                  <a:pt x="0" y="0"/>
                </a:moveTo>
                <a:lnTo>
                  <a:pt x="6068205" y="0"/>
                </a:lnTo>
                <a:lnTo>
                  <a:pt x="6068205" y="1215442"/>
                </a:lnTo>
                <a:lnTo>
                  <a:pt x="0" y="12154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7755794">
            <a:off x="1239966" y="8093612"/>
            <a:ext cx="6068205" cy="1215442"/>
          </a:xfrm>
          <a:custGeom>
            <a:avLst/>
            <a:gdLst/>
            <a:ahLst/>
            <a:cxnLst/>
            <a:rect r="r" b="b" t="t" l="l"/>
            <a:pathLst>
              <a:path h="1215442" w="6068205">
                <a:moveTo>
                  <a:pt x="0" y="0"/>
                </a:moveTo>
                <a:lnTo>
                  <a:pt x="6068205" y="0"/>
                </a:lnTo>
                <a:lnTo>
                  <a:pt x="6068205" y="1215442"/>
                </a:lnTo>
                <a:lnTo>
                  <a:pt x="0" y="12154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3563879" y="5410757"/>
            <a:ext cx="4127369" cy="7504307"/>
          </a:xfrm>
          <a:custGeom>
            <a:avLst/>
            <a:gdLst/>
            <a:ahLst/>
            <a:cxnLst/>
            <a:rect r="r" b="b" t="t" l="l"/>
            <a:pathLst>
              <a:path h="7504307" w="4127369">
                <a:moveTo>
                  <a:pt x="0" y="0"/>
                </a:moveTo>
                <a:lnTo>
                  <a:pt x="4127369" y="0"/>
                </a:lnTo>
                <a:lnTo>
                  <a:pt x="4127369" y="7504306"/>
                </a:lnTo>
                <a:lnTo>
                  <a:pt x="0" y="750430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697777" y="336800"/>
            <a:ext cx="4466952" cy="3942085"/>
          </a:xfrm>
          <a:custGeom>
            <a:avLst/>
            <a:gdLst/>
            <a:ahLst/>
            <a:cxnLst/>
            <a:rect r="r" b="b" t="t" l="l"/>
            <a:pathLst>
              <a:path h="3942085" w="4466952">
                <a:moveTo>
                  <a:pt x="0" y="0"/>
                </a:moveTo>
                <a:lnTo>
                  <a:pt x="4466951" y="0"/>
                </a:lnTo>
                <a:lnTo>
                  <a:pt x="4466951" y="3942085"/>
                </a:lnTo>
                <a:lnTo>
                  <a:pt x="0" y="394208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5510517" y="3666377"/>
            <a:ext cx="7266966" cy="819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599"/>
              </a:lnSpc>
            </a:pPr>
            <a:r>
              <a:rPr lang="en-US" b="true" sz="5499">
                <a:solidFill>
                  <a:srgbClr val="181A1A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Thank You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736029" y="5765653"/>
            <a:ext cx="6815941" cy="9223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12"/>
              </a:lnSpc>
            </a:pPr>
            <a:r>
              <a:rPr lang="en-US" sz="1395">
                <a:solidFill>
                  <a:srgbClr val="181A1A"/>
                </a:solidFill>
                <a:latin typeface="Canva Sans"/>
                <a:ea typeface="Canva Sans"/>
                <a:cs typeface="Canva Sans"/>
                <a:sym typeface="Canva Sans"/>
              </a:rPr>
              <a:t>Questions &amp; Discussion Welcome</a:t>
            </a:r>
          </a:p>
          <a:p>
            <a:pPr algn="ctr" marL="0" indent="0" lvl="0">
              <a:lnSpc>
                <a:spcPts val="2512"/>
              </a:lnSpc>
            </a:pPr>
            <a:r>
              <a:rPr lang="en-US" sz="1395">
                <a:solidFill>
                  <a:srgbClr val="181A1A"/>
                </a:solidFill>
                <a:latin typeface="Canva Sans"/>
                <a:ea typeface="Canva Sans"/>
                <a:cs typeface="Canva Sans"/>
                <a:sym typeface="Canva Sans"/>
              </a:rPr>
              <a:t>Nitin Kumar  |  GU-2022-4233</a:t>
            </a:r>
          </a:p>
          <a:p>
            <a:pPr algn="ctr" marL="0" indent="0" lvl="0">
              <a:lnSpc>
                <a:spcPts val="2512"/>
              </a:lnSpc>
            </a:pPr>
            <a:r>
              <a:rPr lang="en-US" sz="1395">
                <a:solidFill>
                  <a:srgbClr val="181A1A"/>
                </a:solidFill>
                <a:latin typeface="Canva Sans"/>
                <a:ea typeface="Canva Sans"/>
                <a:cs typeface="Canva Sans"/>
                <a:sym typeface="Canva Sans"/>
              </a:rPr>
              <a:t>Knitinsaini7888@gmail.com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495892" y="2965543"/>
            <a:ext cx="2046804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439"/>
              </a:lnSpc>
              <a:spcBef>
                <a:spcPct val="0"/>
              </a:spcBef>
            </a:pPr>
            <a:r>
              <a:rPr lang="en-US" b="true" sz="12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AI-Powered Smart EV Charging Network Optimization Platform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DAHLnma3ZVc</dc:identifier>
  <dcterms:modified xsi:type="dcterms:W3CDTF">2011-08-01T06:04:30Z</dcterms:modified>
  <cp:revision>1</cp:revision>
  <dc:title>Non Text Magic Studio Magic Design for Presentations L&amp;P</dc:title>
</cp:coreProperties>
</file>